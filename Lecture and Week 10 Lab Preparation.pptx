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73"/>
  </p:notesMasterIdLst>
  <p:sldIdLst>
    <p:sldId id="331" r:id="rId4"/>
    <p:sldId id="1284" r:id="rId5"/>
    <p:sldId id="1285" r:id="rId6"/>
    <p:sldId id="1392" r:id="rId7"/>
    <p:sldId id="1251" r:id="rId8"/>
    <p:sldId id="1393" r:id="rId9"/>
    <p:sldId id="1395" r:id="rId10"/>
    <p:sldId id="1396" r:id="rId11"/>
    <p:sldId id="1394" r:id="rId12"/>
    <p:sldId id="1398" r:id="rId13"/>
    <p:sldId id="1397" r:id="rId14"/>
    <p:sldId id="1399" r:id="rId15"/>
    <p:sldId id="1400" r:id="rId16"/>
    <p:sldId id="1401" r:id="rId17"/>
    <p:sldId id="1403" r:id="rId18"/>
    <p:sldId id="1402" r:id="rId19"/>
    <p:sldId id="1405" r:id="rId20"/>
    <p:sldId id="1404" r:id="rId21"/>
    <p:sldId id="1407" r:id="rId22"/>
    <p:sldId id="1406" r:id="rId23"/>
    <p:sldId id="1408" r:id="rId24"/>
    <p:sldId id="1410" r:id="rId25"/>
    <p:sldId id="1409" r:id="rId26"/>
    <p:sldId id="1391" r:id="rId27"/>
    <p:sldId id="1353" r:id="rId28"/>
    <p:sldId id="1354" r:id="rId29"/>
    <p:sldId id="1347" r:id="rId30"/>
    <p:sldId id="1355" r:id="rId31"/>
    <p:sldId id="1356" r:id="rId32"/>
    <p:sldId id="1390" r:id="rId33"/>
    <p:sldId id="1357" r:id="rId34"/>
    <p:sldId id="1358" r:id="rId35"/>
    <p:sldId id="1359" r:id="rId36"/>
    <p:sldId id="1389" r:id="rId37"/>
    <p:sldId id="1368" r:id="rId38"/>
    <p:sldId id="1363" r:id="rId39"/>
    <p:sldId id="1364" r:id="rId40"/>
    <p:sldId id="1369" r:id="rId41"/>
    <p:sldId id="1365" r:id="rId42"/>
    <p:sldId id="1366" r:id="rId43"/>
    <p:sldId id="1367" r:id="rId44"/>
    <p:sldId id="341" r:id="rId45"/>
    <p:sldId id="1371" r:id="rId46"/>
    <p:sldId id="342" r:id="rId47"/>
    <p:sldId id="343" r:id="rId48"/>
    <p:sldId id="346" r:id="rId49"/>
    <p:sldId id="347" r:id="rId50"/>
    <p:sldId id="348" r:id="rId51"/>
    <p:sldId id="1370" r:id="rId52"/>
    <p:sldId id="359" r:id="rId53"/>
    <p:sldId id="1379" r:id="rId54"/>
    <p:sldId id="364" r:id="rId55"/>
    <p:sldId id="1372" r:id="rId56"/>
    <p:sldId id="1373" r:id="rId57"/>
    <p:sldId id="1380" r:id="rId58"/>
    <p:sldId id="1374" r:id="rId59"/>
    <p:sldId id="1375" r:id="rId60"/>
    <p:sldId id="1376" r:id="rId61"/>
    <p:sldId id="1377" r:id="rId62"/>
    <p:sldId id="1378" r:id="rId63"/>
    <p:sldId id="1381" r:id="rId64"/>
    <p:sldId id="1382" r:id="rId65"/>
    <p:sldId id="1383" r:id="rId66"/>
    <p:sldId id="1384" r:id="rId67"/>
    <p:sldId id="1385" r:id="rId68"/>
    <p:sldId id="1386" r:id="rId69"/>
    <p:sldId id="1387" r:id="rId70"/>
    <p:sldId id="1325" r:id="rId71"/>
    <p:sldId id="1216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war hussain Shah" initials="zhS" lastIdx="2" clrIdx="0">
    <p:extLst>
      <p:ext uri="{19B8F6BF-5375-455C-9EA6-DF929625EA0E}">
        <p15:presenceInfo xmlns:p15="http://schemas.microsoft.com/office/powerpoint/2012/main" userId="34e37dd71430d9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70" autoAdjust="0"/>
    <p:restoredTop sz="94588"/>
  </p:normalViewPr>
  <p:slideViewPr>
    <p:cSldViewPr snapToGrid="0">
      <p:cViewPr>
        <p:scale>
          <a:sx n="50" d="100"/>
          <a:sy n="50" d="100"/>
        </p:scale>
        <p:origin x="963" y="4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commentAuthors" Target="commentAuthor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36D87D-E8D5-43C4-B6CE-03FB89ADC7F2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D82596C-5BBC-4B4E-9065-ED8769F3CA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AU" dirty="0"/>
            <a:t>Read Chapter 37-39 of The Prescribed Text </a:t>
          </a:r>
          <a:endParaRPr lang="en-US" dirty="0"/>
        </a:p>
      </dgm:t>
    </dgm:pt>
    <dgm:pt modelId="{D37907DE-07D9-4735-B54E-9D7712C92C8D}" type="parTrans" cxnId="{13BBEFD8-0291-4881-B74F-30175C1EF9BB}">
      <dgm:prSet/>
      <dgm:spPr/>
      <dgm:t>
        <a:bodyPr/>
        <a:lstStyle/>
        <a:p>
          <a:endParaRPr lang="en-US"/>
        </a:p>
      </dgm:t>
    </dgm:pt>
    <dgm:pt modelId="{1C75411B-F20A-44FE-8521-2A4E25B7FA69}" type="sibTrans" cxnId="{13BBEFD8-0291-4881-B74F-30175C1EF9BB}">
      <dgm:prSet/>
      <dgm:spPr/>
      <dgm:t>
        <a:bodyPr/>
        <a:lstStyle/>
        <a:p>
          <a:endParaRPr lang="en-US"/>
        </a:p>
      </dgm:t>
    </dgm:pt>
    <dgm:pt modelId="{3F672593-3124-4011-831C-F50427720BA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AU" dirty="0"/>
            <a:t>Attend Lectorial</a:t>
          </a:r>
          <a:endParaRPr lang="en-US" dirty="0"/>
        </a:p>
      </dgm:t>
    </dgm:pt>
    <dgm:pt modelId="{A994BEAA-CB7D-4CE0-B94B-5500A5636752}" type="parTrans" cxnId="{CB12A307-4EED-4C5F-8758-BAFA39B3C4BE}">
      <dgm:prSet/>
      <dgm:spPr/>
      <dgm:t>
        <a:bodyPr/>
        <a:lstStyle/>
        <a:p>
          <a:endParaRPr lang="en-US"/>
        </a:p>
      </dgm:t>
    </dgm:pt>
    <dgm:pt modelId="{A3F860F1-11FC-4B26-AE50-C04362FCC33C}" type="sibTrans" cxnId="{CB12A307-4EED-4C5F-8758-BAFA39B3C4BE}">
      <dgm:prSet/>
      <dgm:spPr/>
      <dgm:t>
        <a:bodyPr/>
        <a:lstStyle/>
        <a:p>
          <a:endParaRPr lang="en-US"/>
        </a:p>
      </dgm:t>
    </dgm:pt>
    <dgm:pt modelId="{6060DDCF-4DD0-4C9D-B94F-D9286CF3F52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AU" dirty="0"/>
            <a:t>Perform practical tasks</a:t>
          </a:r>
          <a:endParaRPr lang="en-US" dirty="0"/>
        </a:p>
      </dgm:t>
    </dgm:pt>
    <dgm:pt modelId="{88C1EBD7-9EB1-4F84-A4C1-564CF8697D14}" type="parTrans" cxnId="{476D57CE-40B7-41D8-9464-A275DB4133B0}">
      <dgm:prSet/>
      <dgm:spPr/>
      <dgm:t>
        <a:bodyPr/>
        <a:lstStyle/>
        <a:p>
          <a:endParaRPr lang="en-US"/>
        </a:p>
      </dgm:t>
    </dgm:pt>
    <dgm:pt modelId="{3F5F3FEA-B522-4ECD-8148-3ED2AA4A4616}" type="sibTrans" cxnId="{476D57CE-40B7-41D8-9464-A275DB4133B0}">
      <dgm:prSet/>
      <dgm:spPr/>
      <dgm:t>
        <a:bodyPr/>
        <a:lstStyle/>
        <a:p>
          <a:endParaRPr lang="en-US"/>
        </a:p>
      </dgm:t>
    </dgm:pt>
    <dgm:pt modelId="{0ED14AB6-4ED0-4CCB-8CF2-302F13DF07B9}" type="pres">
      <dgm:prSet presAssocID="{5E36D87D-E8D5-43C4-B6CE-03FB89ADC7F2}" presName="root" presStyleCnt="0">
        <dgm:presLayoutVars>
          <dgm:dir/>
          <dgm:resizeHandles val="exact"/>
        </dgm:presLayoutVars>
      </dgm:prSet>
      <dgm:spPr/>
    </dgm:pt>
    <dgm:pt modelId="{1E4E18D8-371B-4142-BFBE-70814640F946}" type="pres">
      <dgm:prSet presAssocID="{0D82596C-5BBC-4B4E-9065-ED8769F3CA2C}" presName="compNode" presStyleCnt="0"/>
      <dgm:spPr/>
    </dgm:pt>
    <dgm:pt modelId="{F276765E-5846-4FA6-B8E6-562E8710BADA}" type="pres">
      <dgm:prSet presAssocID="{0D82596C-5BBC-4B4E-9065-ED8769F3CA2C}" presName="iconBgRect" presStyleLbl="bgShp" presStyleIdx="0" presStyleCnt="3"/>
      <dgm:spPr/>
    </dgm:pt>
    <dgm:pt modelId="{5E6A4728-88D3-48DA-8A0F-1AD3784BCA01}" type="pres">
      <dgm:prSet presAssocID="{0D82596C-5BBC-4B4E-9065-ED8769F3CA2C}" presName="iconRect" presStyleLbl="node1" presStyleIdx="0" presStyleCnt="3"/>
      <dgm:spPr>
        <a:blipFill>
          <a:blip xmlns:r="http://schemas.openxmlformats.org/officeDocument/2006/relationships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8CEADDCB-DEAD-41CA-9920-6F304CECA80E}" type="pres">
      <dgm:prSet presAssocID="{0D82596C-5BBC-4B4E-9065-ED8769F3CA2C}" presName="spaceRect" presStyleCnt="0"/>
      <dgm:spPr/>
    </dgm:pt>
    <dgm:pt modelId="{A9AD1DC4-46FB-4D84-B21A-FD48457A2F3C}" type="pres">
      <dgm:prSet presAssocID="{0D82596C-5BBC-4B4E-9065-ED8769F3CA2C}" presName="textRect" presStyleLbl="revTx" presStyleIdx="0" presStyleCnt="3">
        <dgm:presLayoutVars>
          <dgm:chMax val="1"/>
          <dgm:chPref val="1"/>
        </dgm:presLayoutVars>
      </dgm:prSet>
      <dgm:spPr/>
    </dgm:pt>
    <dgm:pt modelId="{D8685E5E-0FD0-402F-84D8-CAB2F6BD6071}" type="pres">
      <dgm:prSet presAssocID="{1C75411B-F20A-44FE-8521-2A4E25B7FA69}" presName="sibTrans" presStyleCnt="0"/>
      <dgm:spPr/>
    </dgm:pt>
    <dgm:pt modelId="{CACABA53-0412-4EDE-B791-28D259A00760}" type="pres">
      <dgm:prSet presAssocID="{3F672593-3124-4011-831C-F50427720BA8}" presName="compNode" presStyleCnt="0"/>
      <dgm:spPr/>
    </dgm:pt>
    <dgm:pt modelId="{0E1A324A-9087-41E0-BBBE-05AF0B187442}" type="pres">
      <dgm:prSet presAssocID="{3F672593-3124-4011-831C-F50427720BA8}" presName="iconBgRect" presStyleLbl="bgShp" presStyleIdx="1" presStyleCnt="3"/>
      <dgm:spPr/>
    </dgm:pt>
    <dgm:pt modelId="{F8E56D59-3998-42B2-98F2-FBDCD79084B5}" type="pres">
      <dgm:prSet presAssocID="{3F672593-3124-4011-831C-F50427720BA8}" presName="iconRect" presStyleLbl="node1" presStyleIdx="1" presStyleCnt="3"/>
      <dgm:spPr>
        <a:blipFill>
          <a:blip xmlns:r="http://schemas.openxmlformats.org/officeDocument/2006/relationships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D9175FC7-F17B-4C40-9ED1-9835D1159FC9}" type="pres">
      <dgm:prSet presAssocID="{3F672593-3124-4011-831C-F50427720BA8}" presName="spaceRect" presStyleCnt="0"/>
      <dgm:spPr/>
    </dgm:pt>
    <dgm:pt modelId="{82AAB51D-5549-4591-B366-DD04B12FA9E4}" type="pres">
      <dgm:prSet presAssocID="{3F672593-3124-4011-831C-F50427720BA8}" presName="textRect" presStyleLbl="revTx" presStyleIdx="1" presStyleCnt="3">
        <dgm:presLayoutVars>
          <dgm:chMax val="1"/>
          <dgm:chPref val="1"/>
        </dgm:presLayoutVars>
      </dgm:prSet>
      <dgm:spPr/>
    </dgm:pt>
    <dgm:pt modelId="{BDE2288A-531B-4CD6-8E2F-609BB0AEAC79}" type="pres">
      <dgm:prSet presAssocID="{A3F860F1-11FC-4B26-AE50-C04362FCC33C}" presName="sibTrans" presStyleCnt="0"/>
      <dgm:spPr/>
    </dgm:pt>
    <dgm:pt modelId="{C5E46A68-9079-43FE-A260-66B384149AB9}" type="pres">
      <dgm:prSet presAssocID="{6060DDCF-4DD0-4C9D-B94F-D9286CF3F52D}" presName="compNode" presStyleCnt="0"/>
      <dgm:spPr/>
    </dgm:pt>
    <dgm:pt modelId="{512FF5EA-607D-4566-9AB8-164FDFB9D7DB}" type="pres">
      <dgm:prSet presAssocID="{6060DDCF-4DD0-4C9D-B94F-D9286CF3F52D}" presName="iconBgRect" presStyleLbl="bgShp" presStyleIdx="2" presStyleCnt="3"/>
      <dgm:spPr/>
    </dgm:pt>
    <dgm:pt modelId="{CF6A1116-2E4E-4A81-BD02-674104A67DD7}" type="pres">
      <dgm:prSet presAssocID="{6060DDCF-4DD0-4C9D-B94F-D9286CF3F52D}" presName="iconRect" presStyleLbl="node1" presStyleIdx="2" presStyleCnt="3"/>
      <dgm:spPr>
        <a:blipFill>
          <a:blip xmlns:r="http://schemas.openxmlformats.org/officeDocument/2006/relationships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7C30F7E-CDF0-4BF7-8199-DD1DEDF3EF36}" type="pres">
      <dgm:prSet presAssocID="{6060DDCF-4DD0-4C9D-B94F-D9286CF3F52D}" presName="spaceRect" presStyleCnt="0"/>
      <dgm:spPr/>
    </dgm:pt>
    <dgm:pt modelId="{30AA28B3-BCBD-430D-8ADC-82E6C7646622}" type="pres">
      <dgm:prSet presAssocID="{6060DDCF-4DD0-4C9D-B94F-D9286CF3F52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B12A307-4EED-4C5F-8758-BAFA39B3C4BE}" srcId="{5E36D87D-E8D5-43C4-B6CE-03FB89ADC7F2}" destId="{3F672593-3124-4011-831C-F50427720BA8}" srcOrd="1" destOrd="0" parTransId="{A994BEAA-CB7D-4CE0-B94B-5500A5636752}" sibTransId="{A3F860F1-11FC-4B26-AE50-C04362FCC33C}"/>
    <dgm:cxn modelId="{217CA518-1B59-4499-AF04-41808DEA494D}" type="presOf" srcId="{6060DDCF-4DD0-4C9D-B94F-D9286CF3F52D}" destId="{30AA28B3-BCBD-430D-8ADC-82E6C7646622}" srcOrd="0" destOrd="0" presId="urn:microsoft.com/office/officeart/2018/5/layout/IconCircleLabelList"/>
    <dgm:cxn modelId="{6DCF1955-240F-4E4C-8314-7D775BDA43BF}" type="presOf" srcId="{0D82596C-5BBC-4B4E-9065-ED8769F3CA2C}" destId="{A9AD1DC4-46FB-4D84-B21A-FD48457A2F3C}" srcOrd="0" destOrd="0" presId="urn:microsoft.com/office/officeart/2018/5/layout/IconCircleLabelList"/>
    <dgm:cxn modelId="{CDC13B85-166B-4DAB-B131-B68C584713A4}" type="presOf" srcId="{5E36D87D-E8D5-43C4-B6CE-03FB89ADC7F2}" destId="{0ED14AB6-4ED0-4CCB-8CF2-302F13DF07B9}" srcOrd="0" destOrd="0" presId="urn:microsoft.com/office/officeart/2018/5/layout/IconCircleLabelList"/>
    <dgm:cxn modelId="{476D57CE-40B7-41D8-9464-A275DB4133B0}" srcId="{5E36D87D-E8D5-43C4-B6CE-03FB89ADC7F2}" destId="{6060DDCF-4DD0-4C9D-B94F-D9286CF3F52D}" srcOrd="2" destOrd="0" parTransId="{88C1EBD7-9EB1-4F84-A4C1-564CF8697D14}" sibTransId="{3F5F3FEA-B522-4ECD-8148-3ED2AA4A4616}"/>
    <dgm:cxn modelId="{13BBEFD8-0291-4881-B74F-30175C1EF9BB}" srcId="{5E36D87D-E8D5-43C4-B6CE-03FB89ADC7F2}" destId="{0D82596C-5BBC-4B4E-9065-ED8769F3CA2C}" srcOrd="0" destOrd="0" parTransId="{D37907DE-07D9-4735-B54E-9D7712C92C8D}" sibTransId="{1C75411B-F20A-44FE-8521-2A4E25B7FA69}"/>
    <dgm:cxn modelId="{54D613F5-47A0-4F8B-B829-F90A2CDF8D61}" type="presOf" srcId="{3F672593-3124-4011-831C-F50427720BA8}" destId="{82AAB51D-5549-4591-B366-DD04B12FA9E4}" srcOrd="0" destOrd="0" presId="urn:microsoft.com/office/officeart/2018/5/layout/IconCircleLabelList"/>
    <dgm:cxn modelId="{4912075C-A508-4887-8FC9-888A6D00385D}" type="presParOf" srcId="{0ED14AB6-4ED0-4CCB-8CF2-302F13DF07B9}" destId="{1E4E18D8-371B-4142-BFBE-70814640F946}" srcOrd="0" destOrd="0" presId="urn:microsoft.com/office/officeart/2018/5/layout/IconCircleLabelList"/>
    <dgm:cxn modelId="{27716E8C-E358-4B62-B369-F72237622256}" type="presParOf" srcId="{1E4E18D8-371B-4142-BFBE-70814640F946}" destId="{F276765E-5846-4FA6-B8E6-562E8710BADA}" srcOrd="0" destOrd="0" presId="urn:microsoft.com/office/officeart/2018/5/layout/IconCircleLabelList"/>
    <dgm:cxn modelId="{A72DC44D-50C3-4352-9204-8F983D4BF1BB}" type="presParOf" srcId="{1E4E18D8-371B-4142-BFBE-70814640F946}" destId="{5E6A4728-88D3-48DA-8A0F-1AD3784BCA01}" srcOrd="1" destOrd="0" presId="urn:microsoft.com/office/officeart/2018/5/layout/IconCircleLabelList"/>
    <dgm:cxn modelId="{B18DC17A-89C8-42B4-931D-6F4CAD8AE6EB}" type="presParOf" srcId="{1E4E18D8-371B-4142-BFBE-70814640F946}" destId="{8CEADDCB-DEAD-41CA-9920-6F304CECA80E}" srcOrd="2" destOrd="0" presId="urn:microsoft.com/office/officeart/2018/5/layout/IconCircleLabelList"/>
    <dgm:cxn modelId="{F6101487-0115-4485-B180-EB346B91B7C4}" type="presParOf" srcId="{1E4E18D8-371B-4142-BFBE-70814640F946}" destId="{A9AD1DC4-46FB-4D84-B21A-FD48457A2F3C}" srcOrd="3" destOrd="0" presId="urn:microsoft.com/office/officeart/2018/5/layout/IconCircleLabelList"/>
    <dgm:cxn modelId="{EAC9A668-8AD3-452A-AE9F-EDCEB7C7D1EB}" type="presParOf" srcId="{0ED14AB6-4ED0-4CCB-8CF2-302F13DF07B9}" destId="{D8685E5E-0FD0-402F-84D8-CAB2F6BD6071}" srcOrd="1" destOrd="0" presId="urn:microsoft.com/office/officeart/2018/5/layout/IconCircleLabelList"/>
    <dgm:cxn modelId="{A33FC0BB-9005-4243-BF3C-FEEA5B748BC0}" type="presParOf" srcId="{0ED14AB6-4ED0-4CCB-8CF2-302F13DF07B9}" destId="{CACABA53-0412-4EDE-B791-28D259A00760}" srcOrd="2" destOrd="0" presId="urn:microsoft.com/office/officeart/2018/5/layout/IconCircleLabelList"/>
    <dgm:cxn modelId="{F9D91621-EBB4-4AB0-918D-04F7C08ECE9B}" type="presParOf" srcId="{CACABA53-0412-4EDE-B791-28D259A00760}" destId="{0E1A324A-9087-41E0-BBBE-05AF0B187442}" srcOrd="0" destOrd="0" presId="urn:microsoft.com/office/officeart/2018/5/layout/IconCircleLabelList"/>
    <dgm:cxn modelId="{427BEC41-4E66-4ADA-8CB7-F584E1AC982A}" type="presParOf" srcId="{CACABA53-0412-4EDE-B791-28D259A00760}" destId="{F8E56D59-3998-42B2-98F2-FBDCD79084B5}" srcOrd="1" destOrd="0" presId="urn:microsoft.com/office/officeart/2018/5/layout/IconCircleLabelList"/>
    <dgm:cxn modelId="{406A4D79-03E1-4A4F-AB4E-577C96579320}" type="presParOf" srcId="{CACABA53-0412-4EDE-B791-28D259A00760}" destId="{D9175FC7-F17B-4C40-9ED1-9835D1159FC9}" srcOrd="2" destOrd="0" presId="urn:microsoft.com/office/officeart/2018/5/layout/IconCircleLabelList"/>
    <dgm:cxn modelId="{D32C1205-64F2-49E1-B18D-97EFCB73A3D9}" type="presParOf" srcId="{CACABA53-0412-4EDE-B791-28D259A00760}" destId="{82AAB51D-5549-4591-B366-DD04B12FA9E4}" srcOrd="3" destOrd="0" presId="urn:microsoft.com/office/officeart/2018/5/layout/IconCircleLabelList"/>
    <dgm:cxn modelId="{A591531B-F205-48AF-A329-9B0EDFF09538}" type="presParOf" srcId="{0ED14AB6-4ED0-4CCB-8CF2-302F13DF07B9}" destId="{BDE2288A-531B-4CD6-8E2F-609BB0AEAC79}" srcOrd="3" destOrd="0" presId="urn:microsoft.com/office/officeart/2018/5/layout/IconCircleLabelList"/>
    <dgm:cxn modelId="{5DDD4D51-7389-4C9B-8E5A-88AE0AFD38AC}" type="presParOf" srcId="{0ED14AB6-4ED0-4CCB-8CF2-302F13DF07B9}" destId="{C5E46A68-9079-43FE-A260-66B384149AB9}" srcOrd="4" destOrd="0" presId="urn:microsoft.com/office/officeart/2018/5/layout/IconCircleLabelList"/>
    <dgm:cxn modelId="{8BCE2A42-3C4F-4536-ACF0-DABD501DC6F5}" type="presParOf" srcId="{C5E46A68-9079-43FE-A260-66B384149AB9}" destId="{512FF5EA-607D-4566-9AB8-164FDFB9D7DB}" srcOrd="0" destOrd="0" presId="urn:microsoft.com/office/officeart/2018/5/layout/IconCircleLabelList"/>
    <dgm:cxn modelId="{59DDC92A-0332-4BCE-AA4B-3385BFC91F78}" type="presParOf" srcId="{C5E46A68-9079-43FE-A260-66B384149AB9}" destId="{CF6A1116-2E4E-4A81-BD02-674104A67DD7}" srcOrd="1" destOrd="0" presId="urn:microsoft.com/office/officeart/2018/5/layout/IconCircleLabelList"/>
    <dgm:cxn modelId="{8E5763EE-5EF1-4D89-8EA0-183180CCD109}" type="presParOf" srcId="{C5E46A68-9079-43FE-A260-66B384149AB9}" destId="{C7C30F7E-CDF0-4BF7-8199-DD1DEDF3EF36}" srcOrd="2" destOrd="0" presId="urn:microsoft.com/office/officeart/2018/5/layout/IconCircleLabelList"/>
    <dgm:cxn modelId="{391F5149-7A81-4830-8D55-881FE3C21257}" type="presParOf" srcId="{C5E46A68-9079-43FE-A260-66B384149AB9}" destId="{30AA28B3-BCBD-430D-8ADC-82E6C764662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F91B88-0146-476D-B9D5-2E10622AF835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333608D-244C-491C-A3F2-F13C6954B60C}">
      <dgm:prSet custT="1"/>
      <dgm:spPr/>
      <dgm:t>
        <a:bodyPr/>
        <a:lstStyle/>
        <a:p>
          <a:r>
            <a:rPr lang="en-US" sz="2800" dirty="0"/>
            <a:t>By the end of this week, you should be able to demonstrate: </a:t>
          </a:r>
        </a:p>
      </dgm:t>
    </dgm:pt>
    <dgm:pt modelId="{58AD2817-F6F2-47CC-AEFF-91A0F8182DE1}" type="parTrans" cxnId="{44234CE8-A7A7-495E-A75F-B614EE1E68ED}">
      <dgm:prSet/>
      <dgm:spPr/>
      <dgm:t>
        <a:bodyPr/>
        <a:lstStyle/>
        <a:p>
          <a:endParaRPr lang="en-US" sz="2800"/>
        </a:p>
      </dgm:t>
    </dgm:pt>
    <dgm:pt modelId="{EE39FDFE-7C18-4718-8BF3-DD1BBDD0E558}" type="sibTrans" cxnId="{44234CE8-A7A7-495E-A75F-B614EE1E68ED}">
      <dgm:prSet/>
      <dgm:spPr/>
      <dgm:t>
        <a:bodyPr/>
        <a:lstStyle/>
        <a:p>
          <a:endParaRPr lang="en-US" sz="2800"/>
        </a:p>
      </dgm:t>
    </dgm:pt>
    <dgm:pt modelId="{08CCBC86-AD98-42A7-A229-E5990A519A3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AU" sz="2400" dirty="0"/>
            <a:t>Understanding forms validation in PHP</a:t>
          </a:r>
        </a:p>
        <a:p>
          <a:pPr>
            <a:buFont typeface="Arial" panose="020B0604020202020204" pitchFamily="34" charset="0"/>
            <a:buChar char="•"/>
          </a:pPr>
          <a:r>
            <a:rPr lang="en-US" sz="2400" dirty="0"/>
            <a:t>An understanding of basic database types</a:t>
          </a:r>
          <a:endParaRPr lang="en-AU" sz="2400" dirty="0"/>
        </a:p>
        <a:p>
          <a:r>
            <a:rPr lang="en-US" sz="2400" dirty="0"/>
            <a:t>The ability to create, populate, and interact with a MySQL database</a:t>
          </a:r>
          <a:endParaRPr lang="en-AU" sz="2400" dirty="0"/>
        </a:p>
        <a:p>
          <a:pPr>
            <a:buFont typeface="Arial" panose="020B0604020202020204" pitchFamily="34" charset="0"/>
            <a:buNone/>
          </a:pPr>
          <a:endParaRPr lang="en-US" sz="2800" dirty="0"/>
        </a:p>
      </dgm:t>
    </dgm:pt>
    <dgm:pt modelId="{5CF3508F-E209-4409-B5B5-A200D8A1D6C5}" type="parTrans" cxnId="{AD07AF2D-43AD-4A81-A4AF-0F73FC4D8CF1}">
      <dgm:prSet/>
      <dgm:spPr/>
      <dgm:t>
        <a:bodyPr/>
        <a:lstStyle/>
        <a:p>
          <a:endParaRPr lang="en-US" sz="2800"/>
        </a:p>
      </dgm:t>
    </dgm:pt>
    <dgm:pt modelId="{1161C2EA-9A62-4B85-BBA1-FF28821BFF6B}" type="sibTrans" cxnId="{AD07AF2D-43AD-4A81-A4AF-0F73FC4D8CF1}">
      <dgm:prSet/>
      <dgm:spPr/>
      <dgm:t>
        <a:bodyPr/>
        <a:lstStyle/>
        <a:p>
          <a:endParaRPr lang="en-US" sz="2800"/>
        </a:p>
      </dgm:t>
    </dgm:pt>
    <dgm:pt modelId="{770513DF-C59B-4000-944D-07E8A16AFA79}" type="pres">
      <dgm:prSet presAssocID="{00F91B88-0146-476D-B9D5-2E10622AF835}" presName="vert0" presStyleCnt="0">
        <dgm:presLayoutVars>
          <dgm:dir/>
          <dgm:animOne val="branch"/>
          <dgm:animLvl val="lvl"/>
        </dgm:presLayoutVars>
      </dgm:prSet>
      <dgm:spPr/>
    </dgm:pt>
    <dgm:pt modelId="{86B2CD72-68F8-4599-83D6-E283E5E5AEDF}" type="pres">
      <dgm:prSet presAssocID="{C333608D-244C-491C-A3F2-F13C6954B60C}" presName="thickLine" presStyleLbl="alignNode1" presStyleIdx="0" presStyleCnt="1"/>
      <dgm:spPr/>
    </dgm:pt>
    <dgm:pt modelId="{2D9F617F-D79C-429A-AE55-BD76996D0D05}" type="pres">
      <dgm:prSet presAssocID="{C333608D-244C-491C-A3F2-F13C6954B60C}" presName="horz1" presStyleCnt="0"/>
      <dgm:spPr/>
    </dgm:pt>
    <dgm:pt modelId="{B68C2787-D7C3-4C51-83C3-1BE199DA65D9}" type="pres">
      <dgm:prSet presAssocID="{C333608D-244C-491C-A3F2-F13C6954B60C}" presName="tx1" presStyleLbl="revTx" presStyleIdx="0" presStyleCnt="2" custScaleX="279676"/>
      <dgm:spPr/>
    </dgm:pt>
    <dgm:pt modelId="{C2EED055-BFAE-40FB-BF8F-C1C180341325}" type="pres">
      <dgm:prSet presAssocID="{C333608D-244C-491C-A3F2-F13C6954B60C}" presName="vert1" presStyleCnt="0"/>
      <dgm:spPr/>
    </dgm:pt>
    <dgm:pt modelId="{89A32858-C1C2-42F7-AC9B-FA336C76FE0D}" type="pres">
      <dgm:prSet presAssocID="{08CCBC86-AD98-42A7-A229-E5990A519A35}" presName="vertSpace2a" presStyleCnt="0"/>
      <dgm:spPr/>
    </dgm:pt>
    <dgm:pt modelId="{FA6A4E50-BEF8-4893-AB6F-90AD5CAD10A4}" type="pres">
      <dgm:prSet presAssocID="{08CCBC86-AD98-42A7-A229-E5990A519A35}" presName="horz2" presStyleCnt="0"/>
      <dgm:spPr/>
    </dgm:pt>
    <dgm:pt modelId="{D569F108-0CA2-4967-ACFC-6F998D95B86F}" type="pres">
      <dgm:prSet presAssocID="{08CCBC86-AD98-42A7-A229-E5990A519A35}" presName="horzSpace2" presStyleCnt="0"/>
      <dgm:spPr/>
    </dgm:pt>
    <dgm:pt modelId="{15CDAFE4-284E-4466-83DC-7863296FD76F}" type="pres">
      <dgm:prSet presAssocID="{08CCBC86-AD98-42A7-A229-E5990A519A35}" presName="tx2" presStyleLbl="revTx" presStyleIdx="1" presStyleCnt="2" custScaleY="110215"/>
      <dgm:spPr/>
    </dgm:pt>
    <dgm:pt modelId="{4EACE9FC-2146-4154-A6D0-6AFB54DBE4A6}" type="pres">
      <dgm:prSet presAssocID="{08CCBC86-AD98-42A7-A229-E5990A519A35}" presName="vert2" presStyleCnt="0"/>
      <dgm:spPr/>
    </dgm:pt>
    <dgm:pt modelId="{CC043CFD-B031-40CB-BA59-7A0746A4CA22}" type="pres">
      <dgm:prSet presAssocID="{08CCBC86-AD98-42A7-A229-E5990A519A35}" presName="thinLine2b" presStyleLbl="callout" presStyleIdx="0" presStyleCnt="1"/>
      <dgm:spPr/>
    </dgm:pt>
    <dgm:pt modelId="{5B2CBF2C-F225-4B3A-9E0C-1D3265928338}" type="pres">
      <dgm:prSet presAssocID="{08CCBC86-AD98-42A7-A229-E5990A519A35}" presName="vertSpace2b" presStyleCnt="0"/>
      <dgm:spPr/>
    </dgm:pt>
  </dgm:ptLst>
  <dgm:cxnLst>
    <dgm:cxn modelId="{86487918-6F7B-418C-9F2D-51641173478A}" type="presOf" srcId="{C333608D-244C-491C-A3F2-F13C6954B60C}" destId="{B68C2787-D7C3-4C51-83C3-1BE199DA65D9}" srcOrd="0" destOrd="0" presId="urn:microsoft.com/office/officeart/2008/layout/LinedList"/>
    <dgm:cxn modelId="{9746E525-7687-449A-9F61-439899CF134D}" type="presOf" srcId="{08CCBC86-AD98-42A7-A229-E5990A519A35}" destId="{15CDAFE4-284E-4466-83DC-7863296FD76F}" srcOrd="0" destOrd="0" presId="urn:microsoft.com/office/officeart/2008/layout/LinedList"/>
    <dgm:cxn modelId="{AD07AF2D-43AD-4A81-A4AF-0F73FC4D8CF1}" srcId="{C333608D-244C-491C-A3F2-F13C6954B60C}" destId="{08CCBC86-AD98-42A7-A229-E5990A519A35}" srcOrd="0" destOrd="0" parTransId="{5CF3508F-E209-4409-B5B5-A200D8A1D6C5}" sibTransId="{1161C2EA-9A62-4B85-BBA1-FF28821BFF6B}"/>
    <dgm:cxn modelId="{24196FB4-AA10-4195-914D-BB23C2268A6B}" type="presOf" srcId="{00F91B88-0146-476D-B9D5-2E10622AF835}" destId="{770513DF-C59B-4000-944D-07E8A16AFA79}" srcOrd="0" destOrd="0" presId="urn:microsoft.com/office/officeart/2008/layout/LinedList"/>
    <dgm:cxn modelId="{44234CE8-A7A7-495E-A75F-B614EE1E68ED}" srcId="{00F91B88-0146-476D-B9D5-2E10622AF835}" destId="{C333608D-244C-491C-A3F2-F13C6954B60C}" srcOrd="0" destOrd="0" parTransId="{58AD2817-F6F2-47CC-AEFF-91A0F8182DE1}" sibTransId="{EE39FDFE-7C18-4718-8BF3-DD1BBDD0E558}"/>
    <dgm:cxn modelId="{838EB01F-CCEA-4C1F-A80A-17FA1CD0C161}" type="presParOf" srcId="{770513DF-C59B-4000-944D-07E8A16AFA79}" destId="{86B2CD72-68F8-4599-83D6-E283E5E5AEDF}" srcOrd="0" destOrd="0" presId="urn:microsoft.com/office/officeart/2008/layout/LinedList"/>
    <dgm:cxn modelId="{4439C563-F41B-4961-A123-9B8F8ABE943B}" type="presParOf" srcId="{770513DF-C59B-4000-944D-07E8A16AFA79}" destId="{2D9F617F-D79C-429A-AE55-BD76996D0D05}" srcOrd="1" destOrd="0" presId="urn:microsoft.com/office/officeart/2008/layout/LinedList"/>
    <dgm:cxn modelId="{77DA9EC5-C677-41C0-876D-67B844565C61}" type="presParOf" srcId="{2D9F617F-D79C-429A-AE55-BD76996D0D05}" destId="{B68C2787-D7C3-4C51-83C3-1BE199DA65D9}" srcOrd="0" destOrd="0" presId="urn:microsoft.com/office/officeart/2008/layout/LinedList"/>
    <dgm:cxn modelId="{2E3DBE30-8ECA-484D-9EC0-16F2C3AC6B9E}" type="presParOf" srcId="{2D9F617F-D79C-429A-AE55-BD76996D0D05}" destId="{C2EED055-BFAE-40FB-BF8F-C1C180341325}" srcOrd="1" destOrd="0" presId="urn:microsoft.com/office/officeart/2008/layout/LinedList"/>
    <dgm:cxn modelId="{62774794-ACCB-414E-92E9-524F61FBF362}" type="presParOf" srcId="{C2EED055-BFAE-40FB-BF8F-C1C180341325}" destId="{89A32858-C1C2-42F7-AC9B-FA336C76FE0D}" srcOrd="0" destOrd="0" presId="urn:microsoft.com/office/officeart/2008/layout/LinedList"/>
    <dgm:cxn modelId="{F38C51F8-3788-497E-BD25-B5953FB0E9AF}" type="presParOf" srcId="{C2EED055-BFAE-40FB-BF8F-C1C180341325}" destId="{FA6A4E50-BEF8-4893-AB6F-90AD5CAD10A4}" srcOrd="1" destOrd="0" presId="urn:microsoft.com/office/officeart/2008/layout/LinedList"/>
    <dgm:cxn modelId="{CB73CBF4-9EB2-487E-94A5-27ACCF467680}" type="presParOf" srcId="{FA6A4E50-BEF8-4893-AB6F-90AD5CAD10A4}" destId="{D569F108-0CA2-4967-ACFC-6F998D95B86F}" srcOrd="0" destOrd="0" presId="urn:microsoft.com/office/officeart/2008/layout/LinedList"/>
    <dgm:cxn modelId="{4E9A0CB6-8859-4CCB-B839-F6ECFD1A158D}" type="presParOf" srcId="{FA6A4E50-BEF8-4893-AB6F-90AD5CAD10A4}" destId="{15CDAFE4-284E-4466-83DC-7863296FD76F}" srcOrd="1" destOrd="0" presId="urn:microsoft.com/office/officeart/2008/layout/LinedList"/>
    <dgm:cxn modelId="{9C01C935-9F30-4806-A356-A9857A72464D}" type="presParOf" srcId="{FA6A4E50-BEF8-4893-AB6F-90AD5CAD10A4}" destId="{4EACE9FC-2146-4154-A6D0-6AFB54DBE4A6}" srcOrd="2" destOrd="0" presId="urn:microsoft.com/office/officeart/2008/layout/LinedList"/>
    <dgm:cxn modelId="{4F613B2F-C423-429A-93AB-B3F8F607F6F1}" type="presParOf" srcId="{C2EED055-BFAE-40FB-BF8F-C1C180341325}" destId="{CC043CFD-B031-40CB-BA59-7A0746A4CA22}" srcOrd="2" destOrd="0" presId="urn:microsoft.com/office/officeart/2008/layout/LinedList"/>
    <dgm:cxn modelId="{DD65E74B-BBDF-40A1-AB0B-4F9109C2E588}" type="presParOf" srcId="{C2EED055-BFAE-40FB-BF8F-C1C180341325}" destId="{5B2CBF2C-F225-4B3A-9E0C-1D3265928338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6765E-5846-4FA6-B8E6-562E8710BADA}">
      <dsp:nvSpPr>
        <dsp:cNvPr id="0" name=""/>
        <dsp:cNvSpPr/>
      </dsp:nvSpPr>
      <dsp:spPr>
        <a:xfrm>
          <a:off x="628457" y="312505"/>
          <a:ext cx="1921500" cy="19215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A4728-88D3-48DA-8A0F-1AD3784BCA01}">
      <dsp:nvSpPr>
        <dsp:cNvPr id="0" name=""/>
        <dsp:cNvSpPr/>
      </dsp:nvSpPr>
      <dsp:spPr>
        <a:xfrm>
          <a:off x="1037957" y="722005"/>
          <a:ext cx="1102500" cy="1102500"/>
        </a:xfrm>
        <a:prstGeom prst="rect">
          <a:avLst/>
        </a:prstGeom>
        <a:blipFill>
          <a:blip xmlns:r="http://schemas.openxmlformats.org/officeDocument/2006/relationships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D1DC4-46FB-4D84-B21A-FD48457A2F3C}">
      <dsp:nvSpPr>
        <dsp:cNvPr id="0" name=""/>
        <dsp:cNvSpPr/>
      </dsp:nvSpPr>
      <dsp:spPr>
        <a:xfrm>
          <a:off x="14207" y="2832506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2300" kern="1200" dirty="0"/>
            <a:t>Read Chapter 37-39 of The Prescribed Text </a:t>
          </a:r>
          <a:endParaRPr lang="en-US" sz="2300" kern="1200" dirty="0"/>
        </a:p>
      </dsp:txBody>
      <dsp:txXfrm>
        <a:off x="14207" y="2832506"/>
        <a:ext cx="3150000" cy="720000"/>
      </dsp:txXfrm>
    </dsp:sp>
    <dsp:sp modelId="{0E1A324A-9087-41E0-BBBE-05AF0B187442}">
      <dsp:nvSpPr>
        <dsp:cNvPr id="0" name=""/>
        <dsp:cNvSpPr/>
      </dsp:nvSpPr>
      <dsp:spPr>
        <a:xfrm>
          <a:off x="4329707" y="312505"/>
          <a:ext cx="1921500" cy="19215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56D59-3998-42B2-98F2-FBDCD79084B5}">
      <dsp:nvSpPr>
        <dsp:cNvPr id="0" name=""/>
        <dsp:cNvSpPr/>
      </dsp:nvSpPr>
      <dsp:spPr>
        <a:xfrm>
          <a:off x="4739207" y="722005"/>
          <a:ext cx="1102500" cy="1102500"/>
        </a:xfrm>
        <a:prstGeom prst="rect">
          <a:avLst/>
        </a:prstGeom>
        <a:blipFill>
          <a:blip xmlns:r="http://schemas.openxmlformats.org/officeDocument/2006/relationships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AB51D-5549-4591-B366-DD04B12FA9E4}">
      <dsp:nvSpPr>
        <dsp:cNvPr id="0" name=""/>
        <dsp:cNvSpPr/>
      </dsp:nvSpPr>
      <dsp:spPr>
        <a:xfrm>
          <a:off x="3715457" y="2832506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2300" kern="1200" dirty="0"/>
            <a:t>Attend Lectorial</a:t>
          </a:r>
          <a:endParaRPr lang="en-US" sz="2300" kern="1200" dirty="0"/>
        </a:p>
      </dsp:txBody>
      <dsp:txXfrm>
        <a:off x="3715457" y="2832506"/>
        <a:ext cx="3150000" cy="720000"/>
      </dsp:txXfrm>
    </dsp:sp>
    <dsp:sp modelId="{512FF5EA-607D-4566-9AB8-164FDFB9D7DB}">
      <dsp:nvSpPr>
        <dsp:cNvPr id="0" name=""/>
        <dsp:cNvSpPr/>
      </dsp:nvSpPr>
      <dsp:spPr>
        <a:xfrm>
          <a:off x="8030957" y="312505"/>
          <a:ext cx="1921500" cy="19215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A1116-2E4E-4A81-BD02-674104A67DD7}">
      <dsp:nvSpPr>
        <dsp:cNvPr id="0" name=""/>
        <dsp:cNvSpPr/>
      </dsp:nvSpPr>
      <dsp:spPr>
        <a:xfrm>
          <a:off x="8440457" y="722005"/>
          <a:ext cx="1102500" cy="1102500"/>
        </a:xfrm>
        <a:prstGeom prst="rect">
          <a:avLst/>
        </a:prstGeom>
        <a:blipFill>
          <a:blip xmlns:r="http://schemas.openxmlformats.org/officeDocument/2006/relationships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A28B3-BCBD-430D-8ADC-82E6C7646622}">
      <dsp:nvSpPr>
        <dsp:cNvPr id="0" name=""/>
        <dsp:cNvSpPr/>
      </dsp:nvSpPr>
      <dsp:spPr>
        <a:xfrm>
          <a:off x="7416707" y="2832506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2300" kern="1200" dirty="0"/>
            <a:t>Perform practical tasks</a:t>
          </a:r>
          <a:endParaRPr lang="en-US" sz="2300" kern="1200" dirty="0"/>
        </a:p>
      </dsp:txBody>
      <dsp:txXfrm>
        <a:off x="7416707" y="2832506"/>
        <a:ext cx="315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2CD72-68F8-4599-83D6-E283E5E5AEDF}">
      <dsp:nvSpPr>
        <dsp:cNvPr id="0" name=""/>
        <dsp:cNvSpPr/>
      </dsp:nvSpPr>
      <dsp:spPr>
        <a:xfrm>
          <a:off x="0" y="0"/>
          <a:ext cx="851058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68C2787-D7C3-4C51-83C3-1BE199DA65D9}">
      <dsp:nvSpPr>
        <dsp:cNvPr id="0" name=""/>
        <dsp:cNvSpPr/>
      </dsp:nvSpPr>
      <dsp:spPr>
        <a:xfrm>
          <a:off x="0" y="0"/>
          <a:ext cx="3500577" cy="3514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By the end of this week, you should be able to demonstrate: </a:t>
          </a:r>
        </a:p>
      </dsp:txBody>
      <dsp:txXfrm>
        <a:off x="0" y="0"/>
        <a:ext cx="3500577" cy="3514044"/>
      </dsp:txXfrm>
    </dsp:sp>
    <dsp:sp modelId="{15CDAFE4-284E-4466-83DC-7863296FD76F}">
      <dsp:nvSpPr>
        <dsp:cNvPr id="0" name=""/>
        <dsp:cNvSpPr/>
      </dsp:nvSpPr>
      <dsp:spPr>
        <a:xfrm>
          <a:off x="3594451" y="146018"/>
          <a:ext cx="4912744" cy="3218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AU" sz="2400" kern="1200" dirty="0"/>
            <a:t>Understanding forms validation in PHP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/>
            <a:t>An understanding of basic database types</a:t>
          </a:r>
          <a:endParaRPr lang="en-AU" sz="2400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ability to create, populate, and interact with a MySQL database</a:t>
          </a:r>
          <a:endParaRPr lang="en-AU" sz="2400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2800" kern="1200" dirty="0"/>
        </a:p>
      </dsp:txBody>
      <dsp:txXfrm>
        <a:off x="3594451" y="146018"/>
        <a:ext cx="4912744" cy="3218677"/>
      </dsp:txXfrm>
    </dsp:sp>
    <dsp:sp modelId="{CC043CFD-B031-40CB-BA59-7A0746A4CA22}">
      <dsp:nvSpPr>
        <dsp:cNvPr id="0" name=""/>
        <dsp:cNvSpPr/>
      </dsp:nvSpPr>
      <dsp:spPr>
        <a:xfrm>
          <a:off x="3500577" y="3364695"/>
          <a:ext cx="500661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35B49-FE53-44A6-86D3-227CDCBE5C3E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CD060-3FD2-4013-A6E0-1CA9904835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05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CD060-3FD2-4013-A6E0-1CA9904835CF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1269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CD060-3FD2-4013-A6E0-1CA9904835CF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394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532A3-06CC-460E-A66B-53BBB019CEE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006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B2A0-90A6-40B8-83FD-02BD0FC3D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E4BD6-A5E3-4A8A-9140-8BC5767C3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95995-A7FF-403A-855F-07C11176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6F205-4562-4AFA-86E4-15B4C194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B839F-3B02-4B4E-9669-D6E253A0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4124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DA00-E02A-4B0E-B5FB-65A4567E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3A9F5-6E55-4EED-AAC6-B7CB7A2A5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93F09-FD7E-442B-8814-B045166AA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2BF20-4F9A-4AF0-ACDD-AD6EE195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881B6-CED8-4874-A16C-1EB9E237D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132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4CDC-E23B-4019-B793-351580309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6B7D1-06D9-4109-9288-02F97D93C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E524-D397-49B9-8868-B7C9479E1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1557C-0121-40D5-B076-DD3D6713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CD829-EF03-42AE-9FBE-E4C20FF4A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452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6597F-F287-4636-8FB1-78D8BAF9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97A2E-E30F-4099-9F88-AD80C5E90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E3443-092C-4DEA-91E3-2BFD87120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5F64B-80C7-4B67-B991-58A30158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C9BCA-D472-40F5-A1FF-B9A99B061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4CFF0-5FD3-4489-B0C7-88F735D9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203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A994-68B5-4410-8B88-3170D9577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97305-60EB-4CE8-A658-1D20971E8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EBCFE-0581-471E-B845-91C0214A4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4BDD1-693D-4F29-B36B-F3C0894D67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43E5D7-B086-4684-A5B8-8183079B4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3621E4-7D48-4319-9D2A-76EB2EA5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038ABA-92F8-417A-851F-0B3B7233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FB59BA-67C4-405D-8866-65D53A0CF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510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C6370-0E03-49D4-B0EB-862D3E5B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7DB17-EA3B-40A0-9CF7-975D5D25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95C70C-807C-4534-AEBA-B73581DF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AD2CC-1F0C-45E2-8C54-5D455AAD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40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52FACF-F89C-46FD-B463-3D92C4981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F0C9C-0CE6-4A1F-A65A-88D5202A9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B2C35-39CB-48C3-8CA9-C0FB49514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9053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E5B2-801A-4EAA-A5B5-D74C8C17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5059C-5C0D-4700-AB8F-BB3F0E80B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451EC-358C-4840-B4E8-1CD1084BB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D2A9D-D8E9-4E1E-A8F7-C0EF3D9E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FCB2B-4051-44A5-A283-860CA3A4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955E5-9715-44C9-B404-59AA5104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A4B0-CA5D-4F82-9511-CA608CB4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0F7F8-7BEB-4832-8B2E-94AC3EA9C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1519D-7A2B-40B0-A16B-8A3085A77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C5EA9-236D-447E-BFD5-ECFAB3A5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8D0F5-9F33-4D9A-B71A-7E0130968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DC5A9-DA5E-4E7B-A5D0-74C5B0FC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993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D5DF8-F4D7-4E89-9FAD-20AF19B6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06CDF-E6A4-4611-AE4F-F6D8DF9A8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731F8-25F2-480B-AFE0-C45F5394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0B356-9BD1-4C24-9765-0408DD2B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75435-0062-408E-AF42-FA9B8EBE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1479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33EF0-91BD-46B5-B854-824855FF7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1E75D-9E46-43DF-B7E8-F196C23BD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CB745-5755-4B40-A209-EA6ED715E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FDE08-6B68-451F-935B-EBAAE7E4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7755F-498B-4313-A052-5D72603F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300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DFD8-7C09-4ED2-B4AC-72A2273A2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B11D5-1B04-4D8F-88E1-00D561767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3639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0FF2D-F8C8-4E7D-8C14-BBAD2570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BB555-4A3A-46FA-9050-E90DB2CA9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0372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66F2-1552-432B-A7A7-73458430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F3C02-71E1-489D-9134-200CBF6C6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036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7479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6517A-9178-454F-9E6E-C3A813071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7E0E1-CED9-490A-AC01-264438C36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838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DB3D1-D890-48BE-B794-2C5070A96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838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2993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DA2C-20B0-4D4E-A3F8-B5BEFE345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45041-42AD-4F15-82CB-8EB02C306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1E7F8-BAD6-42B8-94BF-C8B5083C9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20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ED1DC-EA4C-47B8-B6E4-36F1FCD03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5CAF97-E604-4B33-9C63-185FC482A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20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1509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68CB-56DB-489A-9CDA-392767D2D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59496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120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4D9E-08E3-4F44-A127-9C9FB61D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2DE78-3467-4154-9B4F-F32F60871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6767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CE7E3-11AD-46D8-BB43-25D5608CC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60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2850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99EB-3880-4C00-A386-2C61B582C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E39A1B-BC6A-4276-B6F5-2F104268DA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6318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34775-AA98-442D-941F-DB7B13D70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448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05689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5C0C-6FEB-4AD6-818F-C3F70649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67819-C4EA-4AA3-91ED-E98D0410A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90703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458041-2789-4CE3-896A-19ADB9ACA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286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4EA8B-375B-4C76-80F3-4086B2CA0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1812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DFD8-7C09-4ED2-B4AC-72A2273A2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B11D5-1B04-4D8F-88E1-00D561767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7D9B3-A0A9-41CD-815B-D7E60F9D2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257E-85B8-43A6-899A-6F1F8387CF6A}" type="datetime1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18AFC-29C3-4639-B727-7DCA13FF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F48A5-E150-43BC-AEBB-19F31866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372A-B3C7-427B-BB89-F15DC7ABD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77844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0FF2D-F8C8-4E7D-8C14-BBAD2570D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2452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BB555-4A3A-46FA-9050-E90DB2CA9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623"/>
            <a:ext cx="10515600" cy="41889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74BC9-5322-4056-A08A-9B80AD53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0" y="6356349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511E1-2563-4C25-98D0-EECFB3D2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28954" y="6356349"/>
            <a:ext cx="2743200" cy="365125"/>
          </a:xfrm>
        </p:spPr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fld id="{F5E7372A-B3C7-427B-BB89-F15DC7ABDE4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12319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66F2-1552-432B-A7A7-73458430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F3C02-71E1-489D-9134-200CBF6C6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036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03175-C484-4E48-80D0-9DD75503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1D0A-7E7F-4168-862F-6FF07D3619F0}" type="datetime1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ED655-E488-4025-AE74-A6554076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D3F50-F39B-48E6-8CB3-D988A76D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372A-B3C7-427B-BB89-F15DC7ABD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774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6517A-9178-454F-9E6E-C3A813071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7E0E1-CED9-490A-AC01-264438C36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838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DB3D1-D890-48BE-B794-2C5070A96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838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E5E52-CE58-45DE-9743-BCA1E5F7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A6E66-B09D-42B4-A928-F4B91E01DB4D}" type="datetime1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940D5-C705-4114-9046-407A1670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85785-C0A6-4CD7-8CA6-C940F145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372A-B3C7-427B-BB89-F15DC7ABD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0855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DA2C-20B0-4D4E-A3F8-B5BEFE345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45041-42AD-4F15-82CB-8EB02C306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1E7F8-BAD6-42B8-94BF-C8B5083C9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20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ED1DC-EA4C-47B8-B6E4-36F1FCD03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5CAF97-E604-4B33-9C63-185FC482A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20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D2B35-435F-4AC8-B09B-FC88697D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EC1A-339A-4160-AF1E-2A11EBA4E82E}" type="datetime1">
              <a:rPr lang="en-AU" smtClean="0"/>
              <a:t>18/05/2026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62D970-4421-4C3C-B121-07C9234C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3878F-F13C-4DDC-A0C0-A329096C3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372A-B3C7-427B-BB89-F15DC7ABD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46005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68CB-56DB-489A-9CDA-392767D2D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B220A-C5B2-4398-9084-DD4640302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3EC3-BD12-4369-8645-4598AE693607}" type="datetime1">
              <a:rPr lang="en-AU" smtClean="0"/>
              <a:t>18/05/2026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5BB15-F254-435C-B8E9-8E5CE32A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E4FB2-329F-4072-88D3-1E8819C6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372A-B3C7-427B-BB89-F15DC7ABD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55929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56DFE9-5A22-44A0-8704-B543CD67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7AD85-3989-4EE6-91E2-1DE937828308}" type="datetime1">
              <a:rPr lang="en-AU" smtClean="0"/>
              <a:t>18/05/2026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0E6B2F-3B83-4E9B-A8CF-D3E99D30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79D62-3A38-4B86-B1C2-86813AA13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372A-B3C7-427B-BB89-F15DC7ABD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64386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4D9E-08E3-4F44-A127-9C9FB61D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2DE78-3467-4154-9B4F-F32F60871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6767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CE7E3-11AD-46D8-BB43-25D5608CC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60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218E5-A28A-4380-B3E6-E282CDBB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DEB-FC21-4F49-B99F-E03B9C17E2F3}" type="datetime1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32F9D-9DBB-4EA6-8A1F-410FAAAE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8D760-9ECA-4FDC-A104-52733551E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372A-B3C7-427B-BB89-F15DC7ABD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5961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99EB-3880-4C00-A386-2C61B582C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E39A1B-BC6A-4276-B6F5-2F104268DA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6318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34775-AA98-442D-941F-DB7B13D70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448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0299B-203B-450A-BB29-61A5F82E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036D-3605-441D-B4AF-9589ECECB82B}" type="datetime1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88C2F-160A-4495-ACF3-F0A0E451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94ECD-AB1A-459D-9D50-7D0691ED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372A-B3C7-427B-BB89-F15DC7ABD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21044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5C0C-6FEB-4AD6-818F-C3F70649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67819-C4EA-4AA3-91ED-E98D0410A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401F9-0788-4717-BA80-87B57309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52F7D-5FDC-41AA-AE14-F006C74C9CBA}" type="datetime1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6D622-0A90-4863-AA1B-4CE8A703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7FC9-BC6C-46B0-927E-5489B2808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372A-B3C7-427B-BB89-F15DC7ABD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97239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458041-2789-4CE3-896A-19ADB9ACA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286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4EA8B-375B-4C76-80F3-4086B2CA0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4C4AD-191B-454D-860A-7169A48C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210-BB5F-493F-9E86-7CF2AED3CA8B}" type="datetime1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E5B81-DC39-4A6E-A76D-1800683F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176BE-B3E6-4C83-BA2A-E2E187CA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372A-B3C7-427B-BB89-F15DC7ABD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700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A3001-E505-4611-AC5E-30676A364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573A5-5692-4CAD-A0C3-6FAF57E38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357F3-7C6C-4B93-BB8B-8555EADD4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08CB8-74BE-4430-9CCE-E34B71BE6DA5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8CE04-8EA9-4780-9982-BAD687AAB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AD06F-76B8-444C-85DB-6BAB9A616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3AB86-37F4-49F9-83EE-CBFA98C67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787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610EB-B7CE-49D5-9641-1D51FD68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0846C-8EB4-4497-B087-6B5836AE4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08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7A895-B1B5-4D54-8220-B55FC2813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F91-D788-45D6-B1D7-94B130D45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4C4E0-1941-4302-973A-38FFFA8FF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54217-3129-429F-ACD6-AA22F16F39DE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F2CD8A-CAB8-43B2-8AA1-EF2DD6DE5381}"/>
              </a:ext>
            </a:extLst>
          </p:cNvPr>
          <p:cNvSpPr/>
          <p:nvPr/>
        </p:nvSpPr>
        <p:spPr>
          <a:xfrm>
            <a:off x="0" y="5732427"/>
            <a:ext cx="8765764" cy="1084671"/>
          </a:xfrm>
          <a:prstGeom prst="rect">
            <a:avLst/>
          </a:prstGeom>
          <a:solidFill>
            <a:srgbClr val="46A06F"/>
          </a:solidFill>
          <a:ln w="12700" cap="flat" cmpd="sng" algn="ctr">
            <a:solidFill>
              <a:srgbClr val="46A06F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970179-188F-48F4-980C-74973EC7E99F}"/>
              </a:ext>
            </a:extLst>
          </p:cNvPr>
          <p:cNvSpPr/>
          <p:nvPr/>
        </p:nvSpPr>
        <p:spPr>
          <a:xfrm>
            <a:off x="152400" y="603318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TEQSA: </a:t>
            </a:r>
            <a:r>
              <a:rPr lang="en-AU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PRV14311</a:t>
            </a:r>
            <a:br>
              <a:rPr lang="en-AU" dirty="0"/>
            </a:br>
            <a:r>
              <a:rPr lang="en-AU" dirty="0"/>
              <a:t>CRICOS:</a:t>
            </a:r>
            <a:r>
              <a:rPr lang="zh-CN" altLang="en-US" dirty="0"/>
              <a:t> </a:t>
            </a:r>
            <a:r>
              <a:rPr lang="en-US" altLang="zh-CN" dirty="0"/>
              <a:t>03836J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8026AB-E8A0-4934-8244-EE6BACFE47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5764" y="5732427"/>
            <a:ext cx="3273836" cy="1121761"/>
          </a:xfrm>
          <a:prstGeom prst="rect">
            <a:avLst/>
          </a:prstGeom>
        </p:spPr>
      </p:pic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26C7C9A3-3548-2D43-ADBF-6B1AC8ED1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6427282"/>
            <a:ext cx="431800" cy="3127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itchFamily="2" charset="2"/>
              <a:buChar char="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itchFamily="2" charset="2"/>
              <a:buChar char="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itchFamily="2" charset="2"/>
              <a:buChar char="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itchFamily="2" charset="2"/>
              <a:buChar char=""/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itchFamily="2" charset="2"/>
              <a:buChar char=""/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itchFamily="2" charset="2"/>
              <a:buChar char=""/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itchFamily="2" charset="2"/>
              <a:buChar char=""/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itchFamily="2" charset="2"/>
              <a:buChar char=""/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itchFamily="2" charset="2"/>
              <a:buChar char=""/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fld id="{D3EF5166-0E13-6F46-8047-08625A788D21}" type="slidenum">
              <a:rPr lang="en-US" altLang="en-US" sz="900">
                <a:latin typeface="Calibri" panose="020F0502020204030204" pitchFamily="34" charset="0"/>
                <a:cs typeface="Calibri" panose="020F0502020204030204" pitchFamily="34" charset="0"/>
              </a:rPr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t>‹#›</a:t>
            </a:fld>
            <a:endParaRPr lang="en-US" alt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42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610EB-B7CE-49D5-9641-1D51FD68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0846C-8EB4-4497-B087-6B5836AE4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08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7A895-B1B5-4D54-8220-B55FC2813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FF1DB-CBF9-4BEA-BE4B-7136B7A27BB8}" type="datetime1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F91-D788-45D6-B1D7-94B130D45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4C4E0-1941-4302-973A-38FFFA8FF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7372A-B3C7-427B-BB89-F15DC7ABDE49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F2CD8A-CAB8-43B2-8AA1-EF2DD6DE5381}"/>
              </a:ext>
            </a:extLst>
          </p:cNvPr>
          <p:cNvSpPr/>
          <p:nvPr userDrawn="1"/>
        </p:nvSpPr>
        <p:spPr>
          <a:xfrm>
            <a:off x="0" y="5675855"/>
            <a:ext cx="9348148" cy="1121761"/>
          </a:xfrm>
          <a:prstGeom prst="rect">
            <a:avLst/>
          </a:prstGeom>
          <a:solidFill>
            <a:srgbClr val="46A06F"/>
          </a:solidFill>
          <a:ln w="12700" cap="flat" cmpd="sng" algn="ctr">
            <a:solidFill>
              <a:srgbClr val="46A06F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970179-188F-48F4-980C-74973EC7E99F}"/>
              </a:ext>
            </a:extLst>
          </p:cNvPr>
          <p:cNvSpPr/>
          <p:nvPr userDrawn="1"/>
        </p:nvSpPr>
        <p:spPr>
          <a:xfrm>
            <a:off x="152400" y="603318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TEQSA: </a:t>
            </a:r>
            <a:r>
              <a:rPr lang="en-AU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PRV14311</a:t>
            </a:r>
            <a:br>
              <a:rPr lang="en-AU" dirty="0"/>
            </a:br>
            <a:r>
              <a:rPr lang="en-AU" dirty="0"/>
              <a:t>CRICOS:</a:t>
            </a:r>
            <a:r>
              <a:rPr lang="zh-CN" altLang="en-US" dirty="0"/>
              <a:t> </a:t>
            </a:r>
            <a:r>
              <a:rPr lang="en-US" altLang="zh-CN" dirty="0"/>
              <a:t>03836J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8026AB-E8A0-4934-8244-EE6BACFE47F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48148" y="5675856"/>
            <a:ext cx="2793526" cy="112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5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YufSGgaCZ8" TargetMode="External"/><Relationship Id="rId2" Type="http://schemas.openxmlformats.org/officeDocument/2006/relationships/hyperlink" Target="https://www.youtube.com/watch?v=OHjkg_rifTw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youtube.com/watch?v=dMxS-asCFgQ" TargetMode="External"/><Relationship Id="rId4" Type="http://schemas.openxmlformats.org/officeDocument/2006/relationships/hyperlink" Target="https://www.youtube.com/watch?v=lGYixKGiY7Y" TargetMode="Externa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F3EC-AEB7-40C4-AC31-F806F469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631825"/>
            <a:ext cx="4152052" cy="1789917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ICT 101 Introduction to the Internet and Web Development</a:t>
            </a:r>
            <a:endParaRPr lang="en-AU" sz="360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592CFDDA-498C-4BF3-B263-F521CAE788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" r="31408"/>
          <a:stretch/>
        </p:blipFill>
        <p:spPr>
          <a:xfrm>
            <a:off x="5181600" y="587507"/>
            <a:ext cx="6172200" cy="4873625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125719E-7687-4AF7-820F-1643B2AC2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5583" y="3692032"/>
            <a:ext cx="4470343" cy="723582"/>
          </a:xfrm>
        </p:spPr>
        <p:txBody>
          <a:bodyPr>
            <a:normAutofit/>
          </a:bodyPr>
          <a:lstStyle/>
          <a:p>
            <a:pPr algn="ctr"/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Week 10 Lectorial </a:t>
            </a:r>
          </a:p>
          <a:p>
            <a:pPr algn="ctr"/>
            <a:endParaRPr lang="en-AU" sz="24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13501-5CF1-4776-9D9E-F7D88A57383A}"/>
              </a:ext>
            </a:extLst>
          </p:cNvPr>
          <p:cNvSpPr txBox="1"/>
          <p:nvPr/>
        </p:nvSpPr>
        <p:spPr>
          <a:xfrm rot="5400000">
            <a:off x="11131545" y="4618978"/>
            <a:ext cx="1407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Courtesy of </a:t>
            </a:r>
            <a:r>
              <a:rPr kumimoji="0" lang="en-A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Pixabay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5E957-7200-461F-A904-C49F3D70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54217-3129-429F-ACD6-AA22F16F39D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300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3EBD-D600-4CFD-85D1-3FAED8AA2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367" y="348343"/>
            <a:ext cx="6004718" cy="555497"/>
          </a:xfrm>
        </p:spPr>
        <p:txBody>
          <a:bodyPr anchor="b">
            <a:noAutofit/>
          </a:bodyPr>
          <a:lstStyle/>
          <a:p>
            <a:br>
              <a:rPr lang="en-AU" sz="4400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AU" sz="4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AU" sz="4400" dirty="0"/>
              <a:t>Weekly Learning Goals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D7135-9DF6-4746-B004-04A80E45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63890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5E7372A-B3C7-427B-BB89-F15DC7ABDE49}" type="slidenum">
              <a:rPr lang="en-AU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AU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B3E77AC-F32A-414D-9EC7-14CF58A5F6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9552812"/>
              </p:ext>
            </p:extLst>
          </p:nvPr>
        </p:nvGraphicFramePr>
        <p:xfrm>
          <a:off x="805542" y="1697589"/>
          <a:ext cx="10580914" cy="386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628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2C63-4BA1-424D-8583-CF3C9CDC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67" y="507987"/>
            <a:ext cx="6641684" cy="839759"/>
          </a:xfrm>
        </p:spPr>
        <p:txBody>
          <a:bodyPr anchor="b">
            <a:normAutofit/>
          </a:bodyPr>
          <a:lstStyle/>
          <a:p>
            <a:r>
              <a:rPr lang="en-AU" sz="3600" b="1" dirty="0"/>
              <a:t>Week 10 Learning Outcomes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63876-9D9A-4843-BCE5-242CBBBAB4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8783782" y="1589"/>
            <a:ext cx="3408218" cy="5679048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BE1E1AC-5283-4E92-B09D-1B38C725CE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763887"/>
              </p:ext>
            </p:extLst>
          </p:nvPr>
        </p:nvGraphicFramePr>
        <p:xfrm>
          <a:off x="100013" y="1928813"/>
          <a:ext cx="8510587" cy="3514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E22CE5-9B74-49B7-B39D-48BEA2D2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A48-2817-40C4-952A-664C1C259CF1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3353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6F2BD-E029-6A1C-1775-A1333D1E0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BBE6-4FEB-8885-3BA4-B933BCB7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B2CE22-6B70-DB4D-003B-DC7460256618}"/>
              </a:ext>
            </a:extLst>
          </p:cNvPr>
          <p:cNvSpPr txBox="1"/>
          <p:nvPr/>
        </p:nvSpPr>
        <p:spPr>
          <a:xfrm>
            <a:off x="0" y="1364456"/>
            <a:ext cx="119443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Goal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Students will learn how to create a database in XAMPP/phpMyAdmin, create related tables, choose primary and foreign keys, draw an ERD, and write simple SQL queries.</a:t>
            </a:r>
          </a:p>
        </p:txBody>
      </p:sp>
    </p:spTree>
    <p:extLst>
      <p:ext uri="{BB962C8B-B14F-4D97-AF65-F5344CB8AC3E}">
        <p14:creationId xmlns:p14="http://schemas.microsoft.com/office/powerpoint/2010/main" val="1163368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E357F-C349-4A31-9FCE-9E84C66C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D894B-487C-CFA6-0B46-1BADE4B18C27}"/>
              </a:ext>
            </a:extLst>
          </p:cNvPr>
          <p:cNvSpPr txBox="1"/>
          <p:nvPr/>
        </p:nvSpPr>
        <p:spPr>
          <a:xfrm>
            <a:off x="0" y="1154082"/>
            <a:ext cx="1194435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Step 1: Start XAMPP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Open XAMPP Control Panel.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Start: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Apache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MySQL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Open browser and go to: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</a:rPr>
              <a:t>http://localhost/phpmyadmin</a:t>
            </a:r>
          </a:p>
        </p:txBody>
      </p:sp>
    </p:spTree>
    <p:extLst>
      <p:ext uri="{BB962C8B-B14F-4D97-AF65-F5344CB8AC3E}">
        <p14:creationId xmlns:p14="http://schemas.microsoft.com/office/powerpoint/2010/main" val="4193716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281C-4AC2-E999-B4DA-6734ED7E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84CA-5A49-853A-CD0C-D46E9060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344AC-B989-22F1-0BBE-1F31F9515A7F}"/>
              </a:ext>
            </a:extLst>
          </p:cNvPr>
          <p:cNvSpPr txBox="1"/>
          <p:nvPr/>
        </p:nvSpPr>
        <p:spPr>
          <a:xfrm>
            <a:off x="0" y="1154082"/>
            <a:ext cx="1194435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Step 2: Create the Database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In phpMyAdmin: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Click New.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Database name: 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</a:rPr>
              <a:t>cars_customers</a:t>
            </a:r>
            <a:endParaRPr lang="en-US" sz="2800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Avoid using &amp; in database names because it can cause issues. Use underscore instead.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3. Click Create.</a:t>
            </a:r>
          </a:p>
        </p:txBody>
      </p:sp>
    </p:spTree>
    <p:extLst>
      <p:ext uri="{BB962C8B-B14F-4D97-AF65-F5344CB8AC3E}">
        <p14:creationId xmlns:p14="http://schemas.microsoft.com/office/powerpoint/2010/main" val="2371751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3CD4C-C3CC-708C-F645-F4D36F52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3CF1-36FB-777C-69B2-D0821BFF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35CE64-B2BD-34F1-399C-12C9B3ABD4A1}"/>
              </a:ext>
            </a:extLst>
          </p:cNvPr>
          <p:cNvSpPr txBox="1"/>
          <p:nvPr/>
        </p:nvSpPr>
        <p:spPr>
          <a:xfrm>
            <a:off x="0" y="1054488"/>
            <a:ext cx="11944350" cy="5803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/>
              <a:t>Step 3: Create the Customers Table</a:t>
            </a:r>
          </a:p>
          <a:p>
            <a:pPr>
              <a:lnSpc>
                <a:spcPct val="150000"/>
              </a:lnSpc>
            </a:pPr>
            <a:r>
              <a:rPr lang="en-US" sz="2500" dirty="0"/>
              <a:t>Use this SQL: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highlight>
                  <a:srgbClr val="FFFF00"/>
                </a:highlight>
              </a:rPr>
              <a:t>CREATE TABLE customers (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    </a:t>
            </a:r>
            <a:r>
              <a:rPr lang="en-US" sz="2500" dirty="0" err="1">
                <a:highlight>
                  <a:srgbClr val="FFFF00"/>
                </a:highlight>
              </a:rPr>
              <a:t>customer_id</a:t>
            </a:r>
            <a:r>
              <a:rPr lang="en-US" sz="2500" dirty="0">
                <a:highlight>
                  <a:srgbClr val="FFFF00"/>
                </a:highlight>
              </a:rPr>
              <a:t> INT AUTO_INCREMENT PRIMARY KEY,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    </a:t>
            </a:r>
            <a:r>
              <a:rPr lang="en-US" sz="2500" dirty="0" err="1">
                <a:highlight>
                  <a:srgbClr val="FFFF00"/>
                </a:highlight>
              </a:rPr>
              <a:t>first_name</a:t>
            </a:r>
            <a:r>
              <a:rPr lang="en-US" sz="2500" dirty="0">
                <a:highlight>
                  <a:srgbClr val="FFFF00"/>
                </a:highlight>
              </a:rPr>
              <a:t> VARCHAR(50) NOT NULL,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    </a:t>
            </a:r>
            <a:r>
              <a:rPr lang="en-US" sz="2500" dirty="0" err="1">
                <a:highlight>
                  <a:srgbClr val="FFFF00"/>
                </a:highlight>
              </a:rPr>
              <a:t>last_name</a:t>
            </a:r>
            <a:r>
              <a:rPr lang="en-US" sz="2500" dirty="0">
                <a:highlight>
                  <a:srgbClr val="FFFF00"/>
                </a:highlight>
              </a:rPr>
              <a:t> VARCHAR(50) NOT NULL,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    </a:t>
            </a:r>
            <a:r>
              <a:rPr lang="en-US" sz="2500" dirty="0" err="1">
                <a:highlight>
                  <a:srgbClr val="FFFF00"/>
                </a:highlight>
              </a:rPr>
              <a:t>licence_number</a:t>
            </a:r>
            <a:r>
              <a:rPr lang="en-US" sz="2500" dirty="0">
                <a:highlight>
                  <a:srgbClr val="FFFF00"/>
                </a:highlight>
              </a:rPr>
              <a:t> VARCHAR(30) NOT NULL UNIQUE,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    </a:t>
            </a:r>
            <a:r>
              <a:rPr lang="en-US" sz="2500" dirty="0" err="1">
                <a:highlight>
                  <a:srgbClr val="FFFF00"/>
                </a:highlight>
              </a:rPr>
              <a:t>date_of_birth</a:t>
            </a:r>
            <a:r>
              <a:rPr lang="en-US" sz="2500" dirty="0">
                <a:highlight>
                  <a:srgbClr val="FFFF00"/>
                </a:highlight>
              </a:rPr>
              <a:t> DATE,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    </a:t>
            </a:r>
            <a:r>
              <a:rPr lang="en-US" sz="2500" dirty="0" err="1">
                <a:highlight>
                  <a:srgbClr val="FFFF00"/>
                </a:highlight>
              </a:rPr>
              <a:t>time_of_registration</a:t>
            </a:r>
            <a:r>
              <a:rPr lang="en-US" sz="2500" dirty="0">
                <a:highlight>
                  <a:srgbClr val="FFFF00"/>
                </a:highlight>
              </a:rPr>
              <a:t> DATETIME DEFAULT CURRENT_TIMESTAMP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);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67849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2FCBD-E6BF-7D4C-E9A2-A7262116E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D6BC-10A0-16E5-733E-56DCAE8DC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620F9-A309-8264-A06B-CE15BADC9BB2}"/>
              </a:ext>
            </a:extLst>
          </p:cNvPr>
          <p:cNvSpPr txBox="1"/>
          <p:nvPr/>
        </p:nvSpPr>
        <p:spPr>
          <a:xfrm>
            <a:off x="0" y="1054488"/>
            <a:ext cx="11944350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Explanation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customer_id</a:t>
            </a:r>
            <a:r>
              <a:rPr lang="en-US" sz="2800" dirty="0"/>
              <a:t> is the Primary Key.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licence_number</a:t>
            </a:r>
            <a:r>
              <a:rPr lang="en-US" sz="2800" dirty="0"/>
              <a:t> is unique because two customers should not have the same </a:t>
            </a:r>
            <a:r>
              <a:rPr lang="en-US" sz="2800" dirty="0" err="1"/>
              <a:t>licence</a:t>
            </a:r>
            <a:r>
              <a:rPr lang="en-US" sz="2800" dirty="0"/>
              <a:t> number.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time_of_registration</a:t>
            </a:r>
            <a:r>
              <a:rPr lang="en-US" sz="2800" dirty="0"/>
              <a:t> records when the customer was registered.</a:t>
            </a:r>
          </a:p>
        </p:txBody>
      </p:sp>
    </p:spTree>
    <p:extLst>
      <p:ext uri="{BB962C8B-B14F-4D97-AF65-F5344CB8AC3E}">
        <p14:creationId xmlns:p14="http://schemas.microsoft.com/office/powerpoint/2010/main" val="216683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A2928-148B-26DD-5CC9-E46EF3FEA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6FD6-3690-3E3A-4926-A929B225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36C4B-13EC-FBD5-2AB0-68919AC991F8}"/>
              </a:ext>
            </a:extLst>
          </p:cNvPr>
          <p:cNvSpPr txBox="1"/>
          <p:nvPr/>
        </p:nvSpPr>
        <p:spPr>
          <a:xfrm>
            <a:off x="0" y="1054488"/>
            <a:ext cx="11944350" cy="56260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Step 4: Create the Cars Table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</a:rPr>
              <a:t>CREATE TABLE cars (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car_id</a:t>
            </a:r>
            <a:r>
              <a:rPr lang="en-US" sz="2200" dirty="0">
                <a:highlight>
                  <a:srgbClr val="FFFF00"/>
                </a:highlight>
              </a:rPr>
              <a:t> INT AUTO_INCREMENT PRIMARY KEY,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car_make_model</a:t>
            </a:r>
            <a:r>
              <a:rPr lang="en-US" sz="2200" dirty="0">
                <a:highlight>
                  <a:srgbClr val="FFFF00"/>
                </a:highlight>
              </a:rPr>
              <a:t> VARCHAR(100) NOT NULL,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car_color</a:t>
            </a:r>
            <a:r>
              <a:rPr lang="en-US" sz="2200" dirty="0">
                <a:highlight>
                  <a:srgbClr val="FFFF00"/>
                </a:highlight>
              </a:rPr>
              <a:t> VARCHAR(30) NOT NULL,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rental_price_per_day</a:t>
            </a:r>
            <a:r>
              <a:rPr lang="en-US" sz="2200" dirty="0">
                <a:highlight>
                  <a:srgbClr val="FFFF00"/>
                </a:highlight>
              </a:rPr>
              <a:t> DECIMAL(10,2) NOT NULL,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booking_status</a:t>
            </a:r>
            <a:r>
              <a:rPr lang="en-US" sz="2200" dirty="0">
                <a:highlight>
                  <a:srgbClr val="FFFF00"/>
                </a:highlight>
              </a:rPr>
              <a:t> VARCHAR(20) NOT NULL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Example booking status values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Booked</a:t>
            </a:r>
            <a:br>
              <a:rPr lang="en-US" sz="2200" dirty="0"/>
            </a:br>
            <a:r>
              <a:rPr lang="en-US" sz="2200" dirty="0"/>
              <a:t>Not Booked</a:t>
            </a:r>
          </a:p>
        </p:txBody>
      </p:sp>
    </p:spTree>
    <p:extLst>
      <p:ext uri="{BB962C8B-B14F-4D97-AF65-F5344CB8AC3E}">
        <p14:creationId xmlns:p14="http://schemas.microsoft.com/office/powerpoint/2010/main" val="296643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0215-B71B-E59A-E396-003716E73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8191-0532-9570-3738-807E99CD9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38B5-8826-5DA4-33B2-CB35BBA1CBEC}"/>
              </a:ext>
            </a:extLst>
          </p:cNvPr>
          <p:cNvSpPr txBox="1"/>
          <p:nvPr/>
        </p:nvSpPr>
        <p:spPr>
          <a:xfrm>
            <a:off x="0" y="735174"/>
            <a:ext cx="11944350" cy="511819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Step 5: Create a Booking Table for the Foreign Key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 car can be booked by a customer, so we need a separate table to connect </a:t>
            </a:r>
            <a:r>
              <a:rPr lang="en-US" sz="2200" b="1" dirty="0"/>
              <a:t>customers</a:t>
            </a:r>
            <a:r>
              <a:rPr lang="en-US" sz="2200" dirty="0"/>
              <a:t> and </a:t>
            </a:r>
            <a:r>
              <a:rPr lang="en-US" sz="2200" b="1" dirty="0"/>
              <a:t>cars</a:t>
            </a:r>
            <a:r>
              <a:rPr lang="en-US" sz="22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</a:rPr>
              <a:t>CREATE TABLE bookings (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booking_id</a:t>
            </a:r>
            <a:r>
              <a:rPr lang="en-US" sz="2200" dirty="0">
                <a:highlight>
                  <a:srgbClr val="FFFF00"/>
                </a:highlight>
              </a:rPr>
              <a:t> INT AUTO_INCREMENT PRIMARY KEY,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customer_id</a:t>
            </a:r>
            <a:r>
              <a:rPr lang="en-US" sz="2200" dirty="0">
                <a:highlight>
                  <a:srgbClr val="FFFF00"/>
                </a:highlight>
              </a:rPr>
              <a:t> INT NOT NULL,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car_id</a:t>
            </a:r>
            <a:r>
              <a:rPr lang="en-US" sz="2200" dirty="0">
                <a:highlight>
                  <a:srgbClr val="FFFF00"/>
                </a:highlight>
              </a:rPr>
              <a:t> INT NOT NULL,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booking_date</a:t>
            </a:r>
            <a:r>
              <a:rPr lang="en-US" sz="2200" dirty="0">
                <a:highlight>
                  <a:srgbClr val="FFFF00"/>
                </a:highlight>
              </a:rPr>
              <a:t> DATE DEFAULT CURRENT_DATE,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FOREIGN KEY (</a:t>
            </a:r>
            <a:r>
              <a:rPr lang="en-US" sz="2200" dirty="0" err="1">
                <a:highlight>
                  <a:srgbClr val="FFFF00"/>
                </a:highlight>
              </a:rPr>
              <a:t>customer_id</a:t>
            </a:r>
            <a:r>
              <a:rPr lang="en-US" sz="2200" dirty="0">
                <a:highlight>
                  <a:srgbClr val="FFFF00"/>
                </a:highlight>
              </a:rPr>
              <a:t>) REFERENCES customers(</a:t>
            </a:r>
            <a:r>
              <a:rPr lang="en-US" sz="2200" dirty="0" err="1">
                <a:highlight>
                  <a:srgbClr val="FFFF00"/>
                </a:highlight>
              </a:rPr>
              <a:t>customer_id</a:t>
            </a:r>
            <a:r>
              <a:rPr lang="en-US" sz="2200" dirty="0">
                <a:highlight>
                  <a:srgbClr val="FFFF00"/>
                </a:highlight>
              </a:rPr>
              <a:t>),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FOREIGN KEY (</a:t>
            </a:r>
            <a:r>
              <a:rPr lang="en-US" sz="2200" dirty="0" err="1">
                <a:highlight>
                  <a:srgbClr val="FFFF00"/>
                </a:highlight>
              </a:rPr>
              <a:t>car_id</a:t>
            </a:r>
            <a:r>
              <a:rPr lang="en-US" sz="2200" dirty="0">
                <a:highlight>
                  <a:srgbClr val="FFFF00"/>
                </a:highlight>
              </a:rPr>
              <a:t>) REFERENCES cars(</a:t>
            </a:r>
            <a:r>
              <a:rPr lang="en-US" sz="2200" dirty="0" err="1">
                <a:highlight>
                  <a:srgbClr val="FFFF00"/>
                </a:highlight>
              </a:rPr>
              <a:t>car_id</a:t>
            </a:r>
            <a:r>
              <a:rPr lang="en-US" sz="2200" dirty="0">
                <a:highlight>
                  <a:srgbClr val="FFFF00"/>
                </a:highlight>
              </a:rPr>
              <a:t>)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);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34999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24A8E-6148-31AE-78D0-95A578D3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B55FD-ED9B-F5E0-CEC1-B9D5096D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67EAD-6F14-9C99-8242-2BA339B429CE}"/>
              </a:ext>
            </a:extLst>
          </p:cNvPr>
          <p:cNvSpPr txBox="1"/>
          <p:nvPr/>
        </p:nvSpPr>
        <p:spPr>
          <a:xfrm>
            <a:off x="0" y="735174"/>
            <a:ext cx="11944350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Why use a booking table?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is better database design because: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One customer may book many cars over time.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One car may be booked many times by different customers.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bookings table stores the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609015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8032F-9157-8689-655C-310BB336B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5A99-596A-7B4F-94EC-8685AAE01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EC0567-C29B-D094-E3A5-F46924113C15}"/>
              </a:ext>
            </a:extLst>
          </p:cNvPr>
          <p:cNvSpPr txBox="1"/>
          <p:nvPr/>
        </p:nvSpPr>
        <p:spPr>
          <a:xfrm>
            <a:off x="0" y="735174"/>
            <a:ext cx="1194435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Step 6: Insert Sample Data</a:t>
            </a:r>
          </a:p>
          <a:p>
            <a:pPr>
              <a:lnSpc>
                <a:spcPct val="150000"/>
              </a:lnSpc>
            </a:pPr>
            <a:r>
              <a:rPr lang="en-AU" sz="2800" b="1" dirty="0"/>
              <a:t>Customers</a:t>
            </a:r>
          </a:p>
          <a:p>
            <a:pPr>
              <a:lnSpc>
                <a:spcPct val="150000"/>
              </a:lnSpc>
            </a:pPr>
            <a:r>
              <a:rPr lang="en-AU" sz="2800" dirty="0">
                <a:highlight>
                  <a:srgbClr val="FFFF00"/>
                </a:highlight>
              </a:rPr>
              <a:t>INSERT INTO customers 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(</a:t>
            </a:r>
            <a:r>
              <a:rPr lang="en-AU" sz="2800" dirty="0" err="1">
                <a:highlight>
                  <a:srgbClr val="FFFF00"/>
                </a:highlight>
              </a:rPr>
              <a:t>first_name</a:t>
            </a:r>
            <a:r>
              <a:rPr lang="en-AU" sz="2800" dirty="0">
                <a:highlight>
                  <a:srgbClr val="FFFF00"/>
                </a:highlight>
              </a:rPr>
              <a:t>, </a:t>
            </a:r>
            <a:r>
              <a:rPr lang="en-AU" sz="2800" dirty="0" err="1">
                <a:highlight>
                  <a:srgbClr val="FFFF00"/>
                </a:highlight>
              </a:rPr>
              <a:t>last_name</a:t>
            </a:r>
            <a:r>
              <a:rPr lang="en-AU" sz="2800" dirty="0">
                <a:highlight>
                  <a:srgbClr val="FFFF00"/>
                </a:highlight>
              </a:rPr>
              <a:t>, </a:t>
            </a:r>
            <a:r>
              <a:rPr lang="en-AU" sz="2800" dirty="0" err="1">
                <a:highlight>
                  <a:srgbClr val="FFFF00"/>
                </a:highlight>
              </a:rPr>
              <a:t>licence_number</a:t>
            </a:r>
            <a:r>
              <a:rPr lang="en-AU" sz="2800" dirty="0">
                <a:highlight>
                  <a:srgbClr val="FFFF00"/>
                </a:highlight>
              </a:rPr>
              <a:t>, </a:t>
            </a:r>
            <a:r>
              <a:rPr lang="en-AU" sz="2800" dirty="0" err="1">
                <a:highlight>
                  <a:srgbClr val="FFFF00"/>
                </a:highlight>
              </a:rPr>
              <a:t>date_of_birth</a:t>
            </a:r>
            <a:r>
              <a:rPr lang="en-AU" sz="2800" dirty="0">
                <a:highlight>
                  <a:srgbClr val="FFFF00"/>
                </a:highlight>
              </a:rPr>
              <a:t>)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VALUES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('Ali', 'Khan', 'LIC12345', '1998-05-12'),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('Sarah', 'Smith', 'LIC67890', '2000-09-20'),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('John', 'Brown', 'LIC54321', '1995-03-15');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654839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D9C8-D1D9-BEA5-BD98-D28E6A6AD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81BA-F8CB-E083-AF3D-7FC65514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753B8-2555-CCF2-A3EF-F4CC9D6AD1F4}"/>
              </a:ext>
            </a:extLst>
          </p:cNvPr>
          <p:cNvSpPr txBox="1"/>
          <p:nvPr/>
        </p:nvSpPr>
        <p:spPr>
          <a:xfrm>
            <a:off x="0" y="735174"/>
            <a:ext cx="1194435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Cars</a:t>
            </a:r>
          </a:p>
          <a:p>
            <a:pPr>
              <a:lnSpc>
                <a:spcPct val="150000"/>
              </a:lnSpc>
            </a:pPr>
            <a:r>
              <a:rPr lang="en-AU" sz="2800" dirty="0">
                <a:highlight>
                  <a:srgbClr val="FFFF00"/>
                </a:highlight>
              </a:rPr>
              <a:t>INSERT INTO cars 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(</a:t>
            </a:r>
            <a:r>
              <a:rPr lang="en-AU" sz="2800" dirty="0" err="1">
                <a:highlight>
                  <a:srgbClr val="FFFF00"/>
                </a:highlight>
              </a:rPr>
              <a:t>car_make_model</a:t>
            </a:r>
            <a:r>
              <a:rPr lang="en-AU" sz="2800" dirty="0">
                <a:highlight>
                  <a:srgbClr val="FFFF00"/>
                </a:highlight>
              </a:rPr>
              <a:t>, </a:t>
            </a:r>
            <a:r>
              <a:rPr lang="en-AU" sz="2800" dirty="0" err="1">
                <a:highlight>
                  <a:srgbClr val="FFFF00"/>
                </a:highlight>
              </a:rPr>
              <a:t>car_color</a:t>
            </a:r>
            <a:r>
              <a:rPr lang="en-AU" sz="2800" dirty="0">
                <a:highlight>
                  <a:srgbClr val="FFFF00"/>
                </a:highlight>
              </a:rPr>
              <a:t>, </a:t>
            </a:r>
            <a:r>
              <a:rPr lang="en-AU" sz="2800" dirty="0" err="1">
                <a:highlight>
                  <a:srgbClr val="FFFF00"/>
                </a:highlight>
              </a:rPr>
              <a:t>rental_price_per_day</a:t>
            </a:r>
            <a:r>
              <a:rPr lang="en-AU" sz="2800" dirty="0">
                <a:highlight>
                  <a:srgbClr val="FFFF00"/>
                </a:highlight>
              </a:rPr>
              <a:t>, </a:t>
            </a:r>
            <a:r>
              <a:rPr lang="en-AU" sz="2800" dirty="0" err="1">
                <a:highlight>
                  <a:srgbClr val="FFFF00"/>
                </a:highlight>
              </a:rPr>
              <a:t>booking_status</a:t>
            </a:r>
            <a:r>
              <a:rPr lang="en-AU" sz="2800" dirty="0">
                <a:highlight>
                  <a:srgbClr val="FFFF00"/>
                </a:highlight>
              </a:rPr>
              <a:t>)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VALUES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('Toyota Corolla', 'Blue', 60.00, 'Booked'),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('Honda Civic', 'Red', 70.00, 'Not Booked'),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('Mazda 3', 'Blue', 65.00, 'Booked');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381452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45F9A-4FBB-89B5-1CB6-EA664713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FE32F-44F8-36BD-CC6B-A1D2A4F7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0D8C8-CAAE-2448-F73A-E7CEA56B9CEE}"/>
              </a:ext>
            </a:extLst>
          </p:cNvPr>
          <p:cNvSpPr txBox="1"/>
          <p:nvPr/>
        </p:nvSpPr>
        <p:spPr>
          <a:xfrm>
            <a:off x="0" y="735174"/>
            <a:ext cx="11944350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Bookings</a:t>
            </a:r>
          </a:p>
          <a:p>
            <a:pPr>
              <a:lnSpc>
                <a:spcPct val="150000"/>
              </a:lnSpc>
            </a:pPr>
            <a:r>
              <a:rPr lang="en-AU" sz="2800" dirty="0">
                <a:highlight>
                  <a:srgbClr val="FFFF00"/>
                </a:highlight>
              </a:rPr>
              <a:t>INSERT INTO bookings 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(</a:t>
            </a:r>
            <a:r>
              <a:rPr lang="en-AU" sz="2800" dirty="0" err="1">
                <a:highlight>
                  <a:srgbClr val="FFFF00"/>
                </a:highlight>
              </a:rPr>
              <a:t>customer_id</a:t>
            </a:r>
            <a:r>
              <a:rPr lang="en-AU" sz="2800" dirty="0">
                <a:highlight>
                  <a:srgbClr val="FFFF00"/>
                </a:highlight>
              </a:rPr>
              <a:t>, </a:t>
            </a:r>
            <a:r>
              <a:rPr lang="en-AU" sz="2800" dirty="0" err="1">
                <a:highlight>
                  <a:srgbClr val="FFFF00"/>
                </a:highlight>
              </a:rPr>
              <a:t>car_id</a:t>
            </a:r>
            <a:r>
              <a:rPr lang="en-AU" sz="2800" dirty="0">
                <a:highlight>
                  <a:srgbClr val="FFFF00"/>
                </a:highlight>
              </a:rPr>
              <a:t>)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VALUES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(1, 1),</a:t>
            </a:r>
            <a:br>
              <a:rPr lang="en-AU" sz="2800" dirty="0">
                <a:highlight>
                  <a:srgbClr val="FFFF00"/>
                </a:highlight>
              </a:rPr>
            </a:br>
            <a:r>
              <a:rPr lang="en-AU" sz="2800" dirty="0">
                <a:highlight>
                  <a:srgbClr val="FFFF00"/>
                </a:highlight>
              </a:rPr>
              <a:t>(2, 3);</a:t>
            </a:r>
          </a:p>
        </p:txBody>
      </p:sp>
    </p:spTree>
    <p:extLst>
      <p:ext uri="{BB962C8B-B14F-4D97-AF65-F5344CB8AC3E}">
        <p14:creationId xmlns:p14="http://schemas.microsoft.com/office/powerpoint/2010/main" val="2779950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C6DF5-19E7-0A24-ED66-86A06E1D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24F5-638A-930E-F358-E48E2827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C56867-1E1B-B573-8E1E-DAB322582ADD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2461283"/>
          <a:ext cx="10515600" cy="20726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0333164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732932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38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customer_id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386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cars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car_id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498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bookings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 err="1"/>
                        <a:t>booking_id</a:t>
                      </a:r>
                      <a:endParaRPr lang="en-A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6277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4774F8-307E-C161-3741-3226223C2694}"/>
              </a:ext>
            </a:extLst>
          </p:cNvPr>
          <p:cNvSpPr txBox="1"/>
          <p:nvPr/>
        </p:nvSpPr>
        <p:spPr>
          <a:xfrm>
            <a:off x="76200" y="864168"/>
            <a:ext cx="121158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Step 7: Primary Keys and Foreign Keys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Primary Keys</a:t>
            </a:r>
          </a:p>
        </p:txBody>
      </p:sp>
    </p:spTree>
    <p:extLst>
      <p:ext uri="{BB962C8B-B14F-4D97-AF65-F5344CB8AC3E}">
        <p14:creationId xmlns:p14="http://schemas.microsoft.com/office/powerpoint/2010/main" val="1317687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C617F-020D-6B64-66F6-4BEB70821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16FB-EC1A-C750-1531-4F031412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8A4E62-065C-E23C-9E93-A1DA5BCDB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18885"/>
              </p:ext>
            </p:extLst>
          </p:nvPr>
        </p:nvGraphicFramePr>
        <p:xfrm>
          <a:off x="417286" y="2056334"/>
          <a:ext cx="10515600" cy="19812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486632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896810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48903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Foreign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References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39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bookings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customers(customer_id)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379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bookings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/>
                        <a:t>car_id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800" dirty="0"/>
                        <a:t>cars(</a:t>
                      </a:r>
                      <a:r>
                        <a:rPr lang="en-AU" sz="2800" dirty="0" err="1"/>
                        <a:t>car_id</a:t>
                      </a:r>
                      <a:r>
                        <a:rPr lang="en-AU" sz="28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57939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9B9B82B-233E-A529-41B6-A459D7E806E2}"/>
              </a:ext>
            </a:extLst>
          </p:cNvPr>
          <p:cNvSpPr txBox="1"/>
          <p:nvPr/>
        </p:nvSpPr>
        <p:spPr>
          <a:xfrm>
            <a:off x="68943" y="1009134"/>
            <a:ext cx="6219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2800" b="1" dirty="0"/>
              <a:t>Foreign Keys</a:t>
            </a:r>
          </a:p>
        </p:txBody>
      </p:sp>
    </p:spTree>
    <p:extLst>
      <p:ext uri="{BB962C8B-B14F-4D97-AF65-F5344CB8AC3E}">
        <p14:creationId xmlns:p14="http://schemas.microsoft.com/office/powerpoint/2010/main" val="445185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95FDE-F155-D278-F5D7-AD928D2C3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C33F-5814-C906-E4CF-0EC6C7FF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5FEBD5-3C41-D9BA-30B2-BEE1346FC769}"/>
              </a:ext>
            </a:extLst>
          </p:cNvPr>
          <p:cNvSpPr txBox="1"/>
          <p:nvPr/>
        </p:nvSpPr>
        <p:spPr>
          <a:xfrm>
            <a:off x="0" y="566057"/>
            <a:ext cx="9082313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Step 8: ERD Relationship Explanation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Relationship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ourier New" panose="02070309020205020404" pitchFamily="49" charset="0"/>
              </a:rPr>
              <a:t>Customer 1 ——&lt; Booking &gt;—— 1 Car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In words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One customer can make many bookings.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One car can appear in many bookings over time.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Each booking belongs to one customer.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Each booking is for one car. </a:t>
            </a:r>
          </a:p>
        </p:txBody>
      </p:sp>
    </p:spTree>
    <p:extLst>
      <p:ext uri="{BB962C8B-B14F-4D97-AF65-F5344CB8AC3E}">
        <p14:creationId xmlns:p14="http://schemas.microsoft.com/office/powerpoint/2010/main" val="3450359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2F2E6-7042-3090-06AF-1E85FA12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ACFC-4380-FA77-337D-8ACEDA33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8D674-7D86-5916-5021-CBA300B26CB0}"/>
              </a:ext>
            </a:extLst>
          </p:cNvPr>
          <p:cNvSpPr txBox="1"/>
          <p:nvPr/>
        </p:nvSpPr>
        <p:spPr>
          <a:xfrm>
            <a:off x="0" y="566057"/>
            <a:ext cx="9082313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Crow’s Foot Notation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ourier New" panose="02070309020205020404" pitchFamily="49" charset="0"/>
              </a:rPr>
              <a:t>CUSTOMERS || ——&lt; BOOKINGS &gt;—— || CARS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Students can draw this using: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draw.io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Lucidchart</a:t>
            </a:r>
            <a:r>
              <a:rPr lang="en-US" sz="2800" dirty="0"/>
              <a:t>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Word shapes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PowerPoint shapes </a:t>
            </a:r>
          </a:p>
        </p:txBody>
      </p:sp>
    </p:spTree>
    <p:extLst>
      <p:ext uri="{BB962C8B-B14F-4D97-AF65-F5344CB8AC3E}">
        <p14:creationId xmlns:p14="http://schemas.microsoft.com/office/powerpoint/2010/main" val="1747276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FE5B-7752-14A1-ECA7-0CE46C7D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745D-BACA-FDBB-27D0-C81119EF2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0C8F8-E442-1C65-AA61-2022A4ED91B3}"/>
              </a:ext>
            </a:extLst>
          </p:cNvPr>
          <p:cNvSpPr txBox="1"/>
          <p:nvPr/>
        </p:nvSpPr>
        <p:spPr>
          <a:xfrm>
            <a:off x="0" y="566057"/>
            <a:ext cx="9082313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Step 9: SQL Query Reports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a. List of cars that are blue in color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SELECT *</a:t>
            </a:r>
            <a:br>
              <a:rPr lang="en-US" sz="2800" dirty="0"/>
            </a:br>
            <a:r>
              <a:rPr lang="en-US" sz="2800" dirty="0"/>
              <a:t>FROM cars</a:t>
            </a:r>
            <a:br>
              <a:rPr lang="en-US" sz="2800" dirty="0"/>
            </a:br>
            <a:r>
              <a:rPr lang="en-US" sz="2800" dirty="0"/>
              <a:t>WHERE </a:t>
            </a:r>
            <a:r>
              <a:rPr lang="en-US" sz="2800" dirty="0" err="1"/>
              <a:t>car_color</a:t>
            </a:r>
            <a:r>
              <a:rPr lang="en-US" sz="2800" dirty="0"/>
              <a:t> = 'Blue';</a:t>
            </a:r>
          </a:p>
        </p:txBody>
      </p:sp>
    </p:spTree>
    <p:extLst>
      <p:ext uri="{BB962C8B-B14F-4D97-AF65-F5344CB8AC3E}">
        <p14:creationId xmlns:p14="http://schemas.microsoft.com/office/powerpoint/2010/main" val="492351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AA6D9-E3F7-1C85-918F-C570661E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0267-9076-8316-7807-F98FCFE1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2A170-6174-2F9C-75D0-76AF1421ABA8}"/>
              </a:ext>
            </a:extLst>
          </p:cNvPr>
          <p:cNvSpPr txBox="1"/>
          <p:nvPr/>
        </p:nvSpPr>
        <p:spPr>
          <a:xfrm>
            <a:off x="0" y="566057"/>
            <a:ext cx="9082313" cy="464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/>
              <a:t>b. List customer names and </a:t>
            </a:r>
            <a:r>
              <a:rPr lang="en-US" sz="2500" b="1" dirty="0" err="1"/>
              <a:t>licence</a:t>
            </a:r>
            <a:r>
              <a:rPr lang="en-US" sz="2500" b="1" dirty="0"/>
              <a:t> numbers who have a booking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highlight>
                  <a:srgbClr val="FFFF00"/>
                </a:highlight>
              </a:rPr>
              <a:t>SELECT 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    </a:t>
            </a:r>
            <a:r>
              <a:rPr lang="en-US" sz="2500" dirty="0" err="1">
                <a:highlight>
                  <a:srgbClr val="FFFF00"/>
                </a:highlight>
              </a:rPr>
              <a:t>customers.first_name</a:t>
            </a:r>
            <a:r>
              <a:rPr lang="en-US" sz="2500" dirty="0">
                <a:highlight>
                  <a:srgbClr val="FFFF00"/>
                </a:highlight>
              </a:rPr>
              <a:t>,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    </a:t>
            </a:r>
            <a:r>
              <a:rPr lang="en-US" sz="2500" dirty="0" err="1">
                <a:highlight>
                  <a:srgbClr val="FFFF00"/>
                </a:highlight>
              </a:rPr>
              <a:t>customers.last_name</a:t>
            </a:r>
            <a:r>
              <a:rPr lang="en-US" sz="2500" dirty="0">
                <a:highlight>
                  <a:srgbClr val="FFFF00"/>
                </a:highlight>
              </a:rPr>
              <a:t>,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    </a:t>
            </a:r>
            <a:r>
              <a:rPr lang="en-US" sz="2500" dirty="0" err="1">
                <a:highlight>
                  <a:srgbClr val="FFFF00"/>
                </a:highlight>
              </a:rPr>
              <a:t>customers.licence_number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FROM customers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INNER JOIN bookings</a:t>
            </a:r>
            <a:br>
              <a:rPr lang="en-US" sz="2500" dirty="0">
                <a:highlight>
                  <a:srgbClr val="FFFF00"/>
                </a:highlight>
              </a:rPr>
            </a:br>
            <a:r>
              <a:rPr lang="en-US" sz="2500" dirty="0">
                <a:highlight>
                  <a:srgbClr val="FFFF00"/>
                </a:highlight>
              </a:rPr>
              <a:t>ON </a:t>
            </a:r>
            <a:r>
              <a:rPr lang="en-US" sz="2500" dirty="0" err="1">
                <a:highlight>
                  <a:srgbClr val="FFFF00"/>
                </a:highlight>
              </a:rPr>
              <a:t>customers.customer_id</a:t>
            </a:r>
            <a:r>
              <a:rPr lang="en-US" sz="2500" dirty="0">
                <a:highlight>
                  <a:srgbClr val="FFFF00"/>
                </a:highlight>
              </a:rPr>
              <a:t> = </a:t>
            </a:r>
            <a:r>
              <a:rPr lang="en-US" sz="2500" dirty="0" err="1">
                <a:highlight>
                  <a:srgbClr val="FFFF00"/>
                </a:highlight>
              </a:rPr>
              <a:t>bookings.customer_id</a:t>
            </a:r>
            <a:r>
              <a:rPr lang="en-US" sz="2500" dirty="0">
                <a:highlight>
                  <a:srgbClr val="FFFF00"/>
                </a:highligh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83687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48E01-0E20-1BD0-5917-2CCA5BE57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BE19-8D03-43B7-EC20-3CE7DBCC4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2262D-31D1-7063-8252-CCD609208ACC}"/>
              </a:ext>
            </a:extLst>
          </p:cNvPr>
          <p:cNvSpPr txBox="1"/>
          <p:nvPr/>
        </p:nvSpPr>
        <p:spPr>
          <a:xfrm>
            <a:off x="0" y="566057"/>
            <a:ext cx="9082313" cy="61338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Optional improved version showing car details: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</a:rPr>
              <a:t>SELECT 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customers.first_name</a:t>
            </a:r>
            <a:r>
              <a:rPr lang="en-US" sz="2200" dirty="0">
                <a:highlight>
                  <a:srgbClr val="FFFF00"/>
                </a:highlight>
              </a:rPr>
              <a:t>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customers.last_name</a:t>
            </a:r>
            <a:r>
              <a:rPr lang="en-US" sz="2200" dirty="0">
                <a:highlight>
                  <a:srgbClr val="FFFF00"/>
                </a:highlight>
              </a:rPr>
              <a:t>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customers.licence_number</a:t>
            </a:r>
            <a:r>
              <a:rPr lang="en-US" sz="2200" dirty="0">
                <a:highlight>
                  <a:srgbClr val="FFFF00"/>
                </a:highlight>
              </a:rPr>
              <a:t>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cars.car_make_model</a:t>
            </a:r>
            <a:r>
              <a:rPr lang="en-US" sz="2200" dirty="0">
                <a:highlight>
                  <a:srgbClr val="FFFF00"/>
                </a:highlight>
              </a:rPr>
              <a:t>,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    </a:t>
            </a:r>
            <a:r>
              <a:rPr lang="en-US" sz="2200" dirty="0" err="1">
                <a:highlight>
                  <a:srgbClr val="FFFF00"/>
                </a:highlight>
              </a:rPr>
              <a:t>cars.car_color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FROM customers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INNER JOIN bookings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ON </a:t>
            </a:r>
            <a:r>
              <a:rPr lang="en-US" sz="2200" dirty="0" err="1">
                <a:highlight>
                  <a:srgbClr val="FFFF00"/>
                </a:highlight>
              </a:rPr>
              <a:t>customers.customer_id</a:t>
            </a:r>
            <a:r>
              <a:rPr lang="en-US" sz="2200" dirty="0">
                <a:highlight>
                  <a:srgbClr val="FFFF00"/>
                </a:highlight>
              </a:rPr>
              <a:t> = </a:t>
            </a:r>
            <a:r>
              <a:rPr lang="en-US" sz="2200" dirty="0" err="1">
                <a:highlight>
                  <a:srgbClr val="FFFF00"/>
                </a:highlight>
              </a:rPr>
              <a:t>bookings.customer_id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INNER JOIN cars</a:t>
            </a:r>
            <a:br>
              <a:rPr lang="en-US" sz="2200" dirty="0">
                <a:highlight>
                  <a:srgbClr val="FFFF00"/>
                </a:highlight>
              </a:rPr>
            </a:br>
            <a:r>
              <a:rPr lang="en-US" sz="2200" dirty="0">
                <a:highlight>
                  <a:srgbClr val="FFFF00"/>
                </a:highlight>
              </a:rPr>
              <a:t>ON </a:t>
            </a:r>
            <a:r>
              <a:rPr lang="en-US" sz="2200" dirty="0" err="1">
                <a:highlight>
                  <a:srgbClr val="FFFF00"/>
                </a:highlight>
              </a:rPr>
              <a:t>bookings.car_id</a:t>
            </a:r>
            <a:r>
              <a:rPr lang="en-US" sz="2200" dirty="0">
                <a:highlight>
                  <a:srgbClr val="FFFF00"/>
                </a:highlight>
              </a:rPr>
              <a:t> = </a:t>
            </a:r>
            <a:r>
              <a:rPr lang="en-US" sz="2200" dirty="0" err="1">
                <a:highlight>
                  <a:srgbClr val="FFFF00"/>
                </a:highlight>
              </a:rPr>
              <a:t>cars.car_id</a:t>
            </a:r>
            <a:r>
              <a:rPr lang="en-US" sz="2200" dirty="0">
                <a:highlight>
                  <a:srgbClr val="FFFF00"/>
                </a:highligh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41219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7E1F-B287-D84D-FC88-C35EAFA8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E53C0-09B9-23E9-1E2B-AF068C82E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1DEF2-1277-DEDA-347F-0A8CAF4D214D}"/>
              </a:ext>
            </a:extLst>
          </p:cNvPr>
          <p:cNvSpPr txBox="1"/>
          <p:nvPr/>
        </p:nvSpPr>
        <p:spPr>
          <a:xfrm>
            <a:off x="-1" y="669018"/>
            <a:ext cx="12258675" cy="56260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/>
              <a:t>Step 10: What Students Should Submit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/>
              <a:t>Students should create a Word document named: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/>
              <a:t>Week 10.doc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/>
              <a:t>The document should include: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Database name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SQL code for creating tables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Screenshot of phpMyAdmin tables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Screenshot of inserted records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Screenshot of query results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ERD diagram using Crow’s Foot notation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Short explanation of primary keys, foreign keys, and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2344174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44A77-492A-2886-9E1C-1C5751A69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934E2-B4C7-0EB1-40BA-AC30C50B4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Week 10 Lab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E17A-74C0-8A24-D56F-7E2AEF2E4C73}"/>
              </a:ext>
            </a:extLst>
          </p:cNvPr>
          <p:cNvSpPr txBox="1"/>
          <p:nvPr/>
        </p:nvSpPr>
        <p:spPr>
          <a:xfrm>
            <a:off x="-1" y="669018"/>
            <a:ext cx="12258675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Complete the Activity in this order: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Database → Tables → Primary Keys → Foreign Keys → Sample Data → SQL Queries → ERD → Screenshots → Submit</a:t>
            </a:r>
          </a:p>
        </p:txBody>
      </p:sp>
    </p:spTree>
    <p:extLst>
      <p:ext uri="{BB962C8B-B14F-4D97-AF65-F5344CB8AC3E}">
        <p14:creationId xmlns:p14="http://schemas.microsoft.com/office/powerpoint/2010/main" val="105105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08568-17B1-B6CF-2E0D-5650180D2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7757-1EAB-273C-A341-12E085D02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715" y="376012"/>
            <a:ext cx="10515600" cy="669018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Today’s Webinar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87C29-5119-1C2B-94AF-BA7E5B1E0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09" y="1305065"/>
            <a:ext cx="10515600" cy="4126905"/>
          </a:xfrm>
        </p:spPr>
        <p:txBody>
          <a:bodyPr>
            <a:normAutofit/>
          </a:bodyPr>
          <a:lstStyle/>
          <a:p>
            <a:endParaRPr lang="en-AU" sz="4000" dirty="0"/>
          </a:p>
          <a:p>
            <a:r>
              <a:rPr lang="en-AU" sz="4000" dirty="0"/>
              <a:t>Form Validation in PHP</a:t>
            </a:r>
          </a:p>
          <a:p>
            <a:r>
              <a:rPr lang="en-AU" sz="4000" dirty="0"/>
              <a:t>Basics of Databases</a:t>
            </a:r>
          </a:p>
          <a:p>
            <a:r>
              <a:rPr lang="en-AU" sz="4000" dirty="0"/>
              <a:t>MYSQL</a:t>
            </a:r>
          </a:p>
          <a:p>
            <a:r>
              <a:rPr lang="en-AU" sz="4000" dirty="0"/>
              <a:t>Creating Database, Tables </a:t>
            </a:r>
          </a:p>
          <a:p>
            <a:r>
              <a:rPr lang="en-AU" sz="4000" dirty="0"/>
              <a:t>Insert, Update, Delete data into Tables</a:t>
            </a:r>
          </a:p>
        </p:txBody>
      </p:sp>
    </p:spTree>
    <p:extLst>
      <p:ext uri="{BB962C8B-B14F-4D97-AF65-F5344CB8AC3E}">
        <p14:creationId xmlns:p14="http://schemas.microsoft.com/office/powerpoint/2010/main" val="127531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D162-0FD9-4D1B-AF96-BEBA8224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203087"/>
            <a:ext cx="10515600" cy="776628"/>
          </a:xfrm>
        </p:spPr>
        <p:txBody>
          <a:bodyPr/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PHP Form Handling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3A1044-9958-4CBE-913A-C1E624216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2086" y="1509826"/>
            <a:ext cx="8562975" cy="3438525"/>
          </a:xfrm>
        </p:spPr>
      </p:pic>
    </p:spTree>
    <p:extLst>
      <p:ext uri="{BB962C8B-B14F-4D97-AF65-F5344CB8AC3E}">
        <p14:creationId xmlns:p14="http://schemas.microsoft.com/office/powerpoint/2010/main" val="3039996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EB50-3FD1-42B9-85C3-92DF0950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65125"/>
            <a:ext cx="10515600" cy="636361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Submitting the Form Data to the Server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5D151-5BA0-440A-97C7-8E57E9BAE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5" y="1379311"/>
            <a:ext cx="11767456" cy="38089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AU" sz="4000" dirty="0"/>
          </a:p>
          <a:p>
            <a:r>
              <a:rPr lang="en-AU" sz="5100" dirty="0"/>
              <a:t>POST</a:t>
            </a:r>
          </a:p>
          <a:p>
            <a:r>
              <a:rPr lang="en-AU" sz="5100" dirty="0"/>
              <a:t>GET</a:t>
            </a:r>
          </a:p>
          <a:p>
            <a:endParaRPr lang="en-AU" sz="4000" dirty="0"/>
          </a:p>
          <a:p>
            <a:r>
              <a:rPr lang="en-US" sz="4000" b="0" i="0" dirty="0">
                <a:solidFill>
                  <a:srgbClr val="000000"/>
                </a:solidFill>
                <a:effectLst/>
              </a:rPr>
              <a:t>Both GET and POST create an array (e.g. array( key1 =&gt; value1, key2 =&gt; value2, key3 =&gt; value3, ...)). </a:t>
            </a:r>
          </a:p>
          <a:p>
            <a:endParaRPr lang="en-US" sz="4000" b="0" i="0" dirty="0">
              <a:solidFill>
                <a:srgbClr val="000000"/>
              </a:solidFill>
              <a:effectLst/>
            </a:endParaRPr>
          </a:p>
          <a:p>
            <a:r>
              <a:rPr lang="en-US" sz="4000" b="0" i="0" dirty="0">
                <a:solidFill>
                  <a:srgbClr val="000000"/>
                </a:solidFill>
                <a:effectLst/>
              </a:rPr>
              <a:t>This array holds key/value pairs, where keys are the names of the form controls and values are the input data from the user.</a:t>
            </a:r>
          </a:p>
          <a:p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1574478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DB6D4-B3F0-4A3E-8E55-547B7C253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3" y="147412"/>
            <a:ext cx="10515600" cy="603704"/>
          </a:xfrm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POST Method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BB93C-1691-49D4-BB69-0B16F6F1E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614" y="1183368"/>
            <a:ext cx="11832771" cy="4205060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This is the built in PHP super global array variable that is used to get values submitted via HTTP POST method.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The array variable can be accessed from any script in the program.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This method is ideal when you do not want to display the form post values in the URL.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A good example of using post method is when submitting login details to the server.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22222"/>
              </a:solidFill>
              <a:effectLst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&lt;?php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 $_POST['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variable_name</a:t>
            </a:r>
            <a:r>
              <a:rPr lang="en-US" b="0" i="0" dirty="0">
                <a:solidFill>
                  <a:srgbClr val="222222"/>
                </a:solidFill>
                <a:effectLst/>
              </a:rPr>
              <a:t>'];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?&gt;</a:t>
            </a:r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8AB6F-0116-4622-A2E8-A31E451D8AA6}"/>
              </a:ext>
            </a:extLst>
          </p:cNvPr>
          <p:cNvSpPr txBox="1"/>
          <p:nvPr/>
        </p:nvSpPr>
        <p:spPr>
          <a:xfrm>
            <a:off x="6563360" y="5466036"/>
            <a:ext cx="34021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800" dirty="0"/>
              <a:t>https://www.w3schools.com</a:t>
            </a:r>
          </a:p>
        </p:txBody>
      </p:sp>
    </p:spTree>
    <p:extLst>
      <p:ext uri="{BB962C8B-B14F-4D97-AF65-F5344CB8AC3E}">
        <p14:creationId xmlns:p14="http://schemas.microsoft.com/office/powerpoint/2010/main" val="2405013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CA59-6622-40E3-9E1E-9D0488EA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376011"/>
            <a:ext cx="10515600" cy="549275"/>
          </a:xfrm>
        </p:spPr>
        <p:txBody>
          <a:bodyPr>
            <a:noAutofit/>
          </a:bodyPr>
          <a:lstStyle/>
          <a:p>
            <a:r>
              <a:rPr lang="en-AU" sz="3600" dirty="0">
                <a:solidFill>
                  <a:schemeClr val="accent2">
                    <a:lumMod val="50000"/>
                  </a:schemeClr>
                </a:solidFill>
              </a:rPr>
              <a:t>GET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76FEC-A0AD-4A56-AA43-A1549EEAC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4" y="1248683"/>
            <a:ext cx="11125200" cy="4215946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This is the built in PHP super global array variable that is used to get values submitted via HTTP GET method.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The array variable can be accessed from any script in the program.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This method displays the form values in the URL.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It’s ideal for search engine forms.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22222"/>
              </a:solidFill>
              <a:effectLst/>
            </a:endParaRPr>
          </a:p>
          <a:p>
            <a:pPr marL="0" indent="0">
              <a:buNone/>
            </a:pPr>
            <a:r>
              <a:rPr lang="en-AU" dirty="0"/>
              <a:t>&lt;?php</a:t>
            </a:r>
          </a:p>
          <a:p>
            <a:pPr marL="0" indent="0">
              <a:buNone/>
            </a:pPr>
            <a:r>
              <a:rPr lang="en-AU" dirty="0"/>
              <a:t>$_GET['</a:t>
            </a:r>
            <a:r>
              <a:rPr lang="en-AU" dirty="0" err="1"/>
              <a:t>variable_name</a:t>
            </a:r>
            <a:r>
              <a:rPr lang="en-AU" dirty="0"/>
              <a:t>'];</a:t>
            </a:r>
          </a:p>
          <a:p>
            <a:pPr marL="0" indent="0">
              <a:buNone/>
            </a:pPr>
            <a:r>
              <a:rPr lang="en-AU" dirty="0"/>
              <a:t>?&gt;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F26FA-3A61-409C-B235-B95380505D9D}"/>
              </a:ext>
            </a:extLst>
          </p:cNvPr>
          <p:cNvSpPr txBox="1"/>
          <p:nvPr/>
        </p:nvSpPr>
        <p:spPr>
          <a:xfrm>
            <a:off x="6563360" y="5466036"/>
            <a:ext cx="34021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800" dirty="0"/>
              <a:t>https://www.w3schools.com</a:t>
            </a:r>
          </a:p>
        </p:txBody>
      </p:sp>
    </p:spTree>
    <p:extLst>
      <p:ext uri="{BB962C8B-B14F-4D97-AF65-F5344CB8AC3E}">
        <p14:creationId xmlns:p14="http://schemas.microsoft.com/office/powerpoint/2010/main" val="3175915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112F-76A6-4A08-BEC3-9E822544C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GET and POST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334BFA-A0DF-4797-8996-836629B9A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2101738"/>
            <a:ext cx="5413695" cy="259000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EBA6CA-9AFB-4C0A-8291-B989C5F3A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405" y="2409826"/>
            <a:ext cx="6659595" cy="228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709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112F-76A6-4A08-BEC3-9E822544C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GET and POST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334BFA-A0DF-4797-8996-836629B9A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2101738"/>
            <a:ext cx="5413695" cy="259000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EBA6CA-9AFB-4C0A-8291-B989C5F3A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405" y="2409826"/>
            <a:ext cx="6659595" cy="228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948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3110-F0C5-49A6-A8B4-CD4DE561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92982"/>
            <a:ext cx="10515600" cy="462189"/>
          </a:xfrm>
        </p:spPr>
        <p:txBody>
          <a:bodyPr>
            <a:noAutofit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Form Validation in PHP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DBB25D-EE95-4E4F-B95B-BECB45CDF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0220" y="881743"/>
            <a:ext cx="4607752" cy="4626407"/>
          </a:xfrm>
        </p:spPr>
      </p:pic>
    </p:spTree>
    <p:extLst>
      <p:ext uri="{BB962C8B-B14F-4D97-AF65-F5344CB8AC3E}">
        <p14:creationId xmlns:p14="http://schemas.microsoft.com/office/powerpoint/2010/main" val="57023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0803-D7F9-43DD-B9B9-9DB9E746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223612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F0A99-BB94-4E5C-AA46-0F5B2721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7771" y="805544"/>
            <a:ext cx="7249885" cy="48441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050" dirty="0"/>
              <a:t>&lt;!DOCTYPE HTML&gt;  </a:t>
            </a:r>
          </a:p>
          <a:p>
            <a:pPr marL="0" indent="0">
              <a:buNone/>
            </a:pPr>
            <a:r>
              <a:rPr lang="en-AU" sz="1050" dirty="0"/>
              <a:t>&lt;html&gt;</a:t>
            </a:r>
          </a:p>
          <a:p>
            <a:pPr marL="0" indent="0">
              <a:buNone/>
            </a:pPr>
            <a:r>
              <a:rPr lang="en-AU" sz="1050" dirty="0"/>
              <a:t>&lt;head&gt;</a:t>
            </a:r>
          </a:p>
          <a:p>
            <a:pPr marL="0" indent="0">
              <a:buNone/>
            </a:pPr>
            <a:r>
              <a:rPr lang="en-AU" sz="1050" dirty="0"/>
              <a:t>&lt;/head&gt;</a:t>
            </a:r>
          </a:p>
          <a:p>
            <a:pPr marL="0" indent="0">
              <a:buNone/>
            </a:pPr>
            <a:r>
              <a:rPr lang="en-AU" sz="1050" dirty="0"/>
              <a:t>&lt;body&gt;  </a:t>
            </a:r>
          </a:p>
          <a:p>
            <a:pPr marL="0" indent="0">
              <a:buNone/>
            </a:pPr>
            <a:r>
              <a:rPr lang="en-AU" sz="1050" dirty="0"/>
              <a:t>&lt;?php</a:t>
            </a:r>
          </a:p>
          <a:p>
            <a:pPr marL="0" indent="0">
              <a:buNone/>
            </a:pPr>
            <a:r>
              <a:rPr lang="en-AU" sz="1050" dirty="0"/>
              <a:t>// define variables and set to empty values</a:t>
            </a:r>
          </a:p>
          <a:p>
            <a:pPr marL="0" indent="0">
              <a:buNone/>
            </a:pPr>
            <a:r>
              <a:rPr lang="en-AU" sz="1050" dirty="0"/>
              <a:t>$name = $email = $gender = $comment = $website = "";</a:t>
            </a:r>
          </a:p>
          <a:p>
            <a:pPr marL="0" indent="0">
              <a:buNone/>
            </a:pPr>
            <a:r>
              <a:rPr lang="en-AU" sz="1050" dirty="0"/>
              <a:t>if ($_SERVER["REQUEST_METHOD"] == "POST") {</a:t>
            </a:r>
          </a:p>
          <a:p>
            <a:pPr marL="0" indent="0">
              <a:buNone/>
            </a:pPr>
            <a:r>
              <a:rPr lang="en-AU" sz="1050" dirty="0"/>
              <a:t>  $name = </a:t>
            </a:r>
            <a:r>
              <a:rPr lang="en-AU" sz="1050" dirty="0" err="1"/>
              <a:t>test_input</a:t>
            </a:r>
            <a:r>
              <a:rPr lang="en-AU" sz="1050" dirty="0"/>
              <a:t>($_POST["name"]);</a:t>
            </a:r>
          </a:p>
          <a:p>
            <a:pPr marL="0" indent="0">
              <a:buNone/>
            </a:pPr>
            <a:r>
              <a:rPr lang="en-AU" sz="1050" dirty="0"/>
              <a:t>  $email = </a:t>
            </a:r>
            <a:r>
              <a:rPr lang="en-AU" sz="1050" dirty="0" err="1"/>
              <a:t>test_input</a:t>
            </a:r>
            <a:r>
              <a:rPr lang="en-AU" sz="1050" dirty="0"/>
              <a:t>($_POST["email"]);</a:t>
            </a:r>
          </a:p>
          <a:p>
            <a:pPr marL="0" indent="0">
              <a:buNone/>
            </a:pPr>
            <a:r>
              <a:rPr lang="en-AU" sz="1050" dirty="0"/>
              <a:t>  $website = </a:t>
            </a:r>
            <a:r>
              <a:rPr lang="en-AU" sz="1050" dirty="0" err="1"/>
              <a:t>test_input</a:t>
            </a:r>
            <a:r>
              <a:rPr lang="en-AU" sz="1050" dirty="0"/>
              <a:t>($_POST["website"]);</a:t>
            </a:r>
          </a:p>
          <a:p>
            <a:pPr marL="0" indent="0">
              <a:buNone/>
            </a:pPr>
            <a:r>
              <a:rPr lang="en-AU" sz="1050" dirty="0"/>
              <a:t>  $comment = </a:t>
            </a:r>
            <a:r>
              <a:rPr lang="en-AU" sz="1050" dirty="0" err="1"/>
              <a:t>test_input</a:t>
            </a:r>
            <a:r>
              <a:rPr lang="en-AU" sz="1050" dirty="0"/>
              <a:t>($_POST["comment"]);</a:t>
            </a:r>
          </a:p>
          <a:p>
            <a:pPr marL="0" indent="0">
              <a:buNone/>
            </a:pPr>
            <a:r>
              <a:rPr lang="en-AU" sz="1050" dirty="0"/>
              <a:t>  $gender = </a:t>
            </a:r>
            <a:r>
              <a:rPr lang="en-AU" sz="1050" dirty="0" err="1"/>
              <a:t>test_input</a:t>
            </a:r>
            <a:r>
              <a:rPr lang="en-AU" sz="1050" dirty="0"/>
              <a:t>($_POST["gender"]);</a:t>
            </a:r>
          </a:p>
          <a:p>
            <a:pPr marL="0" indent="0">
              <a:buNone/>
            </a:pPr>
            <a:r>
              <a:rPr lang="en-AU" sz="1050" dirty="0"/>
              <a:t>}function </a:t>
            </a:r>
            <a:r>
              <a:rPr lang="en-AU" sz="1050" dirty="0" err="1"/>
              <a:t>test_input</a:t>
            </a:r>
            <a:r>
              <a:rPr lang="en-AU" sz="1050" dirty="0"/>
              <a:t>($data) {</a:t>
            </a:r>
          </a:p>
          <a:p>
            <a:pPr marL="0" indent="0">
              <a:buNone/>
            </a:pPr>
            <a:r>
              <a:rPr lang="en-AU" sz="1050" dirty="0"/>
              <a:t>  $data = trim($data);//whitespace stripped from the beginning and end of string</a:t>
            </a:r>
          </a:p>
          <a:p>
            <a:pPr marL="0" indent="0">
              <a:buNone/>
            </a:pPr>
            <a:r>
              <a:rPr lang="en-AU" sz="1050" dirty="0"/>
              <a:t>  $data = </a:t>
            </a:r>
            <a:r>
              <a:rPr lang="en-AU" sz="1050" dirty="0" err="1"/>
              <a:t>stripslashes</a:t>
            </a:r>
            <a:r>
              <a:rPr lang="en-AU" sz="1050" dirty="0"/>
              <a:t>($data);//Returns a string with backslashes stripped off</a:t>
            </a:r>
          </a:p>
          <a:p>
            <a:pPr marL="0" indent="0">
              <a:buNone/>
            </a:pPr>
            <a:r>
              <a:rPr lang="en-AU" sz="1050" dirty="0"/>
              <a:t>  return $data;}?&gt;</a:t>
            </a:r>
          </a:p>
          <a:p>
            <a:pPr marL="0" indent="0">
              <a:buNone/>
            </a:pPr>
            <a:endParaRPr lang="en-AU" sz="1050" dirty="0"/>
          </a:p>
        </p:txBody>
      </p:sp>
    </p:spTree>
    <p:extLst>
      <p:ext uri="{BB962C8B-B14F-4D97-AF65-F5344CB8AC3E}">
        <p14:creationId xmlns:p14="http://schemas.microsoft.com/office/powerpoint/2010/main" val="2227951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0803-D7F9-43DD-B9B9-9DB9E746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223612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F0A99-BB94-4E5C-AA46-0F5B2721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15786"/>
            <a:ext cx="5551715" cy="48441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100" dirty="0"/>
              <a:t>&lt;h2&gt;PHP Form Validation Example&lt;/h2&gt;</a:t>
            </a:r>
          </a:p>
          <a:p>
            <a:pPr marL="0" indent="0">
              <a:buNone/>
            </a:pPr>
            <a:r>
              <a:rPr lang="en-AU" sz="1100" dirty="0"/>
              <a:t>&lt;form method="post" action=""&gt;  </a:t>
            </a:r>
          </a:p>
          <a:p>
            <a:pPr marL="0" indent="0">
              <a:buNone/>
            </a:pPr>
            <a:r>
              <a:rPr lang="en-AU" sz="1100" dirty="0"/>
              <a:t>  Name: &lt;input type="text" name="name"&gt;</a:t>
            </a:r>
          </a:p>
          <a:p>
            <a:pPr marL="0" indent="0">
              <a:buNone/>
            </a:pPr>
            <a:r>
              <a:rPr lang="en-AU" sz="1100" dirty="0"/>
              <a:t>  &lt;</a:t>
            </a:r>
            <a:r>
              <a:rPr lang="en-AU" sz="1100" dirty="0" err="1"/>
              <a:t>br</a:t>
            </a:r>
            <a:r>
              <a:rPr lang="en-AU" sz="1100" dirty="0"/>
              <a:t>&gt;&lt;</a:t>
            </a:r>
            <a:r>
              <a:rPr lang="en-AU" sz="1100" dirty="0" err="1"/>
              <a:t>br</a:t>
            </a:r>
            <a:r>
              <a:rPr lang="en-AU" sz="1100" dirty="0"/>
              <a:t>&gt;</a:t>
            </a:r>
          </a:p>
          <a:p>
            <a:pPr marL="0" indent="0">
              <a:buNone/>
            </a:pPr>
            <a:r>
              <a:rPr lang="en-AU" sz="1100" dirty="0"/>
              <a:t>  E-mail: &lt;input type="text" name="email"&gt;</a:t>
            </a:r>
          </a:p>
          <a:p>
            <a:pPr marL="0" indent="0">
              <a:buNone/>
            </a:pPr>
            <a:r>
              <a:rPr lang="en-AU" sz="1100" dirty="0"/>
              <a:t>  &lt;</a:t>
            </a:r>
            <a:r>
              <a:rPr lang="en-AU" sz="1100" dirty="0" err="1"/>
              <a:t>br</a:t>
            </a:r>
            <a:r>
              <a:rPr lang="en-AU" sz="1100" dirty="0"/>
              <a:t>&gt;&lt;</a:t>
            </a:r>
            <a:r>
              <a:rPr lang="en-AU" sz="1100" dirty="0" err="1"/>
              <a:t>br</a:t>
            </a:r>
            <a:r>
              <a:rPr lang="en-AU" sz="1100" dirty="0"/>
              <a:t>&gt;</a:t>
            </a:r>
          </a:p>
          <a:p>
            <a:pPr marL="0" indent="0">
              <a:buNone/>
            </a:pPr>
            <a:r>
              <a:rPr lang="en-AU" sz="1100" dirty="0"/>
              <a:t>  Website: &lt;input type="text" name="website"&gt;</a:t>
            </a:r>
          </a:p>
          <a:p>
            <a:pPr marL="0" indent="0">
              <a:buNone/>
            </a:pPr>
            <a:r>
              <a:rPr lang="en-AU" sz="1100" dirty="0"/>
              <a:t>  &lt;</a:t>
            </a:r>
            <a:r>
              <a:rPr lang="en-AU" sz="1100" dirty="0" err="1"/>
              <a:t>br</a:t>
            </a:r>
            <a:r>
              <a:rPr lang="en-AU" sz="1100" dirty="0"/>
              <a:t>&gt;&lt;</a:t>
            </a:r>
            <a:r>
              <a:rPr lang="en-AU" sz="1100" dirty="0" err="1"/>
              <a:t>br</a:t>
            </a:r>
            <a:r>
              <a:rPr lang="en-AU" sz="1100" dirty="0"/>
              <a:t>&gt;</a:t>
            </a:r>
          </a:p>
          <a:p>
            <a:pPr marL="0" indent="0">
              <a:buNone/>
            </a:pPr>
            <a:r>
              <a:rPr lang="en-AU" sz="1100" dirty="0"/>
              <a:t>  Comment: &lt;</a:t>
            </a:r>
            <a:r>
              <a:rPr lang="en-AU" sz="1100" dirty="0" err="1"/>
              <a:t>textarea</a:t>
            </a:r>
            <a:r>
              <a:rPr lang="en-AU" sz="1100" dirty="0"/>
              <a:t> name="comment" rows="5" cols="40"&gt;&lt;/</a:t>
            </a:r>
            <a:r>
              <a:rPr lang="en-AU" sz="1100" dirty="0" err="1"/>
              <a:t>textarea</a:t>
            </a:r>
            <a:r>
              <a:rPr lang="en-AU" sz="1100" dirty="0"/>
              <a:t>&gt;</a:t>
            </a:r>
          </a:p>
          <a:p>
            <a:pPr marL="0" indent="0">
              <a:buNone/>
            </a:pPr>
            <a:r>
              <a:rPr lang="en-AU" sz="1100" dirty="0"/>
              <a:t>  &lt;</a:t>
            </a:r>
            <a:r>
              <a:rPr lang="en-AU" sz="1100" dirty="0" err="1"/>
              <a:t>br</a:t>
            </a:r>
            <a:r>
              <a:rPr lang="en-AU" sz="1100" dirty="0"/>
              <a:t>&gt;&lt;</a:t>
            </a:r>
            <a:r>
              <a:rPr lang="en-AU" sz="1100" dirty="0" err="1"/>
              <a:t>br</a:t>
            </a:r>
            <a:r>
              <a:rPr lang="en-AU" sz="1100" dirty="0"/>
              <a:t>&gt;  Gender:</a:t>
            </a:r>
          </a:p>
          <a:p>
            <a:pPr marL="0" indent="0">
              <a:buNone/>
            </a:pPr>
            <a:r>
              <a:rPr lang="en-AU" sz="1100" dirty="0"/>
              <a:t>  &lt;input type="radio" name="gender" value="female"&gt;Female</a:t>
            </a:r>
          </a:p>
          <a:p>
            <a:pPr marL="0" indent="0">
              <a:buNone/>
            </a:pPr>
            <a:r>
              <a:rPr lang="en-AU" sz="1100" dirty="0"/>
              <a:t>  &lt;input type="radio" name="gender" value="male"&gt;Male</a:t>
            </a:r>
          </a:p>
          <a:p>
            <a:pPr marL="0" indent="0">
              <a:buNone/>
            </a:pPr>
            <a:r>
              <a:rPr lang="en-AU" sz="1100" dirty="0"/>
              <a:t>  &lt;input type="radio" name="gender" value="other"&gt;Other</a:t>
            </a:r>
          </a:p>
          <a:p>
            <a:pPr marL="0" indent="0">
              <a:buNone/>
            </a:pPr>
            <a:r>
              <a:rPr lang="en-AU" sz="1100" dirty="0"/>
              <a:t>  &lt;</a:t>
            </a:r>
            <a:r>
              <a:rPr lang="en-AU" sz="1100" dirty="0" err="1"/>
              <a:t>br</a:t>
            </a:r>
            <a:r>
              <a:rPr lang="en-AU" sz="1100" dirty="0"/>
              <a:t>&gt;&lt;</a:t>
            </a:r>
            <a:r>
              <a:rPr lang="en-AU" sz="1100" dirty="0" err="1"/>
              <a:t>br</a:t>
            </a:r>
            <a:r>
              <a:rPr lang="en-AU" sz="1100" dirty="0"/>
              <a:t>&gt;</a:t>
            </a:r>
          </a:p>
          <a:p>
            <a:pPr marL="0" indent="0">
              <a:buNone/>
            </a:pPr>
            <a:r>
              <a:rPr lang="en-AU" sz="1100" dirty="0"/>
              <a:t>  &lt;input type="submit" name="submit" value="Submit"&gt;  </a:t>
            </a:r>
          </a:p>
          <a:p>
            <a:pPr marL="0" indent="0">
              <a:buNone/>
            </a:pPr>
            <a:r>
              <a:rPr lang="en-AU" sz="1100" dirty="0"/>
              <a:t>&lt;/form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778D9-7622-4420-A57A-05655444E6BA}"/>
              </a:ext>
            </a:extLst>
          </p:cNvPr>
          <p:cNvSpPr txBox="1"/>
          <p:nvPr/>
        </p:nvSpPr>
        <p:spPr>
          <a:xfrm>
            <a:off x="6462032" y="1115786"/>
            <a:ext cx="400594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sz="1400" dirty="0"/>
              <a:t>&gt;&lt;?php</a:t>
            </a:r>
          </a:p>
          <a:p>
            <a:pPr marL="0" indent="0">
              <a:buNone/>
            </a:pPr>
            <a:r>
              <a:rPr lang="en-AU" sz="1400" dirty="0"/>
              <a:t>echo "&lt;h2&gt;Your Input:&lt;/h2&gt;";</a:t>
            </a:r>
          </a:p>
          <a:p>
            <a:pPr marL="0" indent="0">
              <a:buNone/>
            </a:pPr>
            <a:r>
              <a:rPr lang="en-AU" sz="1400" dirty="0"/>
              <a:t>echo $name;</a:t>
            </a:r>
          </a:p>
          <a:p>
            <a:pPr marL="0" indent="0">
              <a:buNone/>
            </a:pPr>
            <a:r>
              <a:rPr lang="en-AU" sz="1400" dirty="0"/>
              <a:t>echo "&lt;</a:t>
            </a:r>
            <a:r>
              <a:rPr lang="en-AU" sz="1400" dirty="0" err="1"/>
              <a:t>br</a:t>
            </a:r>
            <a:r>
              <a:rPr lang="en-AU" sz="1400" dirty="0"/>
              <a:t>&gt;";</a:t>
            </a:r>
          </a:p>
          <a:p>
            <a:pPr marL="0" indent="0">
              <a:buNone/>
            </a:pPr>
            <a:r>
              <a:rPr lang="en-AU" sz="1400" dirty="0"/>
              <a:t>echo $email;</a:t>
            </a:r>
          </a:p>
          <a:p>
            <a:pPr marL="0" indent="0">
              <a:buNone/>
            </a:pPr>
            <a:r>
              <a:rPr lang="en-AU" sz="1400" dirty="0"/>
              <a:t>echo "&lt;</a:t>
            </a:r>
            <a:r>
              <a:rPr lang="en-AU" sz="1400" dirty="0" err="1"/>
              <a:t>br</a:t>
            </a:r>
            <a:r>
              <a:rPr lang="en-AU" sz="1400" dirty="0"/>
              <a:t>&gt;";</a:t>
            </a:r>
          </a:p>
          <a:p>
            <a:pPr marL="0" indent="0">
              <a:buNone/>
            </a:pPr>
            <a:r>
              <a:rPr lang="en-AU" sz="1400" dirty="0"/>
              <a:t>echo $website;</a:t>
            </a:r>
          </a:p>
          <a:p>
            <a:pPr marL="0" indent="0">
              <a:buNone/>
            </a:pPr>
            <a:r>
              <a:rPr lang="en-AU" sz="1400" dirty="0"/>
              <a:t>echo "&lt;</a:t>
            </a:r>
            <a:r>
              <a:rPr lang="en-AU" sz="1400" dirty="0" err="1"/>
              <a:t>br</a:t>
            </a:r>
            <a:r>
              <a:rPr lang="en-AU" sz="1400" dirty="0"/>
              <a:t>&gt;";</a:t>
            </a:r>
          </a:p>
          <a:p>
            <a:pPr marL="0" indent="0">
              <a:buNone/>
            </a:pPr>
            <a:r>
              <a:rPr lang="en-AU" sz="1400" dirty="0"/>
              <a:t>echo $comment;</a:t>
            </a:r>
          </a:p>
          <a:p>
            <a:pPr marL="0" indent="0">
              <a:buNone/>
            </a:pPr>
            <a:r>
              <a:rPr lang="en-AU" sz="1400" dirty="0"/>
              <a:t>echo "&lt;</a:t>
            </a:r>
            <a:r>
              <a:rPr lang="en-AU" sz="1400" dirty="0" err="1"/>
              <a:t>br</a:t>
            </a:r>
            <a:r>
              <a:rPr lang="en-AU" sz="1400" dirty="0"/>
              <a:t>&gt;";</a:t>
            </a:r>
          </a:p>
          <a:p>
            <a:pPr marL="0" indent="0">
              <a:buNone/>
            </a:pPr>
            <a:r>
              <a:rPr lang="en-AU" sz="1400" dirty="0"/>
              <a:t>echo $gender;</a:t>
            </a:r>
          </a:p>
          <a:p>
            <a:pPr marL="0" indent="0">
              <a:buNone/>
            </a:pPr>
            <a:r>
              <a:rPr lang="en-AU" sz="1400" dirty="0"/>
              <a:t>?&gt;</a:t>
            </a:r>
          </a:p>
          <a:p>
            <a:pPr marL="0" indent="0">
              <a:buNone/>
            </a:pPr>
            <a:r>
              <a:rPr lang="en-AU" sz="1400" dirty="0"/>
              <a:t>&lt;/body&gt;</a:t>
            </a:r>
          </a:p>
          <a:p>
            <a:pPr marL="0" indent="0">
              <a:buNone/>
            </a:pPr>
            <a:r>
              <a:rPr lang="en-AU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8972962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1CDA-3F44-4611-9FAA-FBD4267F7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288926"/>
            <a:ext cx="10515600" cy="440418"/>
          </a:xfrm>
        </p:spPr>
        <p:txBody>
          <a:bodyPr>
            <a:noAutofit/>
          </a:bodyPr>
          <a:lstStyle/>
          <a:p>
            <a:r>
              <a:rPr lang="en-AU" sz="3600" dirty="0">
                <a:solidFill>
                  <a:schemeClr val="accent2">
                    <a:lumMod val="50000"/>
                  </a:schemeClr>
                </a:solidFill>
              </a:rPr>
              <a:t>Adding Validation of Name and Email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2743C-DBAA-49F4-BBD1-185E98CBF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1" y="729344"/>
            <a:ext cx="5736771" cy="49742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400" dirty="0"/>
              <a:t>&lt;!DOCTYPE HTML&gt;  </a:t>
            </a:r>
          </a:p>
          <a:p>
            <a:pPr marL="0" indent="0">
              <a:buNone/>
            </a:pPr>
            <a:r>
              <a:rPr lang="en-AU" sz="1400" dirty="0"/>
              <a:t>&lt;html&gt;</a:t>
            </a:r>
          </a:p>
          <a:p>
            <a:pPr marL="0" indent="0">
              <a:buNone/>
            </a:pPr>
            <a:r>
              <a:rPr lang="en-AU" sz="1400" dirty="0"/>
              <a:t>&lt;head&gt;</a:t>
            </a:r>
          </a:p>
          <a:p>
            <a:pPr marL="0" indent="0">
              <a:buNone/>
            </a:pPr>
            <a:r>
              <a:rPr lang="en-AU" sz="1400" dirty="0"/>
              <a:t>&lt;style&gt;</a:t>
            </a:r>
          </a:p>
          <a:p>
            <a:pPr marL="0" indent="0">
              <a:buNone/>
            </a:pPr>
            <a:r>
              <a:rPr lang="en-AU" sz="1400" dirty="0"/>
              <a:t>.error {</a:t>
            </a:r>
            <a:r>
              <a:rPr lang="en-AU" sz="1400" dirty="0" err="1"/>
              <a:t>color</a:t>
            </a:r>
            <a:r>
              <a:rPr lang="en-AU" sz="1400" dirty="0"/>
              <a:t>: #FF0000;}</a:t>
            </a:r>
          </a:p>
          <a:p>
            <a:pPr marL="0" indent="0">
              <a:buNone/>
            </a:pPr>
            <a:r>
              <a:rPr lang="en-AU" sz="1400" dirty="0"/>
              <a:t>&lt;/style&gt;</a:t>
            </a:r>
          </a:p>
          <a:p>
            <a:pPr marL="0" indent="0">
              <a:buNone/>
            </a:pPr>
            <a:r>
              <a:rPr lang="en-AU" sz="1400" dirty="0"/>
              <a:t>&lt;/head&gt;</a:t>
            </a:r>
          </a:p>
          <a:p>
            <a:pPr marL="0" indent="0">
              <a:buNone/>
            </a:pPr>
            <a:r>
              <a:rPr lang="en-AU" sz="1400" dirty="0"/>
              <a:t>&lt;body&gt;  </a:t>
            </a:r>
          </a:p>
          <a:p>
            <a:pPr marL="0" indent="0">
              <a:buNone/>
            </a:pPr>
            <a:r>
              <a:rPr lang="en-AU" sz="1400" dirty="0"/>
              <a:t>&lt;?</a:t>
            </a:r>
            <a:r>
              <a:rPr lang="en-AU" sz="1400" dirty="0" err="1"/>
              <a:t>php</a:t>
            </a:r>
            <a:endParaRPr lang="en-AU" sz="1400" dirty="0"/>
          </a:p>
          <a:p>
            <a:pPr marL="0" indent="0">
              <a:buNone/>
            </a:pPr>
            <a:r>
              <a:rPr lang="en-AU" sz="1400" dirty="0"/>
              <a:t>// define variables and set to empty values</a:t>
            </a:r>
          </a:p>
          <a:p>
            <a:pPr marL="0" indent="0">
              <a:buNone/>
            </a:pPr>
            <a:r>
              <a:rPr lang="en-AU" sz="1400" dirty="0"/>
              <a:t>$</a:t>
            </a:r>
            <a:r>
              <a:rPr lang="en-AU" sz="1400" dirty="0" err="1"/>
              <a:t>nameErr</a:t>
            </a:r>
            <a:r>
              <a:rPr lang="en-AU" sz="1400" dirty="0"/>
              <a:t> = $</a:t>
            </a:r>
            <a:r>
              <a:rPr lang="en-AU" sz="1400" dirty="0" err="1"/>
              <a:t>emailErr</a:t>
            </a:r>
            <a:r>
              <a:rPr lang="en-AU" sz="1400" dirty="0"/>
              <a:t> = $</a:t>
            </a:r>
            <a:r>
              <a:rPr lang="en-AU" sz="1400" dirty="0" err="1"/>
              <a:t>genderErr</a:t>
            </a:r>
            <a:r>
              <a:rPr lang="en-AU" sz="1400" dirty="0"/>
              <a:t> = $</a:t>
            </a:r>
            <a:r>
              <a:rPr lang="en-AU" sz="1400" dirty="0" err="1"/>
              <a:t>websiteErr</a:t>
            </a:r>
            <a:r>
              <a:rPr lang="en-AU" sz="1400" dirty="0"/>
              <a:t> = "";</a:t>
            </a:r>
          </a:p>
          <a:p>
            <a:pPr marL="0" indent="0">
              <a:buNone/>
            </a:pPr>
            <a:r>
              <a:rPr lang="en-AU" sz="1400" dirty="0"/>
              <a:t>$name = $email = $gender = $comment = $website = "";</a:t>
            </a:r>
          </a:p>
          <a:p>
            <a:pPr marL="0" indent="0">
              <a:buNone/>
            </a:pPr>
            <a:endParaRPr lang="en-AU" sz="1400" dirty="0"/>
          </a:p>
          <a:p>
            <a:pPr marL="0" indent="0">
              <a:buNone/>
            </a:pPr>
            <a:r>
              <a:rPr lang="en-AU" sz="1400" dirty="0"/>
              <a:t>if ($_SERVER["REQUEST_METHOD"] == "POST") {</a:t>
            </a:r>
          </a:p>
          <a:p>
            <a:pPr marL="0" indent="0">
              <a:buNone/>
            </a:pPr>
            <a:r>
              <a:rPr lang="en-AU" sz="1400" dirty="0"/>
              <a:t>  if (empty($_POST["name"])) {</a:t>
            </a:r>
          </a:p>
          <a:p>
            <a:pPr marL="0" indent="0">
              <a:buNone/>
            </a:pPr>
            <a:r>
              <a:rPr lang="en-AU" sz="1400" dirty="0"/>
              <a:t>    $</a:t>
            </a:r>
            <a:r>
              <a:rPr lang="en-AU" sz="1400" dirty="0" err="1"/>
              <a:t>nameErr</a:t>
            </a:r>
            <a:r>
              <a:rPr lang="en-AU" sz="1400" dirty="0"/>
              <a:t> = "Name is required";</a:t>
            </a:r>
          </a:p>
          <a:p>
            <a:pPr marL="0" indent="0">
              <a:buNone/>
            </a:pPr>
            <a:r>
              <a:rPr lang="en-AU" sz="1400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9B89F-1926-48D7-87EA-AF9629F4E264}"/>
              </a:ext>
            </a:extLst>
          </p:cNvPr>
          <p:cNvSpPr txBox="1"/>
          <p:nvPr/>
        </p:nvSpPr>
        <p:spPr>
          <a:xfrm>
            <a:off x="6204859" y="729344"/>
            <a:ext cx="6096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sz="1400" dirty="0"/>
              <a:t>} else {</a:t>
            </a:r>
          </a:p>
          <a:p>
            <a:pPr marL="0" indent="0">
              <a:buNone/>
            </a:pPr>
            <a:r>
              <a:rPr lang="en-AU" sz="1400" dirty="0"/>
              <a:t>    $name = </a:t>
            </a:r>
            <a:r>
              <a:rPr lang="en-AU" sz="1400" dirty="0" err="1"/>
              <a:t>test_input</a:t>
            </a:r>
            <a:r>
              <a:rPr lang="en-AU" sz="1400" dirty="0"/>
              <a:t>($_POST["name"]);</a:t>
            </a:r>
          </a:p>
          <a:p>
            <a:pPr marL="0" indent="0">
              <a:buNone/>
            </a:pPr>
            <a:r>
              <a:rPr lang="en-AU" sz="1400" dirty="0"/>
              <a:t>    // check if name only contains letters and whitespace</a:t>
            </a:r>
          </a:p>
          <a:p>
            <a:pPr marL="0" indent="0">
              <a:buNone/>
            </a:pPr>
            <a:r>
              <a:rPr lang="en-AU" sz="1400" dirty="0"/>
              <a:t>    if (!</a:t>
            </a:r>
            <a:r>
              <a:rPr lang="en-AU" sz="1400" dirty="0" err="1"/>
              <a:t>preg_match</a:t>
            </a:r>
            <a:r>
              <a:rPr lang="en-AU" sz="1400" dirty="0"/>
              <a:t>("/^[a-</a:t>
            </a:r>
            <a:r>
              <a:rPr lang="en-AU" sz="1400" dirty="0" err="1"/>
              <a:t>zA</a:t>
            </a:r>
            <a:r>
              <a:rPr lang="en-AU" sz="1400" dirty="0"/>
              <a:t>-Z-' ]*$/",$name)) {</a:t>
            </a:r>
          </a:p>
          <a:p>
            <a:pPr marL="0" indent="0">
              <a:buNone/>
            </a:pPr>
            <a:r>
              <a:rPr lang="en-AU" sz="1400" dirty="0"/>
              <a:t>      $</a:t>
            </a:r>
            <a:r>
              <a:rPr lang="en-AU" sz="1400" dirty="0" err="1"/>
              <a:t>nameErr</a:t>
            </a:r>
            <a:r>
              <a:rPr lang="en-AU" sz="1400" dirty="0"/>
              <a:t> = "Only letters and white space allowed";</a:t>
            </a:r>
          </a:p>
          <a:p>
            <a:pPr marL="0" indent="0">
              <a:buNone/>
            </a:pPr>
            <a:r>
              <a:rPr lang="en-AU" sz="1400" dirty="0"/>
              <a:t>    }</a:t>
            </a:r>
          </a:p>
          <a:p>
            <a:pPr marL="0" indent="0">
              <a:buNone/>
            </a:pPr>
            <a:r>
              <a:rPr lang="en-AU" sz="1400" dirty="0"/>
              <a:t>  }</a:t>
            </a:r>
          </a:p>
          <a:p>
            <a:pPr marL="0" indent="0">
              <a:buNone/>
            </a:pPr>
            <a:r>
              <a:rPr lang="en-AU" sz="1400" dirty="0"/>
              <a:t>  </a:t>
            </a:r>
          </a:p>
          <a:p>
            <a:pPr marL="0" indent="0">
              <a:buNone/>
            </a:pPr>
            <a:r>
              <a:rPr lang="en-AU" sz="1400" dirty="0"/>
              <a:t>  if (empty($_POST["email"])) {</a:t>
            </a:r>
          </a:p>
          <a:p>
            <a:pPr marL="0" indent="0">
              <a:buNone/>
            </a:pPr>
            <a:r>
              <a:rPr lang="en-AU" sz="1400" dirty="0"/>
              <a:t>    $</a:t>
            </a:r>
            <a:r>
              <a:rPr lang="en-AU" sz="1400" dirty="0" err="1"/>
              <a:t>emailErr</a:t>
            </a:r>
            <a:r>
              <a:rPr lang="en-AU" sz="1400" dirty="0"/>
              <a:t> = "Email is required";</a:t>
            </a:r>
          </a:p>
          <a:p>
            <a:pPr marL="0" indent="0">
              <a:buNone/>
            </a:pPr>
            <a:r>
              <a:rPr lang="en-AU" sz="1400" dirty="0"/>
              <a:t>  } else {</a:t>
            </a:r>
          </a:p>
          <a:p>
            <a:pPr marL="0" indent="0">
              <a:buNone/>
            </a:pPr>
            <a:r>
              <a:rPr lang="en-AU" sz="1400" dirty="0"/>
              <a:t>    $email = </a:t>
            </a:r>
            <a:r>
              <a:rPr lang="en-AU" sz="1400" dirty="0" err="1"/>
              <a:t>test_input</a:t>
            </a:r>
            <a:r>
              <a:rPr lang="en-AU" sz="1400" dirty="0"/>
              <a:t>($_POST["email"]);</a:t>
            </a:r>
          </a:p>
          <a:p>
            <a:pPr marL="0" indent="0">
              <a:buNone/>
            </a:pPr>
            <a:r>
              <a:rPr lang="en-AU" sz="1400" dirty="0"/>
              <a:t>    // check if e-mail address is well-formed</a:t>
            </a:r>
          </a:p>
          <a:p>
            <a:pPr marL="0" indent="0">
              <a:buNone/>
            </a:pPr>
            <a:r>
              <a:rPr lang="en-AU" sz="1400" dirty="0"/>
              <a:t>    if (!</a:t>
            </a:r>
            <a:r>
              <a:rPr lang="en-AU" sz="1400" dirty="0" err="1"/>
              <a:t>filter_var</a:t>
            </a:r>
            <a:r>
              <a:rPr lang="en-AU" sz="1400" dirty="0"/>
              <a:t>($email, FILTER_VALIDATE_EMAIL)) {</a:t>
            </a:r>
          </a:p>
          <a:p>
            <a:pPr marL="0" indent="0">
              <a:buNone/>
            </a:pPr>
            <a:r>
              <a:rPr lang="en-AU" sz="1400" dirty="0"/>
              <a:t>      $</a:t>
            </a:r>
            <a:r>
              <a:rPr lang="en-AU" sz="1400" dirty="0" err="1"/>
              <a:t>emailErr</a:t>
            </a:r>
            <a:r>
              <a:rPr lang="en-AU" sz="1400" dirty="0"/>
              <a:t> = "Invalid email format";</a:t>
            </a:r>
          </a:p>
          <a:p>
            <a:pPr marL="0" indent="0">
              <a:buNone/>
            </a:pPr>
            <a:r>
              <a:rPr lang="en-AU" sz="1400" dirty="0"/>
              <a:t>    }</a:t>
            </a:r>
          </a:p>
          <a:p>
            <a:pPr marL="0" indent="0">
              <a:buNone/>
            </a:pPr>
            <a:r>
              <a:rPr lang="en-AU" sz="1400" dirty="0"/>
              <a:t>  }</a:t>
            </a:r>
          </a:p>
          <a:p>
            <a:r>
              <a:rPr lang="en-AU" sz="1400" dirty="0"/>
              <a:t>function </a:t>
            </a:r>
            <a:r>
              <a:rPr lang="en-AU" sz="1400" dirty="0" err="1"/>
              <a:t>test_input</a:t>
            </a:r>
            <a:r>
              <a:rPr lang="en-AU" sz="1400" dirty="0"/>
              <a:t>($data) {</a:t>
            </a:r>
          </a:p>
          <a:p>
            <a:r>
              <a:rPr lang="en-AU" sz="1400" dirty="0"/>
              <a:t>  $data = trim($data);</a:t>
            </a:r>
          </a:p>
          <a:p>
            <a:r>
              <a:rPr lang="en-AU" sz="1400" dirty="0"/>
              <a:t>  $data = </a:t>
            </a:r>
            <a:r>
              <a:rPr lang="en-AU" sz="1400" dirty="0" err="1"/>
              <a:t>stripslashes</a:t>
            </a:r>
            <a:r>
              <a:rPr lang="en-AU" sz="1400" dirty="0"/>
              <a:t>($data);</a:t>
            </a:r>
          </a:p>
          <a:p>
            <a:r>
              <a:rPr lang="en-AU" sz="1400" dirty="0"/>
              <a:t>  $data = </a:t>
            </a:r>
            <a:r>
              <a:rPr lang="en-AU" sz="1400" dirty="0" err="1"/>
              <a:t>htmlspecialchars</a:t>
            </a:r>
            <a:r>
              <a:rPr lang="en-AU" sz="1400" dirty="0"/>
              <a:t>($data);</a:t>
            </a:r>
          </a:p>
          <a:p>
            <a:r>
              <a:rPr lang="en-AU" sz="1400" dirty="0"/>
              <a:t>  return $data;</a:t>
            </a:r>
          </a:p>
          <a:p>
            <a:r>
              <a:rPr lang="en-AU" sz="1400" dirty="0"/>
              <a:t>}?&gt;</a:t>
            </a:r>
          </a:p>
          <a:p>
            <a:pPr marL="0" indent="0">
              <a:buNone/>
            </a:pPr>
            <a:endParaRPr lang="en-AU" sz="1400" dirty="0"/>
          </a:p>
          <a:p>
            <a:pPr marL="0" indent="0">
              <a:buNone/>
            </a:pPr>
            <a:r>
              <a:rPr lang="en-AU" sz="14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6484643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9DCF-287F-4144-85E4-113BC01B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898E-B2C7-4E50-B05E-708707413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4000" dirty="0"/>
          </a:p>
          <a:p>
            <a:pPr marL="0" indent="0" algn="ctr">
              <a:buNone/>
            </a:pPr>
            <a:r>
              <a:rPr lang="en-AU" sz="4000" dirty="0"/>
              <a:t>Working with Databases</a:t>
            </a:r>
          </a:p>
        </p:txBody>
      </p:sp>
    </p:spTree>
    <p:extLst>
      <p:ext uri="{BB962C8B-B14F-4D97-AF65-F5344CB8AC3E}">
        <p14:creationId xmlns:p14="http://schemas.microsoft.com/office/powerpoint/2010/main" val="25746091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7411D-94CC-42B8-822C-EB74707C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25" y="228471"/>
            <a:ext cx="8911687" cy="71830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What is a Database?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9A422-8208-4872-B2BF-8D94BD66F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3" y="1029974"/>
            <a:ext cx="11778343" cy="4413162"/>
          </a:xfrm>
        </p:spPr>
        <p:txBody>
          <a:bodyPr>
            <a:normAutofit/>
          </a:bodyPr>
          <a:lstStyle/>
          <a:p>
            <a:r>
              <a:rPr lang="en-US" sz="2400" b="1" dirty="0"/>
              <a:t>Data: </a:t>
            </a:r>
          </a:p>
          <a:p>
            <a:pPr lvl="1"/>
            <a:r>
              <a:rPr lang="en-US" dirty="0"/>
              <a:t>Data is any fact or information related to object of interest e.g. age, height, grade</a:t>
            </a:r>
          </a:p>
          <a:p>
            <a:endParaRPr lang="en-US" sz="2400" dirty="0"/>
          </a:p>
          <a:p>
            <a:r>
              <a:rPr lang="en-US" sz="2400" b="1" dirty="0"/>
              <a:t>Database:</a:t>
            </a:r>
          </a:p>
          <a:p>
            <a:pPr lvl="1"/>
            <a:r>
              <a:rPr lang="en-US" dirty="0"/>
              <a:t>Database is a systematic way of storing data for future use. </a:t>
            </a:r>
          </a:p>
          <a:p>
            <a:pPr lvl="1"/>
            <a:endParaRPr lang="en-US" dirty="0"/>
          </a:p>
          <a:p>
            <a:endParaRPr lang="en-US" sz="2400" dirty="0"/>
          </a:p>
          <a:p>
            <a:r>
              <a:rPr lang="en-US" sz="2400" dirty="0"/>
              <a:t>Normally database is taught as an entire course. Here we will have a brief overview</a:t>
            </a:r>
            <a:endParaRPr lang="en-AU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946A6-D384-41F3-AFF4-B265A989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94514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75F9-55CD-40F8-8781-957122488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53" y="101595"/>
            <a:ext cx="8911687" cy="718307"/>
          </a:xfrm>
        </p:spPr>
        <p:txBody>
          <a:bodyPr/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Database and Web Development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63FB3-79D5-4AE8-9977-1ACDF882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  <p:pic>
        <p:nvPicPr>
          <p:cNvPr id="5" name="Content Placeholder 5" descr="4812614001.eps">
            <a:extLst>
              <a:ext uri="{FF2B5EF4-FFF2-40B4-BE49-F238E27FC236}">
                <a16:creationId xmlns:a16="http://schemas.microsoft.com/office/drawing/2014/main" id="{F347E306-FD61-49E5-82E6-8A06988B8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08" r="-16408"/>
          <a:stretch>
            <a:fillRect/>
          </a:stretch>
        </p:blipFill>
        <p:spPr>
          <a:xfrm>
            <a:off x="3139734" y="976008"/>
            <a:ext cx="6518953" cy="4601184"/>
          </a:xfrm>
        </p:spPr>
      </p:pic>
    </p:spTree>
    <p:extLst>
      <p:ext uri="{BB962C8B-B14F-4D97-AF65-F5344CB8AC3E}">
        <p14:creationId xmlns:p14="http://schemas.microsoft.com/office/powerpoint/2010/main" val="26651407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B228-3135-453C-846F-6CDBD7B5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6" y="430439"/>
            <a:ext cx="10515600" cy="396875"/>
          </a:xfrm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6DD57-AD56-44C8-A99B-3BAD48E33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1216024"/>
            <a:ext cx="11582400" cy="4128861"/>
          </a:xfrm>
        </p:spPr>
        <p:txBody>
          <a:bodyPr>
            <a:normAutofit/>
          </a:bodyPr>
          <a:lstStyle/>
          <a:p>
            <a:pPr algn="just"/>
            <a:r>
              <a:rPr lang="en-US" b="0" i="0" u="none" strike="noStrike" baseline="0" dirty="0">
                <a:solidFill>
                  <a:srgbClr val="000000"/>
                </a:solidFill>
              </a:rPr>
              <a:t>A database is composed of one or more tables. </a:t>
            </a:r>
          </a:p>
          <a:p>
            <a:pPr algn="just"/>
            <a:r>
              <a:rPr lang="en-US" b="0" i="0" u="none" strike="noStrike" baseline="0" dirty="0">
                <a:solidFill>
                  <a:srgbClr val="000000"/>
                </a:solidFill>
              </a:rPr>
              <a:t>A </a:t>
            </a:r>
            <a:r>
              <a:rPr lang="en-US" dirty="0">
                <a:solidFill>
                  <a:srgbClr val="000000"/>
                </a:solidFill>
              </a:rPr>
              <a:t>table is the principal unit of storage in a database. </a:t>
            </a:r>
          </a:p>
          <a:p>
            <a:pPr algn="just"/>
            <a:r>
              <a:rPr lang="en-US" dirty="0">
                <a:solidFill>
                  <a:srgbClr val="000000"/>
                </a:solidFill>
              </a:rPr>
              <a:t>Each table in a database is generally modeled after some type </a:t>
            </a:r>
            <a:r>
              <a:rPr lang="en-US" b="0" i="0" u="none" strike="noStrike" baseline="0" dirty="0">
                <a:solidFill>
                  <a:srgbClr val="000000"/>
                </a:solidFill>
              </a:rPr>
              <a:t>of real-</a:t>
            </a:r>
            <a:r>
              <a:rPr lang="en-US" b="0" i="0" u="none" strike="noStrike" baseline="0" dirty="0"/>
              <a:t>world entity, such as a customer or a product.</a:t>
            </a:r>
            <a:endParaRPr lang="en-US" b="0" i="0" u="none" strike="noStrike" baseline="0" dirty="0">
              <a:solidFill>
                <a:srgbClr val="000000"/>
              </a:solidFill>
            </a:endParaRPr>
          </a:p>
          <a:p>
            <a:pPr algn="just"/>
            <a:r>
              <a:rPr lang="en-US" b="0" i="0" u="none" strike="noStrike" baseline="0" dirty="0">
                <a:solidFill>
                  <a:srgbClr val="000000"/>
                </a:solidFill>
              </a:rPr>
              <a:t>A table is a two-dimensional container for </a:t>
            </a:r>
            <a:r>
              <a:rPr lang="en-US" dirty="0">
                <a:solidFill>
                  <a:srgbClr val="000000"/>
                </a:solidFill>
              </a:rPr>
              <a:t>data that consists of records (rows); each record has the same number of columns, which are more specifically called fields, which contain the actual data.</a:t>
            </a:r>
          </a:p>
          <a:p>
            <a:pPr algn="just"/>
            <a:r>
              <a:rPr lang="en-US" dirty="0">
                <a:solidFill>
                  <a:srgbClr val="000000"/>
                </a:solidFill>
              </a:rPr>
              <a:t> Each table will have one special field called a </a:t>
            </a:r>
            <a:r>
              <a:rPr lang="en-US" dirty="0">
                <a:solidFill>
                  <a:srgbClr val="FF0000"/>
                </a:solidFill>
              </a:rPr>
              <a:t>primary key </a:t>
            </a:r>
            <a:r>
              <a:rPr lang="en-US" dirty="0">
                <a:solidFill>
                  <a:srgbClr val="000000"/>
                </a:solidFill>
              </a:rPr>
              <a:t>that is used to uniquely identify each record in a table.</a:t>
            </a:r>
          </a:p>
          <a:p>
            <a:pPr algn="just"/>
            <a:endParaRPr lang="en-AU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1518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7411D-94CC-42B8-822C-EB74707C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96" y="222594"/>
            <a:ext cx="8911687" cy="71830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Database Design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946A6-D384-41F3-AFF4-B265A989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  <p:pic>
        <p:nvPicPr>
          <p:cNvPr id="5" name="Content Placeholder 4" descr="4812614003.eps">
            <a:extLst>
              <a:ext uri="{FF2B5EF4-FFF2-40B4-BE49-F238E27FC236}">
                <a16:creationId xmlns:a16="http://schemas.microsoft.com/office/drawing/2014/main" id="{82168A7E-5ACB-4143-BB67-355E11D13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3995" y="1660203"/>
            <a:ext cx="9124475" cy="310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8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7411D-94CC-42B8-822C-EB74707C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410" y="363038"/>
            <a:ext cx="8911687" cy="71830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Representation of Table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946A6-D384-41F3-AFF4-B265A989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  <p:pic>
        <p:nvPicPr>
          <p:cNvPr id="7" name="Content Placeholder 6" descr="4812614004.eps">
            <a:extLst>
              <a:ext uri="{FF2B5EF4-FFF2-40B4-BE49-F238E27FC236}">
                <a16:creationId xmlns:a16="http://schemas.microsoft.com/office/drawing/2014/main" id="{0C25EA73-2397-4573-9E53-F3B8B3B7A1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6746" b="-96746"/>
          <a:stretch>
            <a:fillRect/>
          </a:stretch>
        </p:blipFill>
        <p:spPr>
          <a:xfrm>
            <a:off x="2110503" y="596016"/>
            <a:ext cx="7064847" cy="499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824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7411D-94CC-42B8-822C-EB74707C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811" y="316929"/>
            <a:ext cx="8911687" cy="71830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Linking of Tables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946A6-D384-41F3-AFF4-B265A989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  <p:pic>
        <p:nvPicPr>
          <p:cNvPr id="5" name="Content Placeholder 5" descr="4812614005.eps">
            <a:extLst>
              <a:ext uri="{FF2B5EF4-FFF2-40B4-BE49-F238E27FC236}">
                <a16:creationId xmlns:a16="http://schemas.microsoft.com/office/drawing/2014/main" id="{800CAA36-029A-45F7-997C-CA56EF1BD7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782" b="-6782"/>
          <a:stretch>
            <a:fillRect/>
          </a:stretch>
        </p:blipFill>
        <p:spPr>
          <a:xfrm>
            <a:off x="6096000" y="1035236"/>
            <a:ext cx="5871204" cy="415148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257174-A9BF-44F5-9621-389F82161465}"/>
              </a:ext>
            </a:extLst>
          </p:cNvPr>
          <p:cNvSpPr txBox="1"/>
          <p:nvPr/>
        </p:nvSpPr>
        <p:spPr>
          <a:xfrm>
            <a:off x="0" y="1494471"/>
            <a:ext cx="58712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A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FOREIGN KEY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is a key used to link two tables together.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A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FOREIGN KEY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is a field (or collection of fields) in one table that refers to the PRIMARY KEY in another table.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The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FOREIGN KEY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prevents invalid data from being inserted into the foreign key column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B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ecause it has to be one of the values contained in the table it points to.</a:t>
            </a:r>
          </a:p>
        </p:txBody>
      </p:sp>
    </p:spTree>
    <p:extLst>
      <p:ext uri="{BB962C8B-B14F-4D97-AF65-F5344CB8AC3E}">
        <p14:creationId xmlns:p14="http://schemas.microsoft.com/office/powerpoint/2010/main" val="10934380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A3D1-96D5-4D97-8684-0D51D7EAE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11" y="357068"/>
            <a:ext cx="8911687" cy="44847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SQL </a:t>
            </a:r>
            <a:endParaRPr lang="en-AU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AE24-169D-4BF7-A891-9F688AB8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97" y="1319695"/>
            <a:ext cx="11605760" cy="421860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SQL stands for </a:t>
            </a:r>
            <a:r>
              <a:rPr lang="en-US" b="1" dirty="0"/>
              <a:t>Structured Query Language.</a:t>
            </a:r>
          </a:p>
          <a:p>
            <a:endParaRPr lang="en-US" b="1" dirty="0"/>
          </a:p>
          <a:p>
            <a:r>
              <a:rPr lang="en-AU" dirty="0"/>
              <a:t>It can be used to manipulate the database.</a:t>
            </a:r>
          </a:p>
          <a:p>
            <a:endParaRPr lang="en-AU" dirty="0"/>
          </a:p>
          <a:p>
            <a:r>
              <a:rPr lang="en-AU" dirty="0"/>
              <a:t>The Data Manipulation Language </a:t>
            </a:r>
            <a:r>
              <a:rPr lang="en-AU" b="1" dirty="0"/>
              <a:t>(DML)</a:t>
            </a:r>
            <a:r>
              <a:rPr lang="en-AU" dirty="0"/>
              <a:t> features of SQL include SELECT, UPDATE, INSERT and DELETE</a:t>
            </a:r>
          </a:p>
          <a:p>
            <a:endParaRPr lang="en-AU" dirty="0"/>
          </a:p>
          <a:p>
            <a:r>
              <a:rPr lang="en-AU" dirty="0"/>
              <a:t>The Data Definition Language </a:t>
            </a:r>
            <a:r>
              <a:rPr lang="en-AU" b="1" dirty="0"/>
              <a:t>(DDL) </a:t>
            </a:r>
            <a:r>
              <a:rPr lang="en-AU" dirty="0"/>
              <a:t>in SQL is used to create tables, modifying the structure of a table, deleting tables, and creating and deleting databases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FCAEE-6B93-4FC4-90B6-C3D83ABF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08250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FE662-3458-4ABE-B3C1-35975C3F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6" y="245383"/>
            <a:ext cx="10515600" cy="723446"/>
          </a:xfrm>
        </p:spPr>
        <p:txBody>
          <a:bodyPr/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What can SQL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A39EF-47FF-4C7F-882E-4FCE13E75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5" y="1524522"/>
            <a:ext cx="10515600" cy="3808956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000000"/>
                </a:solidFill>
                <a:effectLst/>
              </a:rPr>
              <a:t>SQL can execute queries against a 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000000"/>
                </a:solidFill>
                <a:effectLst/>
              </a:rPr>
              <a:t>SQL can retrieve data from a 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000000"/>
                </a:solidFill>
                <a:effectLst/>
              </a:rPr>
              <a:t>SQL can insert records in a 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000000"/>
                </a:solidFill>
                <a:effectLst/>
              </a:rPr>
              <a:t>SQL can update records in a 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000000"/>
                </a:solidFill>
                <a:effectLst/>
              </a:rPr>
              <a:t>SQL can delete records from a 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000000"/>
                </a:solidFill>
                <a:effectLst/>
              </a:rPr>
              <a:t>SQL can create new databases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000000"/>
                </a:solidFill>
                <a:effectLst/>
              </a:rPr>
              <a:t>SQL can create new tables in a database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45807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A3D1-96D5-4D97-8684-0D51D7EAE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11" y="170105"/>
            <a:ext cx="8911687" cy="776673"/>
          </a:xfrm>
        </p:spPr>
        <p:txBody>
          <a:bodyPr/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Data Retrieval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AE24-169D-4BF7-A891-9F688AB8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68" y="1171364"/>
            <a:ext cx="11026828" cy="4218609"/>
          </a:xfrm>
        </p:spPr>
        <p:txBody>
          <a:bodyPr/>
          <a:lstStyle/>
          <a:p>
            <a:r>
              <a:rPr lang="en-US" dirty="0"/>
              <a:t>To retrieve data from database we can use SQL select statement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FCAEE-6B93-4FC4-90B6-C3D83ABF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  <p:pic>
        <p:nvPicPr>
          <p:cNvPr id="5" name="Content Placeholder 4" descr="4812614010.eps">
            <a:extLst>
              <a:ext uri="{FF2B5EF4-FFF2-40B4-BE49-F238E27FC236}">
                <a16:creationId xmlns:a16="http://schemas.microsoft.com/office/drawing/2014/main" id="{6F87DC69-E148-486F-B705-D54BE99153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3287" r="-23287" b="52716"/>
          <a:stretch/>
        </p:blipFill>
        <p:spPr>
          <a:xfrm>
            <a:off x="670904" y="2327520"/>
            <a:ext cx="9981800" cy="333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9503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A3D1-96D5-4D97-8684-0D51D7EAE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84" y="170105"/>
            <a:ext cx="8911687" cy="776673"/>
          </a:xfrm>
        </p:spPr>
        <p:txBody>
          <a:bodyPr/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Data Retrieval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AE24-169D-4BF7-A891-9F688AB8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2613"/>
            <a:ext cx="8915400" cy="4218609"/>
          </a:xfrm>
        </p:spPr>
        <p:txBody>
          <a:bodyPr/>
          <a:lstStyle/>
          <a:p>
            <a:endParaRPr lang="en-US" dirty="0"/>
          </a:p>
          <a:p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FCAEE-6B93-4FC4-90B6-C3D83ABF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  <p:pic>
        <p:nvPicPr>
          <p:cNvPr id="6" name="Content Placeholder 4" descr="4812614010.eps">
            <a:extLst>
              <a:ext uri="{FF2B5EF4-FFF2-40B4-BE49-F238E27FC236}">
                <a16:creationId xmlns:a16="http://schemas.microsoft.com/office/drawing/2014/main" id="{07B416F9-24BA-41A8-9B56-6EB4AD16EE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0622" t="47394" r="-25952" b="-236"/>
          <a:stretch/>
        </p:blipFill>
        <p:spPr>
          <a:xfrm>
            <a:off x="477783" y="1435773"/>
            <a:ext cx="10603873" cy="396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0307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A3D1-96D5-4D97-8684-0D51D7EAE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68" y="170105"/>
            <a:ext cx="8911687" cy="776673"/>
          </a:xfrm>
        </p:spPr>
        <p:txBody>
          <a:bodyPr/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Inserting Data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AE24-169D-4BF7-A891-9F688AB8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2613"/>
            <a:ext cx="8915400" cy="4218609"/>
          </a:xfrm>
        </p:spPr>
        <p:txBody>
          <a:bodyPr/>
          <a:lstStyle/>
          <a:p>
            <a:endParaRPr lang="en-US" dirty="0"/>
          </a:p>
          <a:p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FCAEE-6B93-4FC4-90B6-C3D83ABF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  <p:pic>
        <p:nvPicPr>
          <p:cNvPr id="7" name="Content Placeholder 4" descr="4812614014.eps">
            <a:extLst>
              <a:ext uri="{FF2B5EF4-FFF2-40B4-BE49-F238E27FC236}">
                <a16:creationId xmlns:a16="http://schemas.microsoft.com/office/drawing/2014/main" id="{E1881CA7-FD4D-4BC5-8C0D-5AB4E5A2682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2671" r="-22671" b="44175"/>
          <a:stretch/>
        </p:blipFill>
        <p:spPr>
          <a:xfrm>
            <a:off x="1117441" y="1581517"/>
            <a:ext cx="9451180" cy="373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874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A3D1-96D5-4D97-8684-0D51D7EAE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68" y="215190"/>
            <a:ext cx="8911687" cy="776673"/>
          </a:xfrm>
        </p:spPr>
        <p:txBody>
          <a:bodyPr/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Update Data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AE24-169D-4BF7-A891-9F688AB8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2613"/>
            <a:ext cx="8915400" cy="4218609"/>
          </a:xfrm>
        </p:spPr>
        <p:txBody>
          <a:bodyPr/>
          <a:lstStyle/>
          <a:p>
            <a:endParaRPr lang="en-US" dirty="0"/>
          </a:p>
          <a:p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FCAEE-6B93-4FC4-90B6-C3D83ABF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471AC-B4BE-4106-9A9E-E1002F030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2613"/>
            <a:ext cx="1156335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837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A3D1-96D5-4D97-8684-0D51D7EAE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440" y="132268"/>
            <a:ext cx="8911687" cy="776673"/>
          </a:xfrm>
        </p:spPr>
        <p:txBody>
          <a:bodyPr/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Delete Data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AE24-169D-4BF7-A891-9F688AB8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2613"/>
            <a:ext cx="8915400" cy="4218609"/>
          </a:xfrm>
        </p:spPr>
        <p:txBody>
          <a:bodyPr/>
          <a:lstStyle/>
          <a:p>
            <a:endParaRPr lang="en-US" dirty="0"/>
          </a:p>
          <a:p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FCAEE-6B93-4FC4-90B6-C3D83ABF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  <p:pic>
        <p:nvPicPr>
          <p:cNvPr id="7" name="Content Placeholder 4" descr="4812614014.eps">
            <a:extLst>
              <a:ext uri="{FF2B5EF4-FFF2-40B4-BE49-F238E27FC236}">
                <a16:creationId xmlns:a16="http://schemas.microsoft.com/office/drawing/2014/main" id="{187CD680-8E13-4788-B6AD-B7D7C5F289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461" t="82843" r="-23882" b="-7948"/>
          <a:stretch/>
        </p:blipFill>
        <p:spPr>
          <a:xfrm>
            <a:off x="1485356" y="2115974"/>
            <a:ext cx="9497311" cy="168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309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158F-9EA9-4B58-828B-D0A0B6522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56269"/>
            <a:ext cx="10515600" cy="858294"/>
          </a:xfrm>
        </p:spPr>
        <p:txBody>
          <a:bodyPr>
            <a:normAutofit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45AE7-D4D1-4E67-BB55-431F17856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48681"/>
            <a:ext cx="10515600" cy="3976461"/>
          </a:xfrm>
        </p:spPr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MySQL is a database system used on the web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MySQL is a database system that runs on a server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MySQL is ideal for both small and large applications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MySQL is very fast, reliable, and easy to use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MySQL uses SQL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MySQL compiles on a number of platforms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MySQL is free to download and use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MySQL is developed, distributed, and supported by Oracle Corporation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93510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BD62F-B046-45F7-AF4B-49A235B0D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96" y="272825"/>
            <a:ext cx="8911687" cy="605582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Database APIs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05F7-E512-4314-95B7-44D7E3305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1" y="1094254"/>
            <a:ext cx="11475132" cy="4609860"/>
          </a:xfrm>
        </p:spPr>
        <p:txBody>
          <a:bodyPr>
            <a:normAutofit/>
          </a:bodyPr>
          <a:lstStyle/>
          <a:p>
            <a:r>
              <a:rPr lang="en-US" sz="3200" dirty="0"/>
              <a:t>PHP 5 and later work with MySQL database using</a:t>
            </a:r>
          </a:p>
          <a:p>
            <a:pPr lvl="1"/>
            <a:r>
              <a:rPr lang="en-US" sz="3200" dirty="0" err="1"/>
              <a:t>MySQLi</a:t>
            </a:r>
            <a:r>
              <a:rPr lang="en-US" sz="3200" dirty="0"/>
              <a:t> extension </a:t>
            </a:r>
          </a:p>
          <a:p>
            <a:pPr lvl="1"/>
            <a:r>
              <a:rPr lang="en-US" sz="3200" dirty="0"/>
              <a:t>PHP Data Objects (PDO)</a:t>
            </a:r>
          </a:p>
          <a:p>
            <a:r>
              <a:rPr lang="en-US" sz="3200" dirty="0"/>
              <a:t>We will be using </a:t>
            </a:r>
            <a:r>
              <a:rPr lang="en-US" sz="3200" dirty="0" err="1"/>
              <a:t>MYSQLi</a:t>
            </a:r>
            <a:r>
              <a:rPr lang="en-US" sz="3200" dirty="0"/>
              <a:t> extension</a:t>
            </a:r>
          </a:p>
          <a:p>
            <a:pPr lvl="1"/>
            <a:r>
              <a:rPr lang="en-US" sz="3200" dirty="0"/>
              <a:t>This extension provides  both a procedural and an object-oriented approach. </a:t>
            </a:r>
          </a:p>
          <a:p>
            <a:pPr lvl="1"/>
            <a:r>
              <a:rPr lang="en-US" sz="3200" dirty="0"/>
              <a:t>We will use the procedural approach.</a:t>
            </a:r>
          </a:p>
          <a:p>
            <a:pPr lvl="1"/>
            <a:r>
              <a:rPr lang="en-US" sz="3200" dirty="0"/>
              <a:t>This extension also supports most of the latest features of MySQL.</a:t>
            </a:r>
          </a:p>
          <a:p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02F35-111A-4CBF-AC4E-B4372423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94187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2DFB-96BD-4756-BEB3-2F4F1303F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1" y="365126"/>
            <a:ext cx="10515600" cy="298904"/>
          </a:xfrm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phpMyAdmin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296585-3A62-4874-B0CF-61E385816A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3349" y="1909826"/>
            <a:ext cx="8145302" cy="321049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4122D-B9BA-4C5F-A3A8-E69283538B72}"/>
              </a:ext>
            </a:extLst>
          </p:cNvPr>
          <p:cNvSpPr txBox="1"/>
          <p:nvPr/>
        </p:nvSpPr>
        <p:spPr>
          <a:xfrm>
            <a:off x="326571" y="1206616"/>
            <a:ext cx="92528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dirty="0">
                <a:effectLst/>
              </a:rPr>
              <a:t>phpMyAdmin is a free and open-source administration tool for MySQL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2200347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066A-6C85-4042-B045-A46A2E65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96" y="275768"/>
            <a:ext cx="8911687" cy="79612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Connecting to Server (</a:t>
            </a:r>
            <a:r>
              <a:rPr lang="en-US" sz="4000" dirty="0" err="1">
                <a:solidFill>
                  <a:schemeClr val="accent2">
                    <a:lumMod val="50000"/>
                  </a:schemeClr>
                </a:solidFill>
              </a:rPr>
              <a:t>MySqli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 Procedural)</a:t>
            </a:r>
            <a:endParaRPr lang="en-AU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AA763-A55E-45CA-BE1D-DF43716EF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Fundamentals of Web Development - 2nd Ed. (Randy Connolly and Ricardo Hoar)</a:t>
            </a:r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38D8C-BF48-4AAA-8149-CC03458D3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55" y="1352619"/>
            <a:ext cx="9557656" cy="425352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AU" dirty="0"/>
              <a:t>&lt;?php</a:t>
            </a:r>
          </a:p>
          <a:p>
            <a:pPr marL="0" indent="0">
              <a:buNone/>
            </a:pPr>
            <a:r>
              <a:rPr lang="en-AU" dirty="0"/>
              <a:t>$</a:t>
            </a:r>
            <a:r>
              <a:rPr lang="en-AU" dirty="0" err="1"/>
              <a:t>servername</a:t>
            </a:r>
            <a:r>
              <a:rPr lang="en-AU" dirty="0"/>
              <a:t> = "localhost";</a:t>
            </a:r>
          </a:p>
          <a:p>
            <a:pPr marL="0" indent="0">
              <a:buNone/>
            </a:pPr>
            <a:r>
              <a:rPr lang="en-AU" dirty="0"/>
              <a:t>$username = "root";</a:t>
            </a:r>
          </a:p>
          <a:p>
            <a:pPr marL="0" indent="0">
              <a:buNone/>
            </a:pPr>
            <a:r>
              <a:rPr lang="en-AU" dirty="0"/>
              <a:t>$password = "";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// Create connection</a:t>
            </a:r>
          </a:p>
          <a:p>
            <a:pPr marL="0" indent="0">
              <a:buNone/>
            </a:pPr>
            <a:r>
              <a:rPr lang="en-AU" dirty="0"/>
              <a:t>$conn = mysqli_connect($</a:t>
            </a:r>
            <a:r>
              <a:rPr lang="en-AU" dirty="0" err="1"/>
              <a:t>servername</a:t>
            </a:r>
            <a:r>
              <a:rPr lang="en-AU" dirty="0"/>
              <a:t>, $username, $password);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// Check connection</a:t>
            </a:r>
          </a:p>
          <a:p>
            <a:pPr marL="0" indent="0">
              <a:buNone/>
            </a:pPr>
            <a:r>
              <a:rPr lang="en-AU" dirty="0"/>
              <a:t>if (!$conn) {</a:t>
            </a:r>
          </a:p>
          <a:p>
            <a:pPr marL="0" indent="0">
              <a:buNone/>
            </a:pPr>
            <a:r>
              <a:rPr lang="en-AU" dirty="0"/>
              <a:t>  die("Connection failed: " . </a:t>
            </a:r>
            <a:r>
              <a:rPr lang="en-AU" dirty="0" err="1"/>
              <a:t>mysqli_connect_error</a:t>
            </a:r>
            <a:r>
              <a:rPr lang="en-AU" dirty="0"/>
              <a:t>());</a:t>
            </a:r>
          </a:p>
          <a:p>
            <a:pPr marL="0" indent="0">
              <a:buNone/>
            </a:pPr>
            <a:r>
              <a:rPr lang="en-AU" dirty="0"/>
              <a:t>}</a:t>
            </a:r>
          </a:p>
          <a:p>
            <a:pPr marL="0" indent="0">
              <a:buNone/>
            </a:pPr>
            <a:r>
              <a:rPr lang="en-AU" dirty="0"/>
              <a:t>echo "Connected successfully";</a:t>
            </a:r>
          </a:p>
          <a:p>
            <a:pPr marL="0" indent="0">
              <a:buNone/>
            </a:pPr>
            <a:r>
              <a:rPr lang="en-AU" dirty="0"/>
              <a:t>?&gt;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71219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51249-C379-49CD-BD51-63853B3EB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1" y="408669"/>
            <a:ext cx="10515600" cy="581932"/>
          </a:xfrm>
        </p:spPr>
        <p:txBody>
          <a:bodyPr>
            <a:noAutofit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Create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FDA59-C3ED-4213-A417-A8D91BEC6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159" y="1263114"/>
            <a:ext cx="4631042" cy="34943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400" dirty="0"/>
              <a:t>&lt;?</a:t>
            </a:r>
            <a:r>
              <a:rPr lang="en-AU" sz="2400" dirty="0" err="1"/>
              <a:t>php</a:t>
            </a:r>
            <a:endParaRPr lang="en-AU" sz="2400" dirty="0"/>
          </a:p>
          <a:p>
            <a:pPr marL="0" indent="0">
              <a:buNone/>
            </a:pPr>
            <a:r>
              <a:rPr lang="en-AU" sz="2400" dirty="0"/>
              <a:t>$</a:t>
            </a:r>
            <a:r>
              <a:rPr lang="en-AU" sz="2400" dirty="0" err="1"/>
              <a:t>servername</a:t>
            </a:r>
            <a:r>
              <a:rPr lang="en-AU" sz="2400" dirty="0"/>
              <a:t> = "localhost";</a:t>
            </a:r>
          </a:p>
          <a:p>
            <a:pPr marL="0" indent="0">
              <a:buNone/>
            </a:pPr>
            <a:r>
              <a:rPr lang="en-AU" sz="2400" dirty="0"/>
              <a:t>$username = "root";</a:t>
            </a:r>
          </a:p>
          <a:p>
            <a:pPr marL="0" indent="0">
              <a:buNone/>
            </a:pPr>
            <a:r>
              <a:rPr lang="en-AU" sz="2400" dirty="0"/>
              <a:t>$password = "”;</a:t>
            </a:r>
          </a:p>
          <a:p>
            <a:pPr marL="0" indent="0">
              <a:buNone/>
            </a:pPr>
            <a:r>
              <a:rPr lang="en-AU" sz="2400" dirty="0"/>
              <a:t>$</a:t>
            </a:r>
            <a:r>
              <a:rPr lang="en-AU" sz="2400" dirty="0" err="1"/>
              <a:t>dbname</a:t>
            </a:r>
            <a:r>
              <a:rPr lang="en-AU" sz="2400" dirty="0"/>
              <a:t> = “</a:t>
            </a:r>
            <a:r>
              <a:rPr lang="en-AU" sz="2400" dirty="0" err="1"/>
              <a:t>myDB</a:t>
            </a:r>
            <a:r>
              <a:rPr lang="en-AU" sz="2400" dirty="0"/>
              <a:t>”;</a:t>
            </a:r>
          </a:p>
          <a:p>
            <a:pPr marL="0" indent="0">
              <a:buNone/>
            </a:pPr>
            <a:r>
              <a:rPr lang="en-AU" sz="2400" dirty="0"/>
              <a:t>// Create connection</a:t>
            </a:r>
          </a:p>
          <a:p>
            <a:pPr marL="0" indent="0">
              <a:buNone/>
            </a:pPr>
            <a:r>
              <a:rPr lang="en-AU" sz="2400" dirty="0"/>
              <a:t>$conn = </a:t>
            </a:r>
            <a:r>
              <a:rPr lang="en-AU" sz="2400" dirty="0" err="1"/>
              <a:t>mysqli_connect</a:t>
            </a:r>
            <a:r>
              <a:rPr lang="en-AU" sz="2400" dirty="0"/>
              <a:t>($</a:t>
            </a:r>
            <a:r>
              <a:rPr lang="en-AU" sz="2400" dirty="0" err="1"/>
              <a:t>servername</a:t>
            </a:r>
            <a:r>
              <a:rPr lang="en-AU" sz="2400" dirty="0"/>
              <a:t>, $username, $password, $</a:t>
            </a:r>
            <a:r>
              <a:rPr lang="en-AU" sz="2400" dirty="0" err="1"/>
              <a:t>dbname</a:t>
            </a:r>
            <a:r>
              <a:rPr lang="en-AU" sz="2400" dirty="0"/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37EF8-983D-A6EA-948E-1FAEF5985B9B}"/>
              </a:ext>
            </a:extLst>
          </p:cNvPr>
          <p:cNvSpPr txBox="1"/>
          <p:nvPr/>
        </p:nvSpPr>
        <p:spPr>
          <a:xfrm>
            <a:off x="5377912" y="1263114"/>
            <a:ext cx="58351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dirty="0"/>
              <a:t>//Create database</a:t>
            </a:r>
          </a:p>
          <a:p>
            <a:pPr marL="0" indent="0">
              <a:buNone/>
            </a:pPr>
            <a:r>
              <a:rPr lang="en-AU" dirty="0"/>
              <a:t>$</a:t>
            </a:r>
            <a:r>
              <a:rPr lang="en-AU" dirty="0" err="1"/>
              <a:t>sql</a:t>
            </a:r>
            <a:r>
              <a:rPr lang="en-AU" dirty="0"/>
              <a:t> = "CREATE DATABASE </a:t>
            </a:r>
            <a:r>
              <a:rPr lang="en-AU" dirty="0" err="1"/>
              <a:t>myDB</a:t>
            </a:r>
            <a:r>
              <a:rPr lang="en-AU" dirty="0"/>
              <a:t>";</a:t>
            </a:r>
          </a:p>
          <a:p>
            <a:pPr marL="0" indent="0">
              <a:buNone/>
            </a:pPr>
            <a:r>
              <a:rPr lang="en-AU" dirty="0"/>
              <a:t>if (</a:t>
            </a:r>
            <a:r>
              <a:rPr lang="en-AU" dirty="0" err="1"/>
              <a:t>mysqli_query</a:t>
            </a:r>
            <a:r>
              <a:rPr lang="en-AU" dirty="0"/>
              <a:t>($conn, $</a:t>
            </a:r>
            <a:r>
              <a:rPr lang="en-AU" dirty="0" err="1"/>
              <a:t>sql</a:t>
            </a:r>
            <a:r>
              <a:rPr lang="en-AU" dirty="0"/>
              <a:t>)) {</a:t>
            </a:r>
          </a:p>
          <a:p>
            <a:pPr marL="0" indent="0">
              <a:buNone/>
            </a:pPr>
            <a:r>
              <a:rPr lang="en-AU" dirty="0"/>
              <a:t>  echo "Database created successfully";</a:t>
            </a:r>
          </a:p>
          <a:p>
            <a:pPr marL="0" indent="0">
              <a:buNone/>
            </a:pPr>
            <a:r>
              <a:rPr lang="en-AU" dirty="0"/>
              <a:t>} else {</a:t>
            </a:r>
          </a:p>
          <a:p>
            <a:pPr marL="0" indent="0">
              <a:buNone/>
            </a:pPr>
            <a:r>
              <a:rPr lang="en-AU" dirty="0"/>
              <a:t>  echo "Error creating database: " . </a:t>
            </a:r>
            <a:r>
              <a:rPr lang="en-AU" dirty="0" err="1"/>
              <a:t>mysqli_error</a:t>
            </a:r>
            <a:r>
              <a:rPr lang="en-AU" dirty="0"/>
              <a:t>($conn);</a:t>
            </a:r>
          </a:p>
          <a:p>
            <a:pPr marL="0" indent="0">
              <a:buNone/>
            </a:pPr>
            <a:r>
              <a:rPr lang="en-AU" dirty="0"/>
              <a:t>}</a:t>
            </a:r>
          </a:p>
          <a:p>
            <a:pPr marL="0" indent="0">
              <a:buNone/>
            </a:pPr>
            <a:r>
              <a:rPr lang="en-AU" dirty="0" err="1"/>
              <a:t>mysqli_close</a:t>
            </a:r>
            <a:r>
              <a:rPr lang="en-AU" dirty="0"/>
              <a:t>($conn);</a:t>
            </a:r>
          </a:p>
          <a:p>
            <a:pPr marL="0" indent="0">
              <a:buNone/>
            </a:pPr>
            <a:r>
              <a:rPr lang="en-AU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7722138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822E9-EDE7-4721-A6B2-C0316CCB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8630"/>
            <a:ext cx="10515600" cy="679904"/>
          </a:xfrm>
        </p:spPr>
        <p:txBody>
          <a:bodyPr>
            <a:normAutofit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Create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06A9A-AFB0-47CF-A776-E40634DB1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1075810"/>
            <a:ext cx="5769429" cy="45388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800" dirty="0"/>
              <a:t>&lt;?php</a:t>
            </a:r>
          </a:p>
          <a:p>
            <a:pPr marL="0" indent="0">
              <a:buNone/>
            </a:pPr>
            <a:r>
              <a:rPr lang="en-AU" sz="1800" dirty="0"/>
              <a:t>$</a:t>
            </a:r>
            <a:r>
              <a:rPr lang="en-AU" sz="1800" dirty="0" err="1"/>
              <a:t>servername</a:t>
            </a:r>
            <a:r>
              <a:rPr lang="en-AU" sz="1800" dirty="0"/>
              <a:t> = "localhost";</a:t>
            </a:r>
          </a:p>
          <a:p>
            <a:pPr marL="0" indent="0">
              <a:buNone/>
            </a:pPr>
            <a:r>
              <a:rPr lang="en-AU" sz="1800" dirty="0"/>
              <a:t>$username = "root";</a:t>
            </a:r>
          </a:p>
          <a:p>
            <a:pPr marL="0" indent="0">
              <a:buNone/>
            </a:pPr>
            <a:r>
              <a:rPr lang="en-AU" sz="1800" dirty="0"/>
              <a:t>$password = "";</a:t>
            </a:r>
          </a:p>
          <a:p>
            <a:pPr marL="0" indent="0">
              <a:buNone/>
            </a:pPr>
            <a:r>
              <a:rPr lang="en-AU" sz="1800" dirty="0"/>
              <a:t>$</a:t>
            </a:r>
            <a:r>
              <a:rPr lang="en-AU" sz="1800" dirty="0" err="1"/>
              <a:t>dbname</a:t>
            </a:r>
            <a:r>
              <a:rPr lang="en-AU" sz="1800" dirty="0"/>
              <a:t> = "</a:t>
            </a:r>
            <a:r>
              <a:rPr lang="en-AU" sz="1800" dirty="0" err="1"/>
              <a:t>myDB</a:t>
            </a:r>
            <a:r>
              <a:rPr lang="en-AU" sz="1800" dirty="0"/>
              <a:t>";</a:t>
            </a:r>
          </a:p>
          <a:p>
            <a:pPr marL="0" indent="0">
              <a:buNone/>
            </a:pPr>
            <a:r>
              <a:rPr lang="en-AU" sz="1800" dirty="0"/>
              <a:t>// Create connection</a:t>
            </a:r>
          </a:p>
          <a:p>
            <a:pPr marL="0" indent="0">
              <a:buNone/>
            </a:pPr>
            <a:r>
              <a:rPr lang="en-AU" sz="1800" dirty="0"/>
              <a:t>$conn = </a:t>
            </a:r>
            <a:r>
              <a:rPr lang="en-AU" sz="1800" dirty="0" err="1"/>
              <a:t>mysqli_connect</a:t>
            </a:r>
            <a:r>
              <a:rPr lang="en-AU" sz="1800" dirty="0"/>
              <a:t>($</a:t>
            </a:r>
            <a:r>
              <a:rPr lang="en-AU" sz="1800" dirty="0" err="1"/>
              <a:t>servername</a:t>
            </a:r>
            <a:r>
              <a:rPr lang="en-AU" sz="1800" dirty="0"/>
              <a:t>, $username, $password, $</a:t>
            </a:r>
            <a:r>
              <a:rPr lang="en-AU" sz="1800" dirty="0" err="1"/>
              <a:t>dbname</a:t>
            </a:r>
            <a:r>
              <a:rPr lang="en-AU" sz="1800" dirty="0"/>
              <a:t>);</a:t>
            </a:r>
          </a:p>
          <a:p>
            <a:pPr marL="0" indent="0">
              <a:buNone/>
            </a:pPr>
            <a:r>
              <a:rPr lang="en-AU" sz="1800" dirty="0"/>
              <a:t>// Check connection</a:t>
            </a:r>
          </a:p>
          <a:p>
            <a:pPr marL="0" indent="0">
              <a:buNone/>
            </a:pPr>
            <a:r>
              <a:rPr lang="en-AU" sz="1800" dirty="0"/>
              <a:t>if (!$conn) {</a:t>
            </a:r>
          </a:p>
          <a:p>
            <a:pPr marL="0" indent="0">
              <a:buNone/>
            </a:pPr>
            <a:r>
              <a:rPr lang="en-AU" sz="1800" dirty="0"/>
              <a:t>  die("Connection failed: " . </a:t>
            </a:r>
            <a:r>
              <a:rPr lang="en-AU" sz="1800" dirty="0" err="1"/>
              <a:t>mysqli_connect_error</a:t>
            </a:r>
            <a:r>
              <a:rPr lang="en-AU" sz="1800" dirty="0"/>
              <a:t>());</a:t>
            </a:r>
          </a:p>
          <a:p>
            <a:pPr marL="0" indent="0">
              <a:buNone/>
            </a:pPr>
            <a:r>
              <a:rPr lang="en-AU" sz="1800" dirty="0"/>
              <a:t>}</a:t>
            </a:r>
          </a:p>
          <a:p>
            <a:pPr marL="0" indent="0">
              <a:buNone/>
            </a:pPr>
            <a:endParaRPr lang="en-AU" sz="1800" dirty="0"/>
          </a:p>
          <a:p>
            <a:pPr marL="0" indent="0">
              <a:buNone/>
            </a:pPr>
            <a:endParaRPr lang="en-AU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E1831-E35F-4E34-99D0-EDA077A210E6}"/>
              </a:ext>
            </a:extLst>
          </p:cNvPr>
          <p:cNvSpPr txBox="1"/>
          <p:nvPr/>
        </p:nvSpPr>
        <p:spPr>
          <a:xfrm>
            <a:off x="6324600" y="805544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sz="1800" dirty="0"/>
              <a:t>// </a:t>
            </a:r>
            <a:r>
              <a:rPr lang="en-AU" sz="1800" dirty="0" err="1"/>
              <a:t>sql</a:t>
            </a:r>
            <a:r>
              <a:rPr lang="en-AU" sz="1800" dirty="0"/>
              <a:t> to create table</a:t>
            </a:r>
          </a:p>
          <a:p>
            <a:pPr marL="0" indent="0">
              <a:buNone/>
            </a:pPr>
            <a:r>
              <a:rPr lang="en-AU" sz="1800" dirty="0"/>
              <a:t>$</a:t>
            </a:r>
            <a:r>
              <a:rPr lang="en-AU" sz="1800" dirty="0" err="1"/>
              <a:t>sql</a:t>
            </a:r>
            <a:r>
              <a:rPr lang="en-AU" sz="1800" dirty="0"/>
              <a:t> = "CREATE TABLE </a:t>
            </a:r>
            <a:r>
              <a:rPr lang="en-AU" sz="1800" dirty="0" err="1"/>
              <a:t>MyGuests</a:t>
            </a:r>
            <a:r>
              <a:rPr lang="en-AU" sz="1800" dirty="0"/>
              <a:t> (</a:t>
            </a:r>
          </a:p>
          <a:p>
            <a:pPr marL="0" indent="0">
              <a:buNone/>
            </a:pPr>
            <a:r>
              <a:rPr lang="en-AU" sz="1800" dirty="0"/>
              <a:t>id INT(6) UNSIGNED AUTO_INCREMENT PRIMARY KEY,</a:t>
            </a:r>
          </a:p>
          <a:p>
            <a:pPr marL="0" indent="0">
              <a:buNone/>
            </a:pPr>
            <a:r>
              <a:rPr lang="en-AU" sz="1800" dirty="0" err="1"/>
              <a:t>firstname</a:t>
            </a:r>
            <a:r>
              <a:rPr lang="en-AU" sz="1800" dirty="0"/>
              <a:t> VARCHAR(30) NOT NULL,</a:t>
            </a:r>
          </a:p>
          <a:p>
            <a:pPr marL="0" indent="0">
              <a:buNone/>
            </a:pPr>
            <a:r>
              <a:rPr lang="en-AU" sz="1800" dirty="0" err="1"/>
              <a:t>lastname</a:t>
            </a:r>
            <a:r>
              <a:rPr lang="en-AU" sz="1800" dirty="0"/>
              <a:t> VARCHAR(30) NOT NULL,</a:t>
            </a:r>
          </a:p>
          <a:p>
            <a:pPr marL="0" indent="0">
              <a:buNone/>
            </a:pPr>
            <a:r>
              <a:rPr lang="en-AU" sz="1800" dirty="0"/>
              <a:t>email VARCHAR(50),</a:t>
            </a:r>
          </a:p>
          <a:p>
            <a:pPr marL="0" indent="0">
              <a:buNone/>
            </a:pPr>
            <a:r>
              <a:rPr lang="en-AU" sz="1800" dirty="0" err="1"/>
              <a:t>reg_date</a:t>
            </a:r>
            <a:r>
              <a:rPr lang="en-AU" sz="1800" dirty="0"/>
              <a:t> TIMESTAMP DEFAULT CURRENT_TIMESTAMP ON UPDATE CURRENT_TIMESTAMP</a:t>
            </a:r>
          </a:p>
          <a:p>
            <a:pPr marL="0" indent="0">
              <a:buNone/>
            </a:pPr>
            <a:r>
              <a:rPr lang="en-AU" sz="1800" dirty="0"/>
              <a:t>)";</a:t>
            </a:r>
          </a:p>
          <a:p>
            <a:pPr marL="0" indent="0">
              <a:buNone/>
            </a:pPr>
            <a:endParaRPr lang="en-AU" sz="1800" dirty="0"/>
          </a:p>
          <a:p>
            <a:pPr marL="0" indent="0">
              <a:buNone/>
            </a:pPr>
            <a:r>
              <a:rPr lang="en-AU" sz="1800" dirty="0"/>
              <a:t>if (</a:t>
            </a:r>
            <a:r>
              <a:rPr lang="en-AU" sz="1800" dirty="0" err="1"/>
              <a:t>mysqli_query</a:t>
            </a:r>
            <a:r>
              <a:rPr lang="en-AU" sz="1800" dirty="0"/>
              <a:t>($conn, $</a:t>
            </a:r>
            <a:r>
              <a:rPr lang="en-AU" sz="1800" dirty="0" err="1"/>
              <a:t>sql</a:t>
            </a:r>
            <a:r>
              <a:rPr lang="en-AU" sz="1800" dirty="0"/>
              <a:t>)) {</a:t>
            </a:r>
          </a:p>
          <a:p>
            <a:pPr marL="0" indent="0">
              <a:buNone/>
            </a:pPr>
            <a:r>
              <a:rPr lang="en-AU" sz="1800" dirty="0"/>
              <a:t>  echo "Table </a:t>
            </a:r>
            <a:r>
              <a:rPr lang="en-AU" sz="1800" dirty="0" err="1"/>
              <a:t>MyGuests</a:t>
            </a:r>
            <a:r>
              <a:rPr lang="en-AU" sz="1800" dirty="0"/>
              <a:t> created successfully";</a:t>
            </a:r>
          </a:p>
          <a:p>
            <a:pPr marL="0" indent="0">
              <a:buNone/>
            </a:pPr>
            <a:r>
              <a:rPr lang="en-AU" sz="1800" dirty="0"/>
              <a:t>} else {</a:t>
            </a:r>
          </a:p>
          <a:p>
            <a:pPr marL="0" indent="0">
              <a:buNone/>
            </a:pPr>
            <a:r>
              <a:rPr lang="en-AU" sz="1800" dirty="0"/>
              <a:t>  echo "Error creating table: " . </a:t>
            </a:r>
            <a:r>
              <a:rPr lang="en-AU" sz="1800" dirty="0" err="1"/>
              <a:t>mysqli_error</a:t>
            </a:r>
            <a:r>
              <a:rPr lang="en-AU" sz="1800" dirty="0"/>
              <a:t>($conn);</a:t>
            </a:r>
          </a:p>
          <a:p>
            <a:pPr marL="0" indent="0">
              <a:buNone/>
            </a:pPr>
            <a:r>
              <a:rPr lang="en-AU" sz="1800" dirty="0"/>
              <a:t>}</a:t>
            </a:r>
          </a:p>
          <a:p>
            <a:pPr marL="0" indent="0">
              <a:buNone/>
            </a:pPr>
            <a:endParaRPr lang="en-AU" sz="1800" dirty="0"/>
          </a:p>
          <a:p>
            <a:pPr marL="0" indent="0">
              <a:buNone/>
            </a:pPr>
            <a:r>
              <a:rPr lang="en-AU" sz="1800" dirty="0" err="1"/>
              <a:t>mysqli_close</a:t>
            </a:r>
            <a:r>
              <a:rPr lang="en-AU" sz="1800" dirty="0"/>
              <a:t>($conn);</a:t>
            </a:r>
          </a:p>
          <a:p>
            <a:pPr marL="0" indent="0">
              <a:buNone/>
            </a:pPr>
            <a:r>
              <a:rPr lang="en-AU" sz="1800" dirty="0"/>
              <a:t>?&gt;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4536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0515-ED45-438D-8376-B4325B83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8" y="278041"/>
            <a:ext cx="10515600" cy="669018"/>
          </a:xfrm>
        </p:spPr>
        <p:txBody>
          <a:bodyPr/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Create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16648-622C-40AE-984A-A25D032A9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1208314"/>
            <a:ext cx="11364686" cy="4441372"/>
          </a:xfrm>
        </p:spPr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The data type specifies what type of data the column can hold. 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After the data type, you can specify other optional attributes for each column:</a:t>
            </a:r>
          </a:p>
          <a:p>
            <a:pPr lvl="1"/>
            <a:r>
              <a:rPr lang="en-US" sz="2600" b="0" i="0" dirty="0">
                <a:solidFill>
                  <a:srgbClr val="000000"/>
                </a:solidFill>
                <a:effectLst/>
              </a:rPr>
              <a:t>NOT NULL - Each row must contain a value for that column, null values are not allowed</a:t>
            </a:r>
          </a:p>
          <a:p>
            <a:pPr lvl="1"/>
            <a:r>
              <a:rPr lang="en-US" sz="2600" b="0" i="0" dirty="0">
                <a:solidFill>
                  <a:srgbClr val="000000"/>
                </a:solidFill>
                <a:effectLst/>
              </a:rPr>
              <a:t>DEFAULT value - Set a default value that is added when no other value is passed</a:t>
            </a:r>
          </a:p>
          <a:p>
            <a:pPr lvl="1"/>
            <a:r>
              <a:rPr lang="en-US" sz="2600" b="0" i="0" dirty="0">
                <a:solidFill>
                  <a:srgbClr val="000000"/>
                </a:solidFill>
                <a:effectLst/>
              </a:rPr>
              <a:t>UNSIGNED - Used for number types, limits the stored data to positive numbers and zero</a:t>
            </a:r>
          </a:p>
          <a:p>
            <a:pPr lvl="1"/>
            <a:r>
              <a:rPr lang="en-US" sz="2600" b="0" i="0" dirty="0">
                <a:solidFill>
                  <a:srgbClr val="000000"/>
                </a:solidFill>
                <a:effectLst/>
              </a:rPr>
              <a:t>AUTO INCREMENT - MySQL automatically increases the value of the field by 1 each time a new record is added</a:t>
            </a:r>
          </a:p>
          <a:p>
            <a:pPr lvl="1"/>
            <a:r>
              <a:rPr lang="en-US" sz="2600" b="0" i="0" dirty="0">
                <a:solidFill>
                  <a:srgbClr val="000000"/>
                </a:solidFill>
                <a:effectLst/>
              </a:rPr>
              <a:t>PRIMARY KEY - Used to uniquely identify the rows in a table. The column with PRIMARY KEY setting is often an ID number, and is often used with AUTO_INCREMENT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69176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3EF7-560C-4C29-B2A4-60F5ECEB0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321582"/>
            <a:ext cx="10515600" cy="549275"/>
          </a:xfrm>
        </p:spPr>
        <p:txBody>
          <a:bodyPr>
            <a:noAutofit/>
          </a:bodyPr>
          <a:lstStyle/>
          <a:p>
            <a:br>
              <a:rPr lang="en-US" sz="40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Insert Data Into MySQL Using </a:t>
            </a:r>
            <a:r>
              <a:rPr lang="en-US" sz="4000" dirty="0" err="1">
                <a:solidFill>
                  <a:schemeClr val="accent2">
                    <a:lumMod val="50000"/>
                  </a:schemeClr>
                </a:solidFill>
              </a:rPr>
              <a:t>MySQLi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12F86-585E-4977-AC64-517BDCC4E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6" y="1205140"/>
            <a:ext cx="11571515" cy="4139746"/>
          </a:xfrm>
        </p:spPr>
        <p:txBody>
          <a:bodyPr/>
          <a:lstStyle/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</a:rPr>
              <a:t>After a database and a table have been created, we can start adding data in them.</a:t>
            </a:r>
          </a:p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</a:rPr>
              <a:t>Here are some syntax rules to follow:</a:t>
            </a:r>
          </a:p>
          <a:p>
            <a:pPr lvl="1"/>
            <a:r>
              <a:rPr lang="en-US" sz="3200" b="0" i="0" dirty="0">
                <a:solidFill>
                  <a:srgbClr val="000000"/>
                </a:solidFill>
                <a:effectLst/>
              </a:rPr>
              <a:t>The SQL query must be quoted in PHP</a:t>
            </a:r>
          </a:p>
          <a:p>
            <a:pPr lvl="1"/>
            <a:r>
              <a:rPr lang="en-US" sz="3200" b="0" i="0" dirty="0">
                <a:solidFill>
                  <a:srgbClr val="000000"/>
                </a:solidFill>
                <a:effectLst/>
              </a:rPr>
              <a:t>String values inside the SQL query must be quoted</a:t>
            </a:r>
          </a:p>
          <a:p>
            <a:pPr lvl="1"/>
            <a:r>
              <a:rPr lang="en-US" sz="3200" b="0" i="0" dirty="0">
                <a:solidFill>
                  <a:srgbClr val="000000"/>
                </a:solidFill>
                <a:effectLst/>
              </a:rPr>
              <a:t>Numeric values must not be quoted</a:t>
            </a:r>
          </a:p>
          <a:p>
            <a:pPr lvl="1"/>
            <a:r>
              <a:rPr lang="en-US" sz="3200" b="0" i="0" dirty="0">
                <a:solidFill>
                  <a:srgbClr val="000000"/>
                </a:solidFill>
                <a:effectLst/>
              </a:rPr>
              <a:t>The word NULL must not be quoted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29793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D2A96-9B19-4E10-B959-E43F7A9B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accent2">
                    <a:lumMod val="50000"/>
                  </a:schemeClr>
                </a:solidFill>
              </a:rPr>
              <a:t>Insert Data Into Table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79F77-3AB4-4F4A-98B0-68A121E62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433739"/>
            <a:ext cx="11451771" cy="3998232"/>
          </a:xfrm>
        </p:spPr>
        <p:txBody>
          <a:bodyPr/>
          <a:lstStyle/>
          <a:p>
            <a:r>
              <a:rPr lang="en-US" dirty="0"/>
              <a:t>The INSERT INTO statement is used to add new records to a MySQL table:</a:t>
            </a:r>
          </a:p>
          <a:p>
            <a:endParaRPr lang="en-US" dirty="0"/>
          </a:p>
          <a:p>
            <a:r>
              <a:rPr lang="en-US" dirty="0"/>
              <a:t>INSERT INTO </a:t>
            </a:r>
            <a:r>
              <a:rPr lang="en-US" dirty="0" err="1"/>
              <a:t>table_name</a:t>
            </a:r>
            <a:r>
              <a:rPr lang="en-US" dirty="0"/>
              <a:t> (column1, column2, column3,...)</a:t>
            </a:r>
          </a:p>
          <a:p>
            <a:pPr marL="0" indent="0">
              <a:buNone/>
            </a:pPr>
            <a:r>
              <a:rPr lang="en-US" dirty="0"/>
              <a:t>   VALUES (value1, value2, value3,...)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40250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FA1F-ACDF-45A7-B200-AA72F0F4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2" y="212725"/>
            <a:ext cx="10515600" cy="614589"/>
          </a:xfrm>
        </p:spPr>
        <p:txBody>
          <a:bodyPr>
            <a:normAutofit fontScale="90000"/>
          </a:bodyPr>
          <a:lstStyle/>
          <a:p>
            <a:br>
              <a:rPr lang="en-US" sz="4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4400" dirty="0">
                <a:solidFill>
                  <a:schemeClr val="accent2">
                    <a:lumMod val="50000"/>
                  </a:schemeClr>
                </a:solidFill>
              </a:rPr>
              <a:t>Insert Data Into Table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D2E97-20FA-4B55-9322-1425F2B1C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057" y="840967"/>
            <a:ext cx="5770537" cy="355095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r>
              <a:rPr lang="en-AU" sz="2000" dirty="0"/>
              <a:t>$</a:t>
            </a:r>
            <a:r>
              <a:rPr lang="en-AU" sz="2000" dirty="0" err="1"/>
              <a:t>sql</a:t>
            </a:r>
            <a:r>
              <a:rPr lang="en-AU" sz="2000" dirty="0"/>
              <a:t> = "INSERT INTO </a:t>
            </a:r>
            <a:r>
              <a:rPr lang="en-AU" sz="2000" dirty="0" err="1"/>
              <a:t>MyGuests</a:t>
            </a:r>
            <a:r>
              <a:rPr lang="en-AU" sz="2000" dirty="0"/>
              <a:t> (</a:t>
            </a:r>
            <a:r>
              <a:rPr lang="en-AU" sz="2000" dirty="0" err="1"/>
              <a:t>firstname</a:t>
            </a:r>
            <a:r>
              <a:rPr lang="en-AU" sz="2000" dirty="0"/>
              <a:t>, </a:t>
            </a:r>
            <a:r>
              <a:rPr lang="en-AU" sz="2000" dirty="0" err="1"/>
              <a:t>lastname</a:t>
            </a:r>
            <a:r>
              <a:rPr lang="en-AU" sz="2000" dirty="0"/>
              <a:t>, email)</a:t>
            </a:r>
          </a:p>
          <a:p>
            <a:pPr marL="0" indent="0">
              <a:buNone/>
            </a:pPr>
            <a:r>
              <a:rPr lang="en-AU" sz="2000" dirty="0"/>
              <a:t>VALUES ('John', 'Doe', 'john@example.com')";</a:t>
            </a:r>
          </a:p>
          <a:p>
            <a:pPr marL="0" indent="0">
              <a:buNone/>
            </a:pPr>
            <a:r>
              <a:rPr lang="en-AU" sz="2000" dirty="0"/>
              <a:t>if (</a:t>
            </a:r>
            <a:r>
              <a:rPr lang="en-AU" sz="2000" dirty="0" err="1"/>
              <a:t>mysqli_query</a:t>
            </a:r>
            <a:r>
              <a:rPr lang="en-AU" sz="2000" dirty="0"/>
              <a:t>($conn, $</a:t>
            </a:r>
            <a:r>
              <a:rPr lang="en-AU" sz="2000" dirty="0" err="1"/>
              <a:t>sql</a:t>
            </a:r>
            <a:r>
              <a:rPr lang="en-AU" sz="2000" dirty="0"/>
              <a:t>)) {</a:t>
            </a:r>
          </a:p>
          <a:p>
            <a:pPr marL="0" indent="0">
              <a:buNone/>
            </a:pPr>
            <a:r>
              <a:rPr lang="en-AU" sz="2000" dirty="0"/>
              <a:t>  echo "New record created successfully";</a:t>
            </a:r>
          </a:p>
          <a:p>
            <a:pPr marL="0" indent="0">
              <a:buNone/>
            </a:pPr>
            <a:r>
              <a:rPr lang="en-AU" sz="2000" dirty="0"/>
              <a:t>} else {</a:t>
            </a:r>
          </a:p>
          <a:p>
            <a:pPr marL="0" indent="0">
              <a:buNone/>
            </a:pPr>
            <a:r>
              <a:rPr lang="en-AU" sz="2000" dirty="0"/>
              <a:t>  echo "Error: " . $</a:t>
            </a:r>
            <a:r>
              <a:rPr lang="en-AU" sz="2000" dirty="0" err="1"/>
              <a:t>sql</a:t>
            </a:r>
            <a:r>
              <a:rPr lang="en-AU" sz="2000" dirty="0"/>
              <a:t> . "&lt;</a:t>
            </a:r>
            <a:r>
              <a:rPr lang="en-AU" sz="2000" dirty="0" err="1"/>
              <a:t>br</a:t>
            </a:r>
            <a:r>
              <a:rPr lang="en-AU" sz="2000" dirty="0"/>
              <a:t>&gt;" . </a:t>
            </a:r>
            <a:r>
              <a:rPr lang="en-AU" sz="2000" dirty="0" err="1"/>
              <a:t>mysqli_error</a:t>
            </a:r>
            <a:r>
              <a:rPr lang="en-AU" sz="2000" dirty="0"/>
              <a:t>($conn);</a:t>
            </a:r>
          </a:p>
          <a:p>
            <a:pPr marL="0" indent="0">
              <a:buNone/>
            </a:pPr>
            <a:r>
              <a:rPr lang="en-AU" sz="2000" dirty="0"/>
              <a:t>}</a:t>
            </a:r>
          </a:p>
          <a:p>
            <a:pPr marL="0" indent="0">
              <a:buNone/>
            </a:pPr>
            <a:r>
              <a:rPr lang="en-AU" sz="2000" dirty="0" err="1"/>
              <a:t>mysqli_close</a:t>
            </a:r>
            <a:r>
              <a:rPr lang="en-AU" sz="2000" dirty="0"/>
              <a:t>($conn);</a:t>
            </a:r>
          </a:p>
          <a:p>
            <a:pPr marL="0" indent="0">
              <a:buNone/>
            </a:pPr>
            <a:r>
              <a:rPr lang="en-AU" sz="2000" dirty="0"/>
              <a:t>?&gt;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5EEAC8-4244-9CA6-DF62-1B78491CE96C}"/>
              </a:ext>
            </a:extLst>
          </p:cNvPr>
          <p:cNvSpPr txBox="1">
            <a:spLocks/>
          </p:cNvSpPr>
          <p:nvPr/>
        </p:nvSpPr>
        <p:spPr>
          <a:xfrm>
            <a:off x="398159" y="1263113"/>
            <a:ext cx="5405956" cy="4045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&lt;?</a:t>
            </a:r>
            <a:r>
              <a:rPr lang="en-AU" sz="2400" dirty="0" err="1"/>
              <a:t>php</a:t>
            </a:r>
            <a:endParaRPr lang="en-AU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$</a:t>
            </a:r>
            <a:r>
              <a:rPr lang="en-AU" sz="2400" dirty="0" err="1"/>
              <a:t>servername</a:t>
            </a:r>
            <a:r>
              <a:rPr lang="en-AU" sz="2400" dirty="0"/>
              <a:t> = "localhost";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$username = "root";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$password = "";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$</a:t>
            </a:r>
            <a:r>
              <a:rPr lang="en-AU" sz="2400" dirty="0" err="1"/>
              <a:t>dbname</a:t>
            </a:r>
            <a:r>
              <a:rPr lang="en-AU" sz="2400" dirty="0"/>
              <a:t> = "</a:t>
            </a:r>
            <a:r>
              <a:rPr lang="en-AU" sz="2400" dirty="0" err="1"/>
              <a:t>myDB</a:t>
            </a:r>
            <a:r>
              <a:rPr lang="en-AU" sz="2400" dirty="0"/>
              <a:t>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// Create connection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$conn = </a:t>
            </a:r>
            <a:r>
              <a:rPr lang="en-AU" sz="2400" dirty="0" err="1"/>
              <a:t>mysqli_connect</a:t>
            </a:r>
            <a:r>
              <a:rPr lang="en-AU" sz="2400" dirty="0"/>
              <a:t>($</a:t>
            </a:r>
            <a:r>
              <a:rPr lang="en-AU" sz="2400" dirty="0" err="1"/>
              <a:t>servername</a:t>
            </a:r>
            <a:r>
              <a:rPr lang="en-AU" sz="2400" dirty="0"/>
              <a:t>, $username, $password, $</a:t>
            </a:r>
            <a:r>
              <a:rPr lang="en-AU" sz="2400" dirty="0" err="1"/>
              <a:t>dbname</a:t>
            </a:r>
            <a:r>
              <a:rPr lang="en-AU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466051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9939D-DB5B-4A27-A420-A781ABD70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7782"/>
            <a:ext cx="10515600" cy="473075"/>
          </a:xfrm>
        </p:spPr>
        <p:txBody>
          <a:bodyPr>
            <a:noAutofit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Insert Multiple Entries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038FF-713E-4966-899C-0C5DD21C1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537" y="870857"/>
            <a:ext cx="5223667" cy="43554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600" dirty="0"/>
              <a:t>$</a:t>
            </a:r>
            <a:r>
              <a:rPr lang="en-AU" sz="1600" dirty="0" err="1"/>
              <a:t>sql</a:t>
            </a:r>
            <a:r>
              <a:rPr lang="en-AU" sz="1600" dirty="0"/>
              <a:t> = "INSERT INTO </a:t>
            </a:r>
            <a:r>
              <a:rPr lang="en-AU" sz="1600" dirty="0" err="1"/>
              <a:t>MyGuests</a:t>
            </a:r>
            <a:r>
              <a:rPr lang="en-AU" sz="1600" dirty="0"/>
              <a:t> (</a:t>
            </a:r>
            <a:r>
              <a:rPr lang="en-AU" sz="1600" dirty="0" err="1"/>
              <a:t>firstname</a:t>
            </a:r>
            <a:r>
              <a:rPr lang="en-AU" sz="1600" dirty="0"/>
              <a:t>, </a:t>
            </a:r>
            <a:r>
              <a:rPr lang="en-AU" sz="1600" dirty="0" err="1"/>
              <a:t>lastname</a:t>
            </a:r>
            <a:r>
              <a:rPr lang="en-AU" sz="1600" dirty="0"/>
              <a:t>, email)</a:t>
            </a:r>
          </a:p>
          <a:p>
            <a:pPr marL="0" indent="0">
              <a:buNone/>
            </a:pPr>
            <a:r>
              <a:rPr lang="en-AU" sz="1600" dirty="0"/>
              <a:t>VALUES ('John', 'Doe', 'john@example.com');";</a:t>
            </a:r>
          </a:p>
          <a:p>
            <a:pPr marL="0" indent="0">
              <a:buNone/>
            </a:pPr>
            <a:r>
              <a:rPr lang="en-AU" sz="1600" dirty="0"/>
              <a:t>$</a:t>
            </a:r>
            <a:r>
              <a:rPr lang="en-AU" sz="1600" dirty="0" err="1"/>
              <a:t>sql</a:t>
            </a:r>
            <a:r>
              <a:rPr lang="en-AU" sz="1600" dirty="0"/>
              <a:t> .= "INSERT INTO </a:t>
            </a:r>
            <a:r>
              <a:rPr lang="en-AU" sz="1600" dirty="0" err="1"/>
              <a:t>MyGuests</a:t>
            </a:r>
            <a:r>
              <a:rPr lang="en-AU" sz="1600" dirty="0"/>
              <a:t> (</a:t>
            </a:r>
            <a:r>
              <a:rPr lang="en-AU" sz="1600" dirty="0" err="1"/>
              <a:t>firstname</a:t>
            </a:r>
            <a:r>
              <a:rPr lang="en-AU" sz="1600" dirty="0"/>
              <a:t>, </a:t>
            </a:r>
            <a:r>
              <a:rPr lang="en-AU" sz="1600" dirty="0" err="1"/>
              <a:t>lastname</a:t>
            </a:r>
            <a:r>
              <a:rPr lang="en-AU" sz="1600" dirty="0"/>
              <a:t>, email)</a:t>
            </a:r>
          </a:p>
          <a:p>
            <a:pPr marL="0" indent="0">
              <a:buNone/>
            </a:pPr>
            <a:r>
              <a:rPr lang="en-AU" sz="1600" dirty="0"/>
              <a:t>VALUES ('Mary', 'Moe', 'mary@example.com');";</a:t>
            </a:r>
          </a:p>
          <a:p>
            <a:pPr marL="0" indent="0">
              <a:buNone/>
            </a:pPr>
            <a:r>
              <a:rPr lang="en-AU" sz="1600" dirty="0"/>
              <a:t>$</a:t>
            </a:r>
            <a:r>
              <a:rPr lang="en-AU" sz="1600" dirty="0" err="1"/>
              <a:t>sql</a:t>
            </a:r>
            <a:r>
              <a:rPr lang="en-AU" sz="1600" dirty="0"/>
              <a:t> .= "INSERT INTO </a:t>
            </a:r>
            <a:r>
              <a:rPr lang="en-AU" sz="1600" dirty="0" err="1"/>
              <a:t>MyGuests</a:t>
            </a:r>
            <a:r>
              <a:rPr lang="en-AU" sz="1600" dirty="0"/>
              <a:t> (</a:t>
            </a:r>
            <a:r>
              <a:rPr lang="en-AU" sz="1600" dirty="0" err="1"/>
              <a:t>firstname</a:t>
            </a:r>
            <a:r>
              <a:rPr lang="en-AU" sz="1600" dirty="0"/>
              <a:t>, </a:t>
            </a:r>
            <a:r>
              <a:rPr lang="en-AU" sz="1600" dirty="0" err="1"/>
              <a:t>lastname</a:t>
            </a:r>
            <a:r>
              <a:rPr lang="en-AU" sz="1600" dirty="0"/>
              <a:t>, email)</a:t>
            </a:r>
          </a:p>
          <a:p>
            <a:pPr marL="0" indent="0">
              <a:buNone/>
            </a:pPr>
            <a:r>
              <a:rPr lang="en-AU" sz="1600" dirty="0"/>
              <a:t>VALUES ('Julie', 'Dooley', 'julie@example.com')";</a:t>
            </a:r>
          </a:p>
          <a:p>
            <a:pPr marL="0" indent="0">
              <a:buNone/>
            </a:pPr>
            <a:r>
              <a:rPr lang="en-AU" sz="1600" dirty="0"/>
              <a:t>if (</a:t>
            </a:r>
            <a:r>
              <a:rPr lang="en-AU" sz="1600" dirty="0" err="1"/>
              <a:t>mysqli_multi_query</a:t>
            </a:r>
            <a:r>
              <a:rPr lang="en-AU" sz="1600" dirty="0"/>
              <a:t>($conn, $</a:t>
            </a:r>
            <a:r>
              <a:rPr lang="en-AU" sz="1600" dirty="0" err="1"/>
              <a:t>sql</a:t>
            </a:r>
            <a:r>
              <a:rPr lang="en-AU" sz="1600" dirty="0"/>
              <a:t>)) {</a:t>
            </a:r>
          </a:p>
          <a:p>
            <a:pPr marL="0" indent="0">
              <a:buNone/>
            </a:pPr>
            <a:r>
              <a:rPr lang="en-AU" sz="1600" dirty="0"/>
              <a:t>  echo "New records created successfully";</a:t>
            </a:r>
          </a:p>
          <a:p>
            <a:pPr marL="0" indent="0">
              <a:buNone/>
            </a:pPr>
            <a:r>
              <a:rPr lang="en-AU" sz="1600" dirty="0"/>
              <a:t>} else {</a:t>
            </a:r>
          </a:p>
          <a:p>
            <a:pPr marL="0" indent="0">
              <a:buNone/>
            </a:pPr>
            <a:r>
              <a:rPr lang="en-AU" sz="1600" dirty="0"/>
              <a:t>  echo "Error: " . $</a:t>
            </a:r>
            <a:r>
              <a:rPr lang="en-AU" sz="1600" dirty="0" err="1"/>
              <a:t>sql</a:t>
            </a:r>
            <a:r>
              <a:rPr lang="en-AU" sz="1600" dirty="0"/>
              <a:t> . "&lt;</a:t>
            </a:r>
            <a:r>
              <a:rPr lang="en-AU" sz="1600" dirty="0" err="1"/>
              <a:t>br</a:t>
            </a:r>
            <a:r>
              <a:rPr lang="en-AU" sz="1600" dirty="0"/>
              <a:t>&gt;" . </a:t>
            </a:r>
            <a:r>
              <a:rPr lang="en-AU" sz="1600" dirty="0" err="1"/>
              <a:t>mysqli_error</a:t>
            </a:r>
            <a:r>
              <a:rPr lang="en-AU" sz="1600" dirty="0"/>
              <a:t>($conn);</a:t>
            </a:r>
          </a:p>
          <a:p>
            <a:pPr marL="0" indent="0">
              <a:buNone/>
            </a:pPr>
            <a:r>
              <a:rPr lang="en-AU" sz="1600" dirty="0"/>
              <a:t>}</a:t>
            </a:r>
          </a:p>
          <a:p>
            <a:pPr marL="0" indent="0">
              <a:buNone/>
            </a:pPr>
            <a:r>
              <a:rPr lang="en-AU" sz="1600" dirty="0" err="1"/>
              <a:t>mysqli_close</a:t>
            </a:r>
            <a:r>
              <a:rPr lang="en-AU" sz="1600" dirty="0"/>
              <a:t>($conn);</a:t>
            </a:r>
          </a:p>
          <a:p>
            <a:pPr marL="0" indent="0">
              <a:buNone/>
            </a:pPr>
            <a:r>
              <a:rPr lang="en-AU" sz="1600" dirty="0"/>
              <a:t>?&gt;</a:t>
            </a:r>
          </a:p>
          <a:p>
            <a:pPr marL="0" indent="0">
              <a:buNone/>
            </a:pPr>
            <a:endParaRPr lang="en-AU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715317-4E74-29EA-202B-66EBAA0C857D}"/>
              </a:ext>
            </a:extLst>
          </p:cNvPr>
          <p:cNvSpPr txBox="1">
            <a:spLocks/>
          </p:cNvSpPr>
          <p:nvPr/>
        </p:nvSpPr>
        <p:spPr>
          <a:xfrm>
            <a:off x="537644" y="1015141"/>
            <a:ext cx="5021820" cy="4293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&lt;?php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$servername = "localhost";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$username = "root";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$password = "";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$dbname = "myDB";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// Create connection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$conn = mysqli_connect($servername, $username, $password, $dbname);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713880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C81E9-D42E-4D59-8121-36B0FA7B7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354239"/>
            <a:ext cx="10515600" cy="636361"/>
          </a:xfrm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Select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0F11A-673A-4BF1-B00A-956E4185A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48309"/>
            <a:ext cx="5822565" cy="39406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800" dirty="0"/>
              <a:t>$</a:t>
            </a:r>
            <a:r>
              <a:rPr lang="en-AU" sz="1800" dirty="0" err="1"/>
              <a:t>sql</a:t>
            </a:r>
            <a:r>
              <a:rPr lang="en-AU" sz="1800" dirty="0"/>
              <a:t> = "SELECT id, </a:t>
            </a:r>
            <a:r>
              <a:rPr lang="en-AU" sz="1800" dirty="0" err="1"/>
              <a:t>firstname</a:t>
            </a:r>
            <a:r>
              <a:rPr lang="en-AU" sz="1800" dirty="0"/>
              <a:t>, </a:t>
            </a:r>
            <a:r>
              <a:rPr lang="en-AU" sz="1800" dirty="0" err="1"/>
              <a:t>lastname</a:t>
            </a:r>
            <a:r>
              <a:rPr lang="en-AU" sz="1800" dirty="0"/>
              <a:t> FROM </a:t>
            </a:r>
            <a:r>
              <a:rPr lang="en-AU" sz="1800" dirty="0" err="1"/>
              <a:t>MyGuests</a:t>
            </a:r>
            <a:r>
              <a:rPr lang="en-AU" sz="1800" dirty="0"/>
              <a:t>";</a:t>
            </a:r>
          </a:p>
          <a:p>
            <a:pPr marL="0" indent="0">
              <a:buNone/>
            </a:pPr>
            <a:r>
              <a:rPr lang="en-AU" sz="1800" dirty="0"/>
              <a:t>$result = </a:t>
            </a:r>
            <a:r>
              <a:rPr lang="en-AU" sz="1800" dirty="0" err="1"/>
              <a:t>mysqli_query</a:t>
            </a:r>
            <a:r>
              <a:rPr lang="en-AU" sz="1800" dirty="0"/>
              <a:t>($conn, $</a:t>
            </a:r>
            <a:r>
              <a:rPr lang="en-AU" sz="1800" dirty="0" err="1"/>
              <a:t>sql</a:t>
            </a:r>
            <a:r>
              <a:rPr lang="en-AU" sz="1800" dirty="0"/>
              <a:t>);</a:t>
            </a:r>
          </a:p>
          <a:p>
            <a:pPr marL="0" indent="0">
              <a:buNone/>
            </a:pPr>
            <a:r>
              <a:rPr lang="en-AU" sz="1800" dirty="0"/>
              <a:t>if (</a:t>
            </a:r>
            <a:r>
              <a:rPr lang="en-AU" sz="1800" dirty="0" err="1"/>
              <a:t>mysqli_num_rows</a:t>
            </a:r>
            <a:r>
              <a:rPr lang="en-AU" sz="1800" dirty="0"/>
              <a:t>($result) &gt; 0) {</a:t>
            </a:r>
          </a:p>
          <a:p>
            <a:pPr marL="0" indent="0">
              <a:buNone/>
            </a:pPr>
            <a:r>
              <a:rPr lang="en-AU" sz="1800" dirty="0"/>
              <a:t>  // output data of each row</a:t>
            </a:r>
          </a:p>
          <a:p>
            <a:pPr marL="0" indent="0">
              <a:buNone/>
            </a:pPr>
            <a:r>
              <a:rPr lang="en-AU" sz="1800" dirty="0"/>
              <a:t>  while($row = </a:t>
            </a:r>
            <a:r>
              <a:rPr lang="en-AU" sz="1800" dirty="0" err="1"/>
              <a:t>mysqli_fetch_assoc</a:t>
            </a:r>
            <a:r>
              <a:rPr lang="en-AU" sz="1800" dirty="0"/>
              <a:t>($result)) {</a:t>
            </a:r>
          </a:p>
          <a:p>
            <a:pPr marL="0" indent="0">
              <a:buNone/>
            </a:pPr>
            <a:r>
              <a:rPr lang="en-AU" sz="1800" dirty="0"/>
              <a:t>    echo "id: " . $row["id"]. " - Name: " . $row["</a:t>
            </a:r>
            <a:r>
              <a:rPr lang="en-AU" sz="1800" dirty="0" err="1"/>
              <a:t>firstname</a:t>
            </a:r>
            <a:r>
              <a:rPr lang="en-AU" sz="1800" dirty="0"/>
              <a:t>"]. " " . $row["</a:t>
            </a:r>
            <a:r>
              <a:rPr lang="en-AU" sz="1800" dirty="0" err="1"/>
              <a:t>lastname</a:t>
            </a:r>
            <a:r>
              <a:rPr lang="en-AU" sz="1800" dirty="0"/>
              <a:t>"]. "&lt;</a:t>
            </a:r>
            <a:r>
              <a:rPr lang="en-AU" sz="1800" dirty="0" err="1"/>
              <a:t>br</a:t>
            </a:r>
            <a:r>
              <a:rPr lang="en-AU" sz="1800" dirty="0"/>
              <a:t>&gt;";</a:t>
            </a:r>
          </a:p>
          <a:p>
            <a:pPr marL="0" indent="0">
              <a:buNone/>
            </a:pPr>
            <a:r>
              <a:rPr lang="en-AU" sz="1800" dirty="0"/>
              <a:t>  }</a:t>
            </a:r>
          </a:p>
          <a:p>
            <a:pPr marL="0" indent="0">
              <a:buNone/>
            </a:pPr>
            <a:r>
              <a:rPr lang="en-AU" sz="1800" dirty="0"/>
              <a:t>} else {</a:t>
            </a:r>
          </a:p>
          <a:p>
            <a:pPr marL="0" indent="0">
              <a:buNone/>
            </a:pPr>
            <a:r>
              <a:rPr lang="en-AU" sz="1800" dirty="0"/>
              <a:t>  echo "0 results";</a:t>
            </a:r>
          </a:p>
          <a:p>
            <a:pPr marL="0" indent="0">
              <a:buNone/>
            </a:pPr>
            <a:r>
              <a:rPr lang="en-AU" sz="1800" dirty="0"/>
              <a:t>}</a:t>
            </a:r>
          </a:p>
          <a:p>
            <a:pPr marL="0" indent="0">
              <a:buNone/>
            </a:pPr>
            <a:r>
              <a:rPr lang="en-AU" sz="1800" dirty="0" err="1"/>
              <a:t>mysqli_close</a:t>
            </a:r>
            <a:r>
              <a:rPr lang="en-AU" sz="1800" dirty="0"/>
              <a:t>($conn);</a:t>
            </a:r>
          </a:p>
          <a:p>
            <a:pPr marL="0" indent="0">
              <a:buNone/>
            </a:pPr>
            <a:r>
              <a:rPr lang="en-AU" sz="1800" dirty="0"/>
              <a:t>?&gt;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478EB0-7D4B-BDC1-2DF7-2AF4C5AF08C9}"/>
              </a:ext>
            </a:extLst>
          </p:cNvPr>
          <p:cNvSpPr txBox="1">
            <a:spLocks/>
          </p:cNvSpPr>
          <p:nvPr/>
        </p:nvSpPr>
        <p:spPr>
          <a:xfrm>
            <a:off x="398158" y="1263113"/>
            <a:ext cx="4979753" cy="405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&lt;?</a:t>
            </a:r>
            <a:r>
              <a:rPr lang="en-AU" sz="2400" dirty="0" err="1"/>
              <a:t>php</a:t>
            </a:r>
            <a:endParaRPr lang="en-AU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$</a:t>
            </a:r>
            <a:r>
              <a:rPr lang="en-AU" sz="2400" dirty="0" err="1"/>
              <a:t>servername</a:t>
            </a:r>
            <a:r>
              <a:rPr lang="en-AU" sz="2400" dirty="0"/>
              <a:t> = "localhost";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$username = "root";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$password = "";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$</a:t>
            </a:r>
            <a:r>
              <a:rPr lang="en-AU" sz="2400" dirty="0" err="1"/>
              <a:t>dbname</a:t>
            </a:r>
            <a:r>
              <a:rPr lang="en-AU" sz="2400" dirty="0"/>
              <a:t> = "</a:t>
            </a:r>
            <a:r>
              <a:rPr lang="en-AU" sz="2400" dirty="0" err="1"/>
              <a:t>myDB</a:t>
            </a:r>
            <a:r>
              <a:rPr lang="en-AU" sz="2400" dirty="0"/>
              <a:t>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// Create connection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 dirty="0"/>
              <a:t>$conn = </a:t>
            </a:r>
            <a:r>
              <a:rPr lang="en-AU" sz="2400" dirty="0" err="1"/>
              <a:t>mysqli_connect</a:t>
            </a:r>
            <a:r>
              <a:rPr lang="en-AU" sz="2400" dirty="0"/>
              <a:t>($</a:t>
            </a:r>
            <a:r>
              <a:rPr lang="en-AU" sz="2400" dirty="0" err="1"/>
              <a:t>servername</a:t>
            </a:r>
            <a:r>
              <a:rPr lang="en-AU" sz="2400" dirty="0"/>
              <a:t>, $username, $password, $</a:t>
            </a:r>
            <a:r>
              <a:rPr lang="en-AU" sz="2400" dirty="0" err="1"/>
              <a:t>dbname</a:t>
            </a:r>
            <a:r>
              <a:rPr lang="en-AU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110049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F7ECC-654E-451B-AD58-5B0D503A0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365125"/>
            <a:ext cx="10515600" cy="418646"/>
          </a:xfrm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Filter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15BDC-3CFB-4867-9AB5-813339362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8" y="1105876"/>
            <a:ext cx="11114312" cy="3808956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The WHERE clause is used to filter records.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The WHERE clause is used to extract only those records that fulfill a specified condition.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SELECT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column_name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(s) FROM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table_name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WHERE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column_name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operator value 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51224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861B-8779-4431-B650-8C477122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245383"/>
            <a:ext cx="10515600" cy="527504"/>
          </a:xfrm>
        </p:spPr>
        <p:txBody>
          <a:bodyPr>
            <a:normAutofit fontScale="90000"/>
          </a:bodyPr>
          <a:lstStyle/>
          <a:p>
            <a:r>
              <a:rPr lang="en-AU" sz="4400" dirty="0">
                <a:solidFill>
                  <a:schemeClr val="accent2">
                    <a:lumMod val="50000"/>
                  </a:schemeClr>
                </a:solidFill>
              </a:rPr>
              <a:t>Filter Data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7B5E3-98FD-4063-A901-F6B41E12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9333" y="245383"/>
            <a:ext cx="4340633" cy="48790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800" dirty="0"/>
              <a:t>$</a:t>
            </a:r>
            <a:r>
              <a:rPr lang="en-AU" sz="1800" dirty="0" err="1"/>
              <a:t>sql</a:t>
            </a:r>
            <a:r>
              <a:rPr lang="en-AU" sz="1800" dirty="0"/>
              <a:t> = "SELECT id, </a:t>
            </a:r>
            <a:r>
              <a:rPr lang="en-AU" sz="1800" dirty="0" err="1"/>
              <a:t>firstname</a:t>
            </a:r>
            <a:r>
              <a:rPr lang="en-AU" sz="1800" dirty="0"/>
              <a:t>, </a:t>
            </a:r>
            <a:r>
              <a:rPr lang="en-AU" sz="1800" dirty="0" err="1"/>
              <a:t>lastname</a:t>
            </a:r>
            <a:r>
              <a:rPr lang="en-AU" sz="1800" dirty="0"/>
              <a:t> FROM </a:t>
            </a:r>
            <a:r>
              <a:rPr lang="en-AU" sz="1800" dirty="0" err="1"/>
              <a:t>MyGuests</a:t>
            </a:r>
            <a:r>
              <a:rPr lang="en-AU" sz="1800" dirty="0"/>
              <a:t> WHERE </a:t>
            </a:r>
            <a:r>
              <a:rPr lang="en-AU" sz="1800" dirty="0" err="1"/>
              <a:t>lastname</a:t>
            </a:r>
            <a:r>
              <a:rPr lang="en-AU" sz="1800" dirty="0"/>
              <a:t>='Doe'";</a:t>
            </a:r>
          </a:p>
          <a:p>
            <a:pPr marL="0" indent="0">
              <a:buNone/>
            </a:pPr>
            <a:r>
              <a:rPr lang="en-AU" sz="1800" dirty="0"/>
              <a:t>$result = </a:t>
            </a:r>
            <a:r>
              <a:rPr lang="en-AU" sz="1800" dirty="0" err="1"/>
              <a:t>mysqli_query</a:t>
            </a:r>
            <a:r>
              <a:rPr lang="en-AU" sz="1800" dirty="0"/>
              <a:t>($conn, $</a:t>
            </a:r>
            <a:r>
              <a:rPr lang="en-AU" sz="1800" dirty="0" err="1"/>
              <a:t>sql</a:t>
            </a:r>
            <a:r>
              <a:rPr lang="en-AU" sz="1800" dirty="0"/>
              <a:t>);</a:t>
            </a:r>
          </a:p>
          <a:p>
            <a:pPr marL="0" indent="0">
              <a:buNone/>
            </a:pPr>
            <a:r>
              <a:rPr lang="en-AU" sz="1800" dirty="0"/>
              <a:t>if (</a:t>
            </a:r>
            <a:r>
              <a:rPr lang="en-AU" sz="1800" dirty="0" err="1"/>
              <a:t>mysqli_num_rows</a:t>
            </a:r>
            <a:r>
              <a:rPr lang="en-AU" sz="1800" dirty="0"/>
              <a:t>($result) &gt; 0) {</a:t>
            </a:r>
          </a:p>
          <a:p>
            <a:pPr marL="0" indent="0">
              <a:buNone/>
            </a:pPr>
            <a:r>
              <a:rPr lang="en-AU" sz="1800" dirty="0"/>
              <a:t>  // output data of each row</a:t>
            </a:r>
          </a:p>
          <a:p>
            <a:pPr marL="0" indent="0">
              <a:buNone/>
            </a:pPr>
            <a:r>
              <a:rPr lang="en-AU" sz="1800" dirty="0"/>
              <a:t>  while($row = </a:t>
            </a:r>
            <a:r>
              <a:rPr lang="en-AU" sz="1800" dirty="0" err="1"/>
              <a:t>mysqli_fetch_assoc</a:t>
            </a:r>
            <a:r>
              <a:rPr lang="en-AU" sz="1800" dirty="0"/>
              <a:t>($result)) {</a:t>
            </a:r>
          </a:p>
          <a:p>
            <a:pPr marL="0" indent="0">
              <a:buNone/>
            </a:pPr>
            <a:r>
              <a:rPr lang="en-AU" sz="1800" dirty="0"/>
              <a:t>    echo "id: " . $row["id"]. " - Name: " . $row["</a:t>
            </a:r>
            <a:r>
              <a:rPr lang="en-AU" sz="1800" dirty="0" err="1"/>
              <a:t>firstname</a:t>
            </a:r>
            <a:r>
              <a:rPr lang="en-AU" sz="1800" dirty="0"/>
              <a:t>"]. " " . $row["</a:t>
            </a:r>
            <a:r>
              <a:rPr lang="en-AU" sz="1800" dirty="0" err="1"/>
              <a:t>lastname</a:t>
            </a:r>
            <a:r>
              <a:rPr lang="en-AU" sz="1800" dirty="0"/>
              <a:t>"]. "&lt;</a:t>
            </a:r>
            <a:r>
              <a:rPr lang="en-AU" sz="1800" dirty="0" err="1"/>
              <a:t>br</a:t>
            </a:r>
            <a:r>
              <a:rPr lang="en-AU" sz="1800" dirty="0"/>
              <a:t>&gt;";</a:t>
            </a:r>
          </a:p>
          <a:p>
            <a:pPr marL="0" indent="0">
              <a:buNone/>
            </a:pPr>
            <a:r>
              <a:rPr lang="en-AU" sz="1800" dirty="0"/>
              <a:t>  }</a:t>
            </a:r>
          </a:p>
          <a:p>
            <a:pPr marL="0" indent="0">
              <a:buNone/>
            </a:pPr>
            <a:r>
              <a:rPr lang="en-AU" sz="1800" dirty="0"/>
              <a:t>} </a:t>
            </a:r>
          </a:p>
          <a:p>
            <a:pPr marL="0" indent="0">
              <a:buNone/>
            </a:pPr>
            <a:r>
              <a:rPr lang="en-AU" sz="1800" dirty="0"/>
              <a:t>else {</a:t>
            </a:r>
          </a:p>
          <a:p>
            <a:pPr marL="0" indent="0">
              <a:buNone/>
            </a:pPr>
            <a:r>
              <a:rPr lang="en-AU" sz="1800" dirty="0"/>
              <a:t>  echo "0 results";</a:t>
            </a:r>
          </a:p>
          <a:p>
            <a:pPr marL="0" indent="0">
              <a:buNone/>
            </a:pPr>
            <a:r>
              <a:rPr lang="en-AU" sz="1800" dirty="0"/>
              <a:t>}</a:t>
            </a:r>
          </a:p>
          <a:p>
            <a:pPr marL="0" indent="0">
              <a:buNone/>
            </a:pPr>
            <a:r>
              <a:rPr lang="en-AU" sz="1800" dirty="0" err="1"/>
              <a:t>mysqli_close</a:t>
            </a:r>
            <a:r>
              <a:rPr lang="en-AU" sz="1800" dirty="0"/>
              <a:t>($conn);</a:t>
            </a:r>
          </a:p>
          <a:p>
            <a:pPr marL="0" indent="0">
              <a:buNone/>
            </a:pPr>
            <a:r>
              <a:rPr lang="en-AU" sz="1800" dirty="0"/>
              <a:t>?&gt;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2EA70A-1BF1-D56E-28B5-F997B5EBC05A}"/>
              </a:ext>
            </a:extLst>
          </p:cNvPr>
          <p:cNvSpPr txBox="1">
            <a:spLocks/>
          </p:cNvSpPr>
          <p:nvPr/>
        </p:nvSpPr>
        <p:spPr>
          <a:xfrm>
            <a:off x="1301672" y="1201499"/>
            <a:ext cx="4631042" cy="34943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&lt;?php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$servername = "localhost";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$username = "root";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$password = "";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$dbname = "myDB";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// Create connection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$conn = mysqli_connect($servername, $username, $password, $dbname);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8459927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D0FD-3173-4290-AD46-10605EF4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2" y="256269"/>
            <a:ext cx="10515600" cy="734332"/>
          </a:xfrm>
        </p:spPr>
        <p:txBody>
          <a:bodyPr/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Update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A7320-6A31-4E5B-8241-C2AE3FCF6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2" y="1524522"/>
            <a:ext cx="10515600" cy="3808956"/>
          </a:xfrm>
        </p:spPr>
        <p:txBody>
          <a:bodyPr/>
          <a:lstStyle/>
          <a:p>
            <a:r>
              <a:rPr lang="en-US" dirty="0"/>
              <a:t>The UPDATE statement is used to update existing records in a table:</a:t>
            </a:r>
          </a:p>
          <a:p>
            <a:endParaRPr lang="en-US" dirty="0"/>
          </a:p>
          <a:p>
            <a:r>
              <a:rPr lang="en-US" dirty="0"/>
              <a:t>UPDATE </a:t>
            </a:r>
            <a:r>
              <a:rPr lang="en-US" dirty="0" err="1"/>
              <a:t>table_name</a:t>
            </a:r>
            <a:r>
              <a:rPr lang="en-US" dirty="0"/>
              <a:t> SET column1=value, column2=value2,...</a:t>
            </a:r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some_column</a:t>
            </a:r>
            <a:r>
              <a:rPr lang="en-US" dirty="0"/>
              <a:t>=</a:t>
            </a:r>
            <a:r>
              <a:rPr lang="en-US" dirty="0" err="1"/>
              <a:t>some_value</a:t>
            </a:r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3430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D0FD-3173-4290-AD46-10605EF4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2" y="256269"/>
            <a:ext cx="10515600" cy="734332"/>
          </a:xfrm>
        </p:spPr>
        <p:txBody>
          <a:bodyPr/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Update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A7320-6A31-4E5B-8241-C2AE3FCF6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8223" y="990601"/>
            <a:ext cx="4900231" cy="38089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dirty="0"/>
              <a:t>$</a:t>
            </a:r>
            <a:r>
              <a:rPr lang="en-AU" dirty="0" err="1"/>
              <a:t>sql</a:t>
            </a:r>
            <a:r>
              <a:rPr lang="en-AU" dirty="0"/>
              <a:t> = "UPDATE </a:t>
            </a:r>
            <a:r>
              <a:rPr lang="en-AU" dirty="0" err="1"/>
              <a:t>MyGuests</a:t>
            </a:r>
            <a:r>
              <a:rPr lang="en-AU" dirty="0"/>
              <a:t> SET </a:t>
            </a:r>
            <a:r>
              <a:rPr lang="en-AU" dirty="0" err="1"/>
              <a:t>lastname</a:t>
            </a:r>
            <a:r>
              <a:rPr lang="en-AU" dirty="0"/>
              <a:t>='Doe' WHERE id=2";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if (</a:t>
            </a:r>
            <a:r>
              <a:rPr lang="en-AU" dirty="0" err="1"/>
              <a:t>mysqli_query</a:t>
            </a:r>
            <a:r>
              <a:rPr lang="en-AU" dirty="0"/>
              <a:t>($conn, $</a:t>
            </a:r>
            <a:r>
              <a:rPr lang="en-AU" dirty="0" err="1"/>
              <a:t>sql</a:t>
            </a:r>
            <a:r>
              <a:rPr lang="en-AU" dirty="0"/>
              <a:t>)) {</a:t>
            </a:r>
          </a:p>
          <a:p>
            <a:pPr marL="0" indent="0">
              <a:buNone/>
            </a:pPr>
            <a:r>
              <a:rPr lang="en-AU" dirty="0"/>
              <a:t>  echo "Record updated successfully";</a:t>
            </a:r>
          </a:p>
          <a:p>
            <a:pPr marL="0" indent="0">
              <a:buNone/>
            </a:pPr>
            <a:r>
              <a:rPr lang="en-AU" dirty="0"/>
              <a:t>} else {</a:t>
            </a:r>
          </a:p>
          <a:p>
            <a:pPr marL="0" indent="0">
              <a:buNone/>
            </a:pPr>
            <a:r>
              <a:rPr lang="en-AU" dirty="0"/>
              <a:t>  echo "Error updating record: " . </a:t>
            </a:r>
            <a:r>
              <a:rPr lang="en-AU" dirty="0" err="1"/>
              <a:t>mysqli_error</a:t>
            </a:r>
            <a:r>
              <a:rPr lang="en-AU" dirty="0"/>
              <a:t>($conn);</a:t>
            </a:r>
          </a:p>
          <a:p>
            <a:pPr marL="0" indent="0">
              <a:buNone/>
            </a:pPr>
            <a:r>
              <a:rPr lang="en-AU" dirty="0"/>
              <a:t>}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err="1"/>
              <a:t>mysqli_close</a:t>
            </a:r>
            <a:r>
              <a:rPr lang="en-AU" dirty="0"/>
              <a:t>($conn);</a:t>
            </a:r>
          </a:p>
          <a:p>
            <a:pPr marL="0" indent="0">
              <a:buNone/>
            </a:pPr>
            <a:r>
              <a:rPr lang="en-AU" dirty="0"/>
              <a:t>?&gt;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8AFA4C-3855-EC59-DD3B-4E6F19195F4A}"/>
              </a:ext>
            </a:extLst>
          </p:cNvPr>
          <p:cNvSpPr txBox="1">
            <a:spLocks/>
          </p:cNvSpPr>
          <p:nvPr/>
        </p:nvSpPr>
        <p:spPr>
          <a:xfrm>
            <a:off x="777868" y="1147909"/>
            <a:ext cx="4631042" cy="34943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&lt;?php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$servername = "localhost";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$username = "root";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$password = "";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$dbname = "myDB";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// Create connection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$conn = mysqli_connect($servername, $username, $password, $dbname);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4013509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13C3-B24B-4353-B4BF-738948892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1" y="212726"/>
            <a:ext cx="10515600" cy="679904"/>
          </a:xfrm>
        </p:spPr>
        <p:txBody>
          <a:bodyPr/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Delete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42A8A-F9CD-4896-879A-7562288A4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1" y="1524522"/>
            <a:ext cx="10515600" cy="3808956"/>
          </a:xfrm>
        </p:spPr>
        <p:txBody>
          <a:bodyPr/>
          <a:lstStyle/>
          <a:p>
            <a:r>
              <a:rPr lang="en-US" dirty="0"/>
              <a:t>The DELETE statement is used to delete records from a table:</a:t>
            </a:r>
          </a:p>
          <a:p>
            <a:endParaRPr lang="en-US" dirty="0"/>
          </a:p>
          <a:p>
            <a:r>
              <a:rPr lang="en-US" dirty="0"/>
              <a:t>DELETE FROM </a:t>
            </a:r>
            <a:r>
              <a:rPr lang="en-US" dirty="0" err="1"/>
              <a:t>table_name</a:t>
            </a:r>
            <a:r>
              <a:rPr lang="en-US" dirty="0"/>
              <a:t> WHERE </a:t>
            </a:r>
            <a:r>
              <a:rPr lang="en-US" dirty="0" err="1"/>
              <a:t>some_column</a:t>
            </a:r>
            <a:r>
              <a:rPr lang="en-US" dirty="0"/>
              <a:t> = </a:t>
            </a:r>
            <a:r>
              <a:rPr lang="en-US" dirty="0" err="1"/>
              <a:t>some_value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4557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D239-8809-4B01-BA04-9ED507A70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332"/>
          </a:xfrm>
        </p:spPr>
        <p:txBody>
          <a:bodyPr/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Delete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8B6C2-98DA-4A40-8D6C-46A9E0799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3937" y="1099458"/>
            <a:ext cx="5627914" cy="38089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dirty="0"/>
              <a:t>$</a:t>
            </a:r>
            <a:r>
              <a:rPr lang="en-AU" dirty="0" err="1"/>
              <a:t>sql</a:t>
            </a:r>
            <a:r>
              <a:rPr lang="en-AU" dirty="0"/>
              <a:t> = "DELETE FROM </a:t>
            </a:r>
            <a:r>
              <a:rPr lang="en-AU" dirty="0" err="1"/>
              <a:t>MyGuests</a:t>
            </a:r>
            <a:r>
              <a:rPr lang="en-AU" dirty="0"/>
              <a:t> WHERE id=3";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if (</a:t>
            </a:r>
            <a:r>
              <a:rPr lang="en-AU" dirty="0" err="1"/>
              <a:t>mysqli_query</a:t>
            </a:r>
            <a:r>
              <a:rPr lang="en-AU" dirty="0"/>
              <a:t>($conn, $</a:t>
            </a:r>
            <a:r>
              <a:rPr lang="en-AU" dirty="0" err="1"/>
              <a:t>sql</a:t>
            </a:r>
            <a:r>
              <a:rPr lang="en-AU" dirty="0"/>
              <a:t>)) {</a:t>
            </a:r>
          </a:p>
          <a:p>
            <a:pPr marL="0" indent="0">
              <a:buNone/>
            </a:pPr>
            <a:r>
              <a:rPr lang="en-AU" dirty="0"/>
              <a:t>  echo "Record deleted successfully";</a:t>
            </a:r>
          </a:p>
          <a:p>
            <a:pPr marL="0" indent="0">
              <a:buNone/>
            </a:pPr>
            <a:r>
              <a:rPr lang="en-AU" dirty="0"/>
              <a:t>} else {</a:t>
            </a:r>
          </a:p>
          <a:p>
            <a:pPr marL="0" indent="0">
              <a:buNone/>
            </a:pPr>
            <a:r>
              <a:rPr lang="en-AU" dirty="0"/>
              <a:t>  echo "Error deleting record: " . </a:t>
            </a:r>
            <a:r>
              <a:rPr lang="en-AU" dirty="0" err="1"/>
              <a:t>mysqli_error</a:t>
            </a:r>
            <a:r>
              <a:rPr lang="en-AU" dirty="0"/>
              <a:t>($conn);</a:t>
            </a:r>
          </a:p>
          <a:p>
            <a:pPr marL="0" indent="0">
              <a:buNone/>
            </a:pPr>
            <a:r>
              <a:rPr lang="en-AU" dirty="0"/>
              <a:t>}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err="1"/>
              <a:t>mysqli_close</a:t>
            </a:r>
            <a:r>
              <a:rPr lang="en-AU" dirty="0"/>
              <a:t>($conn);</a:t>
            </a:r>
          </a:p>
          <a:p>
            <a:pPr marL="0" indent="0">
              <a:buNone/>
            </a:pPr>
            <a:r>
              <a:rPr lang="en-AU" dirty="0"/>
              <a:t>?&gt;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BD1219-D88F-224E-2BDA-2E392286B1E3}"/>
              </a:ext>
            </a:extLst>
          </p:cNvPr>
          <p:cNvSpPr txBox="1">
            <a:spLocks/>
          </p:cNvSpPr>
          <p:nvPr/>
        </p:nvSpPr>
        <p:spPr>
          <a:xfrm>
            <a:off x="777867" y="1256766"/>
            <a:ext cx="4631042" cy="34943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&lt;?php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$servername = "localhost";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$username = "root";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$password = "";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$dbname = "myDB";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// Create connection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400"/>
              <a:t>$conn = mysqli_connect($servername, $username, $password, $dbname);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154163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0E45-1A2E-4656-868F-DD47FF6E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8294"/>
          </a:xfrm>
        </p:spPr>
        <p:txBody>
          <a:bodyPr/>
          <a:lstStyle/>
          <a:p>
            <a:r>
              <a:rPr lang="en-AU" sz="4000" dirty="0">
                <a:solidFill>
                  <a:schemeClr val="accent2">
                    <a:lumMod val="50000"/>
                  </a:schemeClr>
                </a:solidFill>
              </a:rPr>
              <a:t>Useful Videos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D1721-0118-4F60-8079-A1951C00C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https://www.youtube.com/watch?v=OHjkg_rifTw</a:t>
            </a:r>
            <a:endParaRPr lang="en-AU" dirty="0"/>
          </a:p>
          <a:p>
            <a:endParaRPr lang="en-AU" dirty="0"/>
          </a:p>
          <a:p>
            <a:r>
              <a:rPr lang="en-AU" dirty="0">
                <a:hlinkClick r:id="rId3"/>
              </a:rPr>
              <a:t>https://www.youtube.com/watch?v=WYufSGgaCZ8</a:t>
            </a:r>
            <a:endParaRPr lang="en-AU" dirty="0"/>
          </a:p>
          <a:p>
            <a:endParaRPr lang="en-AU" dirty="0"/>
          </a:p>
          <a:p>
            <a:r>
              <a:rPr lang="en-AU" dirty="0">
                <a:hlinkClick r:id="rId4"/>
              </a:rPr>
              <a:t>https://www.youtube.com/watch?v=lGYixKGiY7Y</a:t>
            </a:r>
            <a:endParaRPr lang="en-AU" dirty="0"/>
          </a:p>
          <a:p>
            <a:endParaRPr lang="en-AU" dirty="0"/>
          </a:p>
          <a:p>
            <a:r>
              <a:rPr lang="en-AU" dirty="0">
                <a:hlinkClick r:id="rId5"/>
              </a:rPr>
              <a:t>https://www.youtube.com/watch?v=dMxS-asCFgQ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62282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34B8-16DF-424A-9256-0C3DF55A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246253"/>
            <a:ext cx="10515600" cy="759587"/>
          </a:xfrm>
        </p:spPr>
        <p:txBody>
          <a:bodyPr/>
          <a:lstStyle/>
          <a:p>
            <a:r>
              <a:rPr lang="en-AU" dirty="0">
                <a:solidFill>
                  <a:schemeClr val="accent2">
                    <a:lumMod val="50000"/>
                  </a:schemeClr>
                </a:solidFill>
              </a:rPr>
              <a:t>Assignment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A1028-2BEB-4E9B-8634-3770D4630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31" y="1128394"/>
            <a:ext cx="11863448" cy="4392296"/>
          </a:xfrm>
        </p:spPr>
        <p:txBody>
          <a:bodyPr>
            <a:normAutofit/>
          </a:bodyPr>
          <a:lstStyle/>
          <a:p>
            <a:r>
              <a:rPr lang="en-AU" sz="3200" dirty="0"/>
              <a:t>Web Development - Project 2</a:t>
            </a:r>
          </a:p>
          <a:p>
            <a:r>
              <a:rPr lang="en-AU" sz="3200" dirty="0"/>
              <a:t>50% weightage</a:t>
            </a:r>
          </a:p>
          <a:p>
            <a:r>
              <a:rPr lang="en-AU" sz="3200" dirty="0"/>
              <a:t>10 min demonstration by each student in Week 12</a:t>
            </a:r>
          </a:p>
          <a:p>
            <a:r>
              <a:rPr lang="en-AU" sz="3200" dirty="0"/>
              <a:t>Plan your demonstration. Practice few times before Presentation day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Zero marks if you are absent</a:t>
            </a:r>
          </a:p>
          <a:p>
            <a:r>
              <a:rPr lang="en-AU" sz="3200" dirty="0"/>
              <a:t>Students will be asked questions about their development after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938131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FE679-E3E5-4B9C-BB55-8D8171DD8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0860"/>
            <a:ext cx="10515600" cy="2005396"/>
          </a:xfrm>
        </p:spPr>
        <p:txBody>
          <a:bodyPr/>
          <a:lstStyle/>
          <a:p>
            <a:pPr marL="0" indent="0" algn="ctr">
              <a:buNone/>
            </a:pPr>
            <a:r>
              <a:rPr lang="en-AU" sz="6000" b="1" dirty="0">
                <a:solidFill>
                  <a:schemeClr val="accent1"/>
                </a:solidFill>
              </a:rPr>
              <a:t>Any Questions?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3221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ustom Design">
  <a:themeElements>
    <a:clrScheme name="SGSTC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6A06F"/>
      </a:accent1>
      <a:accent2>
        <a:srgbClr val="8ECEAB"/>
      </a:accent2>
      <a:accent3>
        <a:srgbClr val="B1DCC5"/>
      </a:accent3>
      <a:accent4>
        <a:srgbClr val="E7F4ED"/>
      </a:accent4>
      <a:accent5>
        <a:srgbClr val="347853"/>
      </a:accent5>
      <a:accent6>
        <a:srgbClr val="225037"/>
      </a:accent6>
      <a:hlink>
        <a:srgbClr val="0070C0"/>
      </a:hlink>
      <a:folHlink>
        <a:srgbClr val="AA024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-sistc" id="{A2464949-3B5F-47DC-983C-24F2EE1CDF86}" vid="{0B5B1221-0942-4A33-8E98-D77F9FFFECB4}"/>
    </a:ext>
  </a:extLst>
</a:theme>
</file>

<file path=ppt/theme/theme3.xml><?xml version="1.0" encoding="utf-8"?>
<a:theme xmlns:a="http://schemas.openxmlformats.org/drawingml/2006/main" name="Custom Design">
  <a:themeElements>
    <a:clrScheme name="SGSTC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6A06F"/>
      </a:accent1>
      <a:accent2>
        <a:srgbClr val="8ECEAB"/>
      </a:accent2>
      <a:accent3>
        <a:srgbClr val="B1DCC5"/>
      </a:accent3>
      <a:accent4>
        <a:srgbClr val="E7F4ED"/>
      </a:accent4>
      <a:accent5>
        <a:srgbClr val="347853"/>
      </a:accent5>
      <a:accent6>
        <a:srgbClr val="225037"/>
      </a:accent6>
      <a:hlink>
        <a:srgbClr val="0070C0"/>
      </a:hlink>
      <a:folHlink>
        <a:srgbClr val="AA024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AEG slide template master" id="{93971F77-F94F-4E5E-9417-CFBF9680F824}" vid="{83BD2626-2D74-4B93-9100-7AEAA01DAF0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GSTC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6A06F"/>
    </a:accent1>
    <a:accent2>
      <a:srgbClr val="8ECEAB"/>
    </a:accent2>
    <a:accent3>
      <a:srgbClr val="B1DCC5"/>
    </a:accent3>
    <a:accent4>
      <a:srgbClr val="E7F4ED"/>
    </a:accent4>
    <a:accent5>
      <a:srgbClr val="347853"/>
    </a:accent5>
    <a:accent6>
      <a:srgbClr val="225037"/>
    </a:accent6>
    <a:hlink>
      <a:srgbClr val="0070C0"/>
    </a:hlink>
    <a:folHlink>
      <a:srgbClr val="AA024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21027</TotalTime>
  <Words>4440</Words>
  <Application>Microsoft Office PowerPoint</Application>
  <PresentationFormat>Widescreen</PresentationFormat>
  <Paragraphs>574</Paragraphs>
  <Slides>69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Arial</vt:lpstr>
      <vt:lpstr>Calibri</vt:lpstr>
      <vt:lpstr>Calibri Light</vt:lpstr>
      <vt:lpstr>Courier New</vt:lpstr>
      <vt:lpstr>Office Theme</vt:lpstr>
      <vt:lpstr>2_Custom Design</vt:lpstr>
      <vt:lpstr>Custom Design</vt:lpstr>
      <vt:lpstr>ICT 101 Introduction to the Internet and Web Development</vt:lpstr>
      <vt:lpstr>  Weekly Learning Goals</vt:lpstr>
      <vt:lpstr>Week 10 Learning Outcomes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Week 10 Lab Preparation</vt:lpstr>
      <vt:lpstr>Today’s Webinar</vt:lpstr>
      <vt:lpstr>PHP Form Handling</vt:lpstr>
      <vt:lpstr>Submitting the Form Data to the Server</vt:lpstr>
      <vt:lpstr>POST Method </vt:lpstr>
      <vt:lpstr>GET Method</vt:lpstr>
      <vt:lpstr>GET and POST</vt:lpstr>
      <vt:lpstr>GET and POST</vt:lpstr>
      <vt:lpstr>Form Validation in PHP</vt:lpstr>
      <vt:lpstr>Solution</vt:lpstr>
      <vt:lpstr>Solution</vt:lpstr>
      <vt:lpstr>Adding Validation of Name and Email</vt:lpstr>
      <vt:lpstr>PowerPoint Presentation</vt:lpstr>
      <vt:lpstr>What is a Database?</vt:lpstr>
      <vt:lpstr>Database and Web Development</vt:lpstr>
      <vt:lpstr>Database Design</vt:lpstr>
      <vt:lpstr>Database Design</vt:lpstr>
      <vt:lpstr>Representation of Table</vt:lpstr>
      <vt:lpstr>Linking of Tables</vt:lpstr>
      <vt:lpstr>SQL </vt:lpstr>
      <vt:lpstr>What can SQL do?</vt:lpstr>
      <vt:lpstr>Data Retrieval</vt:lpstr>
      <vt:lpstr>Data Retrieval</vt:lpstr>
      <vt:lpstr>Inserting Data</vt:lpstr>
      <vt:lpstr>Update Data</vt:lpstr>
      <vt:lpstr>Delete Data</vt:lpstr>
      <vt:lpstr>MYSQL</vt:lpstr>
      <vt:lpstr>Database APIs</vt:lpstr>
      <vt:lpstr>phpMyAdmin</vt:lpstr>
      <vt:lpstr>Connecting to Server (MySqli Procedural)</vt:lpstr>
      <vt:lpstr>Create Database</vt:lpstr>
      <vt:lpstr>Create Table</vt:lpstr>
      <vt:lpstr>Create Table</vt:lpstr>
      <vt:lpstr> Insert Data Into MySQL Using MySQLi </vt:lpstr>
      <vt:lpstr>Insert Data Into Table</vt:lpstr>
      <vt:lpstr> Insert Data Into Table </vt:lpstr>
      <vt:lpstr>Insert Multiple Entries</vt:lpstr>
      <vt:lpstr>Select Data</vt:lpstr>
      <vt:lpstr>Filter Data</vt:lpstr>
      <vt:lpstr>Filter Data</vt:lpstr>
      <vt:lpstr>Update Data</vt:lpstr>
      <vt:lpstr>Update Data</vt:lpstr>
      <vt:lpstr>Delete Data</vt:lpstr>
      <vt:lpstr>Delete Data</vt:lpstr>
      <vt:lpstr>Useful Videos</vt:lpstr>
      <vt:lpstr>Assignment 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101 Introduction to the Internet and Web Development</dc:title>
  <dc:creator>zawar hussain Shah</dc:creator>
  <cp:lastModifiedBy>Farshid Keivanian</cp:lastModifiedBy>
  <cp:revision>316</cp:revision>
  <dcterms:created xsi:type="dcterms:W3CDTF">2020-12-05T01:25:12Z</dcterms:created>
  <dcterms:modified xsi:type="dcterms:W3CDTF">2026-05-18T07:00:05Z</dcterms:modified>
</cp:coreProperties>
</file>