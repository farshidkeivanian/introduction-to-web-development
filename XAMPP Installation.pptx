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66" r:id="rId3"/>
    <p:sldId id="368" r:id="rId4"/>
    <p:sldId id="369" r:id="rId5"/>
    <p:sldId id="370" r:id="rId6"/>
    <p:sldId id="371" r:id="rId7"/>
    <p:sldId id="40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59" d="100"/>
          <a:sy n="59" d="100"/>
        </p:scale>
        <p:origin x="882" y="2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5946-1B1A-2EB3-B65A-71F1C97F5A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B86237D-2345-C6E0-2B28-EFF97C7C0B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651F26A-81A8-F9ED-9D47-94695AA6D111}"/>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5" name="Footer Placeholder 4">
            <a:extLst>
              <a:ext uri="{FF2B5EF4-FFF2-40B4-BE49-F238E27FC236}">
                <a16:creationId xmlns:a16="http://schemas.microsoft.com/office/drawing/2014/main" id="{00C94D1E-B40E-549F-A36B-5DAA841BA3A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A81C3D-9FE0-3329-3262-654811008305}"/>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175139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3C1BF-9225-AAD4-1171-A9CA4F788BA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04EB282-40AF-CA1B-6ECC-C864C15D46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BA36A7B-DCE5-4367-9446-6F601AA79DBA}"/>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5" name="Footer Placeholder 4">
            <a:extLst>
              <a:ext uri="{FF2B5EF4-FFF2-40B4-BE49-F238E27FC236}">
                <a16:creationId xmlns:a16="http://schemas.microsoft.com/office/drawing/2014/main" id="{AE6C15A7-72F7-2D1E-1C3C-695F90D1EF2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26DE3F9-4337-942C-DB04-C0C27E333E19}"/>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4183719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FA23-15B8-AC6E-7492-5044363FFA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7A9EFC1-87F2-E9AB-ECBB-FFCC97A54E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DF34AA-243F-7C31-B4F0-72F0E7F29B98}"/>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5" name="Footer Placeholder 4">
            <a:extLst>
              <a:ext uri="{FF2B5EF4-FFF2-40B4-BE49-F238E27FC236}">
                <a16:creationId xmlns:a16="http://schemas.microsoft.com/office/drawing/2014/main" id="{52D57E80-8725-6B62-9ABB-6A77EDF22F8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88551D0-F5E6-5673-679B-AF867C826F37}"/>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2881913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E0735-4388-60A7-F41F-EBD74A3EA5E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B9EC8A7-6882-D5A0-62F3-A533418D0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C0697736-05BC-5489-7742-9E3C317221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4E220F2-B067-CAD6-7A85-CEF8EAD998AD}"/>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6" name="Footer Placeholder 5">
            <a:extLst>
              <a:ext uri="{FF2B5EF4-FFF2-40B4-BE49-F238E27FC236}">
                <a16:creationId xmlns:a16="http://schemas.microsoft.com/office/drawing/2014/main" id="{3300DE0B-B2E4-F92C-070B-EF8C53AD17F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DE4B572-243F-B700-056E-F65A647827FF}"/>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1585653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A8138-EA3A-BFE1-673E-DDABF8CD4F5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8EE9242-A46E-DADD-9744-82C16A952D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2D90F2-BE6A-079A-267F-E5B0F11A74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E455CA2A-9208-4D28-E938-5341B9B6D4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737000-E765-3919-D3D9-9291023B63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9C7E6EF-E1F2-3DEC-05CB-1D57F38D9001}"/>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8" name="Footer Placeholder 7">
            <a:extLst>
              <a:ext uri="{FF2B5EF4-FFF2-40B4-BE49-F238E27FC236}">
                <a16:creationId xmlns:a16="http://schemas.microsoft.com/office/drawing/2014/main" id="{F569B9C9-ED75-E5F3-C8F9-9E18A3050F3A}"/>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57B5593-B313-73E6-B554-513B6617CDE8}"/>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3522587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5554B-BCE5-09FD-A5D6-84B822570F6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E9D8CAB-33E7-0FFE-1866-F0843A2D34FF}"/>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4" name="Footer Placeholder 3">
            <a:extLst>
              <a:ext uri="{FF2B5EF4-FFF2-40B4-BE49-F238E27FC236}">
                <a16:creationId xmlns:a16="http://schemas.microsoft.com/office/drawing/2014/main" id="{BC49A19A-0180-6797-F9E6-4009164BC88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01119CD8-A209-C85E-0E57-28878722B182}"/>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3630130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30A03A-1932-0FA0-A811-02F5E01A9F60}"/>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3" name="Footer Placeholder 2">
            <a:extLst>
              <a:ext uri="{FF2B5EF4-FFF2-40B4-BE49-F238E27FC236}">
                <a16:creationId xmlns:a16="http://schemas.microsoft.com/office/drawing/2014/main" id="{695FF8A8-2272-0FB3-E629-FE23202D389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F5E68FB-A502-D9E0-55A9-1B9E10B0D848}"/>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3258090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B7BB0-569B-B0CC-650B-DDF550EAAF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97B5675-1D71-27D7-5A43-C239F474C1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44EB9DCA-FEEA-3AC2-2838-FEB522B20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2B8445-6AAD-5CEB-D374-1893A82DBCF5}"/>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6" name="Footer Placeholder 5">
            <a:extLst>
              <a:ext uri="{FF2B5EF4-FFF2-40B4-BE49-F238E27FC236}">
                <a16:creationId xmlns:a16="http://schemas.microsoft.com/office/drawing/2014/main" id="{E4935F10-B966-72E0-3028-8DFE0DB048E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64F3F2F-41A6-85FD-8BFD-EC6348CC1FEE}"/>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501312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CCBDA-74FF-3FD2-C88E-B13F46A07B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A2A370C-4674-CA80-81A5-901F9095B8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376F2D79-A97E-1BBB-C357-293B211DBD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CA1E0B-20AB-2082-BDA4-19B71BBA50BD}"/>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6" name="Footer Placeholder 5">
            <a:extLst>
              <a:ext uri="{FF2B5EF4-FFF2-40B4-BE49-F238E27FC236}">
                <a16:creationId xmlns:a16="http://schemas.microsoft.com/office/drawing/2014/main" id="{4BFD66D3-BDB3-ADFA-A4FF-1D6A71E360A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496B9E6-D6F6-9B68-F451-3BBF22363022}"/>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1679093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7754D-E566-8DAB-C72C-297BBB22BFC2}"/>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5FD04C-1CBB-D425-BC91-5F393CC906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4517DAA-CF60-1C64-D352-A144BF2324BD}"/>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5" name="Footer Placeholder 4">
            <a:extLst>
              <a:ext uri="{FF2B5EF4-FFF2-40B4-BE49-F238E27FC236}">
                <a16:creationId xmlns:a16="http://schemas.microsoft.com/office/drawing/2014/main" id="{AF3A27B0-2111-B9F6-505C-A5A1A518F1B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AA581D4-5320-B7EB-EFEC-6990174982A6}"/>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1357357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02A665-6A1D-3212-832F-0A68E6BCF0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47F0027-4447-CF51-9702-34C60BB4B5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473DD00-02BB-3577-C827-2EB5F64AFBAC}"/>
              </a:ext>
            </a:extLst>
          </p:cNvPr>
          <p:cNvSpPr>
            <a:spLocks noGrp="1"/>
          </p:cNvSpPr>
          <p:nvPr>
            <p:ph type="dt" sz="half" idx="10"/>
          </p:nvPr>
        </p:nvSpPr>
        <p:spPr/>
        <p:txBody>
          <a:bodyPr/>
          <a:lstStyle/>
          <a:p>
            <a:fld id="{B89EE76B-1285-4E44-82BF-6DB24F38C703}" type="datetimeFigureOut">
              <a:rPr lang="en-AU" smtClean="0"/>
              <a:t>23/03/2026</a:t>
            </a:fld>
            <a:endParaRPr lang="en-AU"/>
          </a:p>
        </p:txBody>
      </p:sp>
      <p:sp>
        <p:nvSpPr>
          <p:cNvPr id="5" name="Footer Placeholder 4">
            <a:extLst>
              <a:ext uri="{FF2B5EF4-FFF2-40B4-BE49-F238E27FC236}">
                <a16:creationId xmlns:a16="http://schemas.microsoft.com/office/drawing/2014/main" id="{8811E2D4-35DE-D8F2-3329-F846CCBE94D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0CEB453-820C-2D1A-5343-D2B02C7288F5}"/>
              </a:ext>
            </a:extLst>
          </p:cNvPr>
          <p:cNvSpPr>
            <a:spLocks noGrp="1"/>
          </p:cNvSpPr>
          <p:nvPr>
            <p:ph type="sldNum" sz="quarter" idx="12"/>
          </p:nvPr>
        </p:nvSpPr>
        <p:spPr/>
        <p:txBody>
          <a:bodyPr/>
          <a:lstStyle/>
          <a:p>
            <a:fld id="{9ED9E675-8252-4143-A62D-5C5234951786}" type="slidenum">
              <a:rPr lang="en-AU" smtClean="0"/>
              <a:t>‹#›</a:t>
            </a:fld>
            <a:endParaRPr lang="en-AU"/>
          </a:p>
        </p:txBody>
      </p:sp>
    </p:spTree>
    <p:extLst>
      <p:ext uri="{BB962C8B-B14F-4D97-AF65-F5344CB8AC3E}">
        <p14:creationId xmlns:p14="http://schemas.microsoft.com/office/powerpoint/2010/main" val="3183331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340F16-B844-AF9A-B288-5667404B30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4152511-15A1-8F56-B95C-90FEFCC407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80C0ACE-F2C6-37B2-BBC3-84CF776345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9EE76B-1285-4E44-82BF-6DB24F38C703}" type="datetimeFigureOut">
              <a:rPr lang="en-AU" smtClean="0"/>
              <a:t>23/03/2026</a:t>
            </a:fld>
            <a:endParaRPr lang="en-AU"/>
          </a:p>
        </p:txBody>
      </p:sp>
      <p:sp>
        <p:nvSpPr>
          <p:cNvPr id="5" name="Footer Placeholder 4">
            <a:extLst>
              <a:ext uri="{FF2B5EF4-FFF2-40B4-BE49-F238E27FC236}">
                <a16:creationId xmlns:a16="http://schemas.microsoft.com/office/drawing/2014/main" id="{D3673789-FD25-4DF0-1B73-1A252EAA8E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21ED2AAB-BB47-D9F2-2E57-6C84734903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D9E675-8252-4143-A62D-5C5234951786}" type="slidenum">
              <a:rPr lang="en-AU" smtClean="0"/>
              <a:t>‹#›</a:t>
            </a:fld>
            <a:endParaRPr lang="en-AU"/>
          </a:p>
        </p:txBody>
      </p:sp>
    </p:spTree>
    <p:extLst>
      <p:ext uri="{BB962C8B-B14F-4D97-AF65-F5344CB8AC3E}">
        <p14:creationId xmlns:p14="http://schemas.microsoft.com/office/powerpoint/2010/main" val="148546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apachefriends.org/de/download.html"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apachefriends.org/de/download.html"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hyperlink" Target="http://localhost/phpmyadmin"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10979-242B-C3D8-BDA0-C05FE0A5B61D}"/>
              </a:ext>
            </a:extLst>
          </p:cNvPr>
          <p:cNvSpPr>
            <a:spLocks noGrp="1"/>
          </p:cNvSpPr>
          <p:nvPr>
            <p:ph type="ctrTitle"/>
          </p:nvPr>
        </p:nvSpPr>
        <p:spPr/>
        <p:txBody>
          <a:bodyPr/>
          <a:lstStyle/>
          <a:p>
            <a:r>
              <a:rPr lang="en-AU" dirty="0"/>
              <a:t>XAMPP Installation</a:t>
            </a:r>
          </a:p>
        </p:txBody>
      </p:sp>
      <p:sp>
        <p:nvSpPr>
          <p:cNvPr id="3" name="Subtitle 2">
            <a:extLst>
              <a:ext uri="{FF2B5EF4-FFF2-40B4-BE49-F238E27FC236}">
                <a16:creationId xmlns:a16="http://schemas.microsoft.com/office/drawing/2014/main" id="{21A50CDA-6940-A64F-AA71-4C34DF2E7F09}"/>
              </a:ext>
            </a:extLst>
          </p:cNvPr>
          <p:cNvSpPr>
            <a:spLocks noGrp="1"/>
          </p:cNvSpPr>
          <p:nvPr>
            <p:ph type="subTitle" idx="1"/>
          </p:nvPr>
        </p:nvSpPr>
        <p:spPr/>
        <p:txBody>
          <a:bodyPr/>
          <a:lstStyle/>
          <a:p>
            <a:r>
              <a:rPr lang="en-AU" dirty="0"/>
              <a:t>Dr. Farshid Keivanian</a:t>
            </a:r>
          </a:p>
        </p:txBody>
      </p:sp>
    </p:spTree>
    <p:extLst>
      <p:ext uri="{BB962C8B-B14F-4D97-AF65-F5344CB8AC3E}">
        <p14:creationId xmlns:p14="http://schemas.microsoft.com/office/powerpoint/2010/main" val="263155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828" y="1595340"/>
            <a:ext cx="8206795" cy="5050787"/>
          </a:xfrm>
        </p:spPr>
        <p:txBody>
          <a:bodyPr>
            <a:normAutofit fontScale="90000"/>
          </a:bodyPr>
          <a:lstStyle/>
          <a:p>
            <a:pPr>
              <a:lnSpc>
                <a:spcPct val="150000"/>
              </a:lnSpc>
              <a:spcAft>
                <a:spcPts val="800"/>
              </a:spcAft>
            </a:pPr>
            <a:r>
              <a:rPr lang="en-AU" sz="2200" b="1" dirty="0">
                <a:effectLst/>
                <a:latin typeface="Calibri" panose="020F0502020204030204" pitchFamily="34" charset="0"/>
                <a:ea typeface="Calibri" panose="020F0502020204030204" pitchFamily="34" charset="0"/>
                <a:cs typeface="Arial" panose="020B0604020202020204" pitchFamily="34" charset="0"/>
              </a:rPr>
              <a:t>Complete the following tasks:</a:t>
            </a:r>
            <a:br>
              <a:rPr lang="en-US" sz="2200" dirty="0">
                <a:effectLst/>
                <a:latin typeface="Calibri" panose="020F0502020204030204" pitchFamily="34" charset="0"/>
                <a:ea typeface="Calibri" panose="020F0502020204030204" pitchFamily="34" charset="0"/>
                <a:cs typeface="Arial" panose="020B0604020202020204" pitchFamily="34" charset="0"/>
              </a:rPr>
            </a:br>
            <a:r>
              <a:rPr lang="en-AU" sz="2200" dirty="0">
                <a:effectLst/>
                <a:latin typeface="Calibri" panose="020F0502020204030204" pitchFamily="34" charset="0"/>
                <a:ea typeface="Calibri" panose="020F0502020204030204" pitchFamily="34" charset="0"/>
                <a:cs typeface="Arial" panose="020B0604020202020204" pitchFamily="34" charset="0"/>
              </a:rPr>
              <a:t> </a:t>
            </a:r>
            <a:br>
              <a:rPr lang="en-US" sz="2200" dirty="0">
                <a:effectLst/>
                <a:latin typeface="Calibri" panose="020F0502020204030204" pitchFamily="34" charset="0"/>
                <a:ea typeface="Calibri" panose="020F0502020204030204" pitchFamily="34" charset="0"/>
                <a:cs typeface="Arial" panose="020B0604020202020204" pitchFamily="34" charset="0"/>
              </a:rPr>
            </a:br>
            <a:r>
              <a:rPr lang="en-AU" sz="2200" b="1" dirty="0">
                <a:effectLst/>
                <a:highlight>
                  <a:srgbClr val="FFFF00"/>
                </a:highlight>
                <a:latin typeface="Calibri" panose="020F0502020204030204" pitchFamily="34" charset="0"/>
                <a:ea typeface="Calibri" panose="020F0502020204030204" pitchFamily="34" charset="0"/>
                <a:cs typeface="Arial" panose="020B0604020202020204" pitchFamily="34" charset="0"/>
              </a:rPr>
              <a:t>Task 1:</a:t>
            </a:r>
            <a:r>
              <a:rPr lang="en-AU" sz="2200" b="1" dirty="0">
                <a:effectLst/>
                <a:latin typeface="Calibri" panose="020F0502020204030204" pitchFamily="34" charset="0"/>
                <a:ea typeface="Calibri" panose="020F0502020204030204" pitchFamily="34" charset="0"/>
                <a:cs typeface="Arial" panose="020B0604020202020204" pitchFamily="34" charset="0"/>
              </a:rPr>
              <a:t> </a:t>
            </a:r>
            <a:r>
              <a:rPr lang="en-AU" sz="2200" dirty="0">
                <a:effectLst/>
                <a:latin typeface="Calibri" panose="020F0502020204030204" pitchFamily="34" charset="0"/>
                <a:ea typeface="Calibri" panose="020F0502020204030204" pitchFamily="34" charset="0"/>
                <a:cs typeface="Arial" panose="020B0604020202020204" pitchFamily="34" charset="0"/>
              </a:rPr>
              <a:t>Install </a:t>
            </a:r>
            <a:r>
              <a:rPr lang="en-US" sz="2200" dirty="0">
                <a:effectLst/>
                <a:latin typeface="Calibri" panose="020F0502020204030204" pitchFamily="34" charset="0"/>
                <a:ea typeface="Calibri" panose="020F0502020204030204" pitchFamily="34" charset="0"/>
                <a:cs typeface="Arial" panose="020B0604020202020204" pitchFamily="34" charset="0"/>
              </a:rPr>
              <a:t>XAMPP on Windows: A popular PHP and HTML development environment that allows you to run web codes locally on your computer. It includes Apache server, MySQL, and PHP. You can download it from the official XAMPP website, install it, and place your PHP files in the </a:t>
            </a:r>
            <a:r>
              <a:rPr lang="en-US" sz="2200" b="1" dirty="0" err="1">
                <a:effectLst/>
                <a:latin typeface="Calibri" panose="020F0502020204030204" pitchFamily="34" charset="0"/>
                <a:ea typeface="Calibri" panose="020F0502020204030204" pitchFamily="34" charset="0"/>
                <a:cs typeface="Arial" panose="020B0604020202020204" pitchFamily="34" charset="0"/>
              </a:rPr>
              <a:t>htdocs</a:t>
            </a:r>
            <a:r>
              <a:rPr lang="en-US" sz="2200" dirty="0">
                <a:effectLst/>
                <a:latin typeface="Calibri" panose="020F0502020204030204" pitchFamily="34" charset="0"/>
                <a:ea typeface="Calibri" panose="020F0502020204030204" pitchFamily="34" charset="0"/>
                <a:cs typeface="Arial" panose="020B0604020202020204" pitchFamily="34" charset="0"/>
              </a:rPr>
              <a:t> folder.</a:t>
            </a:r>
            <a:r>
              <a:rPr lang="en-AU" sz="2200" dirty="0">
                <a:effectLst/>
                <a:latin typeface="Calibri" panose="020F0502020204030204" pitchFamily="34" charset="0"/>
                <a:ea typeface="Calibri" panose="020F0502020204030204" pitchFamily="34" charset="0"/>
                <a:cs typeface="Arial" panose="020B0604020202020204" pitchFamily="34" charset="0"/>
              </a:rPr>
              <a:t> </a:t>
            </a:r>
            <a:r>
              <a:rPr lang="en-AU" sz="2200" dirty="0">
                <a:effectLst/>
                <a:latin typeface="Calibri" panose="020F0502020204030204" pitchFamily="34" charset="0"/>
                <a:ea typeface="Calibri" panose="020F0502020204030204" pitchFamily="34" charset="0"/>
                <a:cs typeface="Arial" panose="020B0604020202020204" pitchFamily="34" charset="0"/>
                <a:hlinkClick r:id="rId2"/>
              </a:rPr>
              <a:t>https://www.apachefriends.org/de/download.html</a:t>
            </a:r>
            <a:r>
              <a:rPr lang="en-AU" sz="2200" dirty="0">
                <a:effectLst/>
                <a:latin typeface="Calibri" panose="020F0502020204030204" pitchFamily="34" charset="0"/>
                <a:ea typeface="Calibri" panose="020F0502020204030204" pitchFamily="34" charset="0"/>
                <a:cs typeface="Arial" panose="020B0604020202020204" pitchFamily="34" charset="0"/>
              </a:rPr>
              <a:t> </a:t>
            </a:r>
            <a:br>
              <a:rPr lang="en-AU" sz="2200" dirty="0">
                <a:effectLst/>
                <a:latin typeface="Calibri" panose="020F0502020204030204" pitchFamily="34" charset="0"/>
                <a:ea typeface="Calibri" panose="020F0502020204030204" pitchFamily="34" charset="0"/>
                <a:cs typeface="Arial" panose="020B0604020202020204" pitchFamily="34" charset="0"/>
              </a:rPr>
            </a:br>
            <a:r>
              <a:rPr lang="en-AU" sz="2200" dirty="0">
                <a:effectLst/>
                <a:latin typeface="Calibri" panose="020F0502020204030204" pitchFamily="34" charset="0"/>
                <a:ea typeface="Calibri" panose="020F0502020204030204" pitchFamily="34" charset="0"/>
                <a:cs typeface="Arial" panose="020B0604020202020204" pitchFamily="34" charset="0"/>
              </a:rPr>
              <a:t>* Or </a:t>
            </a:r>
            <a:r>
              <a:rPr lang="en-AU" sz="2200" dirty="0">
                <a:latin typeface="Calibri" panose="020F0502020204030204" pitchFamily="34" charset="0"/>
                <a:ea typeface="Calibri" panose="020F0502020204030204" pitchFamily="34" charset="0"/>
                <a:cs typeface="Arial" panose="020B0604020202020204" pitchFamily="34" charset="0"/>
              </a:rPr>
              <a:t>Install </a:t>
            </a:r>
            <a:r>
              <a:rPr lang="en-US" sz="2200" b="1" dirty="0">
                <a:latin typeface="Calibri" panose="020F0502020204030204" pitchFamily="34" charset="0"/>
                <a:ea typeface="Calibri" panose="020F0502020204030204" pitchFamily="34" charset="0"/>
                <a:cs typeface="Arial" panose="020B0604020202020204" pitchFamily="34" charset="0"/>
              </a:rPr>
              <a:t>MAMP</a:t>
            </a:r>
            <a:r>
              <a:rPr lang="en-US" sz="2200" dirty="0">
                <a:latin typeface="Calibri" panose="020F0502020204030204" pitchFamily="34" charset="0"/>
                <a:ea typeface="Calibri" panose="020F0502020204030204" pitchFamily="34" charset="0"/>
                <a:cs typeface="Arial" panose="020B0604020202020204" pitchFamily="34" charset="0"/>
              </a:rPr>
              <a:t>: Similar to XAMPP, MAMP is another local server environment primarily used on MacOS and Windows. After installing MAMP, you can put your PHP files in the </a:t>
            </a:r>
            <a:r>
              <a:rPr lang="en-US" sz="2200" b="1" dirty="0" err="1">
                <a:latin typeface="Calibri" panose="020F0502020204030204" pitchFamily="34" charset="0"/>
                <a:ea typeface="Calibri" panose="020F0502020204030204" pitchFamily="34" charset="0"/>
                <a:cs typeface="Arial" panose="020B0604020202020204" pitchFamily="34" charset="0"/>
              </a:rPr>
              <a:t>htdocs</a:t>
            </a:r>
            <a:r>
              <a:rPr lang="en-US" sz="2200" dirty="0">
                <a:latin typeface="Calibri" panose="020F0502020204030204" pitchFamily="34" charset="0"/>
                <a:ea typeface="Calibri" panose="020F0502020204030204" pitchFamily="34" charset="0"/>
                <a:cs typeface="Arial" panose="020B0604020202020204" pitchFamily="34" charset="0"/>
              </a:rPr>
              <a:t> folder.</a:t>
            </a:r>
            <a:endParaRPr lang="en-US" sz="2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C395533-9728-B1E2-48D0-BB566A8BC1BB}"/>
              </a:ext>
            </a:extLst>
          </p:cNvPr>
          <p:cNvPicPr>
            <a:picLocks noChangeAspect="1"/>
          </p:cNvPicPr>
          <p:nvPr/>
        </p:nvPicPr>
        <p:blipFill>
          <a:blip r:embed="rId3"/>
          <a:stretch>
            <a:fillRect/>
          </a:stretch>
        </p:blipFill>
        <p:spPr>
          <a:xfrm>
            <a:off x="8586439" y="-1"/>
            <a:ext cx="3605561" cy="6873411"/>
          </a:xfrm>
          <a:prstGeom prst="rect">
            <a:avLst/>
          </a:prstGeom>
        </p:spPr>
      </p:pic>
    </p:spTree>
    <p:extLst>
      <p:ext uri="{BB962C8B-B14F-4D97-AF65-F5344CB8AC3E}">
        <p14:creationId xmlns:p14="http://schemas.microsoft.com/office/powerpoint/2010/main" val="3194703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828" y="1694985"/>
            <a:ext cx="5869465" cy="4951142"/>
          </a:xfrm>
        </p:spPr>
        <p:txBody>
          <a:bodyPr>
            <a:normAutofit/>
          </a:bodyPr>
          <a:lstStyle/>
          <a:p>
            <a:pPr>
              <a:lnSpc>
                <a:spcPct val="150000"/>
              </a:lnSpc>
              <a:spcAft>
                <a:spcPts val="800"/>
              </a:spcAft>
            </a:pPr>
            <a:r>
              <a:rPr lang="en-AU" sz="2200" b="1" dirty="0">
                <a:effectLst/>
                <a:latin typeface="Calibri" panose="020F0502020204030204" pitchFamily="34" charset="0"/>
                <a:ea typeface="Calibri" panose="020F0502020204030204" pitchFamily="34" charset="0"/>
                <a:cs typeface="Arial" panose="020B0604020202020204" pitchFamily="34" charset="0"/>
              </a:rPr>
              <a:t>Complete the following tasks:</a:t>
            </a:r>
            <a:br>
              <a:rPr lang="en-US" sz="2200" dirty="0">
                <a:effectLst/>
                <a:latin typeface="Calibri" panose="020F0502020204030204" pitchFamily="34" charset="0"/>
                <a:ea typeface="Calibri" panose="020F0502020204030204" pitchFamily="34" charset="0"/>
                <a:cs typeface="Arial" panose="020B0604020202020204" pitchFamily="34" charset="0"/>
              </a:rPr>
            </a:br>
            <a:r>
              <a:rPr lang="en-AU" sz="2200" dirty="0">
                <a:effectLst/>
                <a:latin typeface="Calibri" panose="020F0502020204030204" pitchFamily="34" charset="0"/>
                <a:ea typeface="Calibri" panose="020F0502020204030204" pitchFamily="34" charset="0"/>
                <a:cs typeface="Arial" panose="020B0604020202020204" pitchFamily="34" charset="0"/>
              </a:rPr>
              <a:t> </a:t>
            </a:r>
            <a:br>
              <a:rPr lang="en-US" sz="2200" dirty="0">
                <a:effectLst/>
                <a:latin typeface="Calibri" panose="020F0502020204030204" pitchFamily="34" charset="0"/>
                <a:ea typeface="Calibri" panose="020F0502020204030204" pitchFamily="34" charset="0"/>
                <a:cs typeface="Arial" panose="020B0604020202020204" pitchFamily="34" charset="0"/>
              </a:rPr>
            </a:br>
            <a:r>
              <a:rPr lang="en-AU" sz="2200" b="1" dirty="0">
                <a:effectLst/>
                <a:highlight>
                  <a:srgbClr val="FFFF00"/>
                </a:highlight>
                <a:latin typeface="Calibri" panose="020F0502020204030204" pitchFamily="34" charset="0"/>
                <a:ea typeface="Calibri" panose="020F0502020204030204" pitchFamily="34" charset="0"/>
                <a:cs typeface="Arial" panose="020B0604020202020204" pitchFamily="34" charset="0"/>
              </a:rPr>
              <a:t>Task 1:</a:t>
            </a:r>
            <a:r>
              <a:rPr lang="en-AU" sz="2200" b="1" dirty="0">
                <a:effectLst/>
                <a:latin typeface="Calibri" panose="020F0502020204030204" pitchFamily="34" charset="0"/>
                <a:ea typeface="Calibri" panose="020F0502020204030204" pitchFamily="34" charset="0"/>
                <a:cs typeface="Arial" panose="020B0604020202020204" pitchFamily="34" charset="0"/>
              </a:rPr>
              <a:t> </a:t>
            </a:r>
            <a:r>
              <a:rPr lang="en-AU" sz="2200" dirty="0">
                <a:effectLst/>
                <a:latin typeface="Calibri" panose="020F0502020204030204" pitchFamily="34" charset="0"/>
                <a:ea typeface="Calibri" panose="020F0502020204030204" pitchFamily="34" charset="0"/>
                <a:cs typeface="Arial" panose="020B0604020202020204" pitchFamily="34" charset="0"/>
              </a:rPr>
              <a:t>Install </a:t>
            </a:r>
            <a:r>
              <a:rPr lang="en-AU" sz="2200" dirty="0" err="1">
                <a:effectLst/>
                <a:latin typeface="Calibri" panose="020F0502020204030204" pitchFamily="34" charset="0"/>
                <a:ea typeface="Calibri" panose="020F0502020204030204" pitchFamily="34" charset="0"/>
                <a:cs typeface="Arial" panose="020B0604020202020204" pitchFamily="34" charset="0"/>
              </a:rPr>
              <a:t>Xampp</a:t>
            </a:r>
            <a:r>
              <a:rPr lang="en-AU" sz="2200" dirty="0">
                <a:effectLst/>
                <a:latin typeface="Calibri" panose="020F0502020204030204" pitchFamily="34" charset="0"/>
                <a:ea typeface="Calibri" panose="020F0502020204030204" pitchFamily="34" charset="0"/>
                <a:cs typeface="Arial" panose="020B0604020202020204" pitchFamily="34" charset="0"/>
              </a:rPr>
              <a:t> as the webserver on your systems and test it.</a:t>
            </a:r>
            <a:br>
              <a:rPr lang="en-AU" sz="2200" dirty="0">
                <a:effectLst/>
                <a:latin typeface="Calibri" panose="020F0502020204030204" pitchFamily="34" charset="0"/>
                <a:ea typeface="Calibri" panose="020F0502020204030204" pitchFamily="34" charset="0"/>
                <a:cs typeface="Arial" panose="020B0604020202020204" pitchFamily="34" charset="0"/>
              </a:rPr>
            </a:br>
            <a:r>
              <a:rPr lang="en-AU" sz="2200" dirty="0">
                <a:effectLst/>
                <a:latin typeface="Calibri" panose="020F0502020204030204" pitchFamily="34" charset="0"/>
                <a:ea typeface="Calibri" panose="020F0502020204030204" pitchFamily="34" charset="0"/>
                <a:cs typeface="Arial" panose="020B0604020202020204" pitchFamily="34" charset="0"/>
                <a:hlinkClick r:id="rId2"/>
              </a:rPr>
              <a:t>https://www.apachefriends.org/de/download.html</a:t>
            </a:r>
            <a:r>
              <a:rPr lang="en-AU" sz="2200" dirty="0">
                <a:effectLst/>
                <a:latin typeface="Calibri" panose="020F0502020204030204" pitchFamily="34" charset="0"/>
                <a:ea typeface="Calibri" panose="020F0502020204030204" pitchFamily="34" charset="0"/>
                <a:cs typeface="Arial" panose="020B0604020202020204" pitchFamily="34" charset="0"/>
              </a:rPr>
              <a:t> </a:t>
            </a:r>
            <a:endParaRPr lang="en-US" sz="2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39F0F08-AB39-03A7-1BD5-B56E92A71556}"/>
              </a:ext>
            </a:extLst>
          </p:cNvPr>
          <p:cNvPicPr>
            <a:picLocks noChangeAspect="1"/>
          </p:cNvPicPr>
          <p:nvPr/>
        </p:nvPicPr>
        <p:blipFill>
          <a:blip r:embed="rId3"/>
          <a:stretch>
            <a:fillRect/>
          </a:stretch>
        </p:blipFill>
        <p:spPr>
          <a:xfrm>
            <a:off x="6516737" y="1694985"/>
            <a:ext cx="4674660" cy="3869945"/>
          </a:xfrm>
          <a:prstGeom prst="rect">
            <a:avLst/>
          </a:prstGeom>
        </p:spPr>
      </p:pic>
    </p:spTree>
    <p:extLst>
      <p:ext uri="{BB962C8B-B14F-4D97-AF65-F5344CB8AC3E}">
        <p14:creationId xmlns:p14="http://schemas.microsoft.com/office/powerpoint/2010/main" val="2399623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7ECB9C-3176-62B5-5CC1-2961BE5566D9}"/>
              </a:ext>
            </a:extLst>
          </p:cNvPr>
          <p:cNvPicPr>
            <a:picLocks noChangeAspect="1"/>
          </p:cNvPicPr>
          <p:nvPr/>
        </p:nvPicPr>
        <p:blipFill>
          <a:blip r:embed="rId2"/>
          <a:stretch>
            <a:fillRect/>
          </a:stretch>
        </p:blipFill>
        <p:spPr>
          <a:xfrm>
            <a:off x="6101345" y="1869333"/>
            <a:ext cx="4718553" cy="3891892"/>
          </a:xfrm>
          <a:prstGeom prst="rect">
            <a:avLst/>
          </a:prstGeom>
        </p:spPr>
      </p:pic>
      <p:pic>
        <p:nvPicPr>
          <p:cNvPr id="7" name="Picture 6">
            <a:extLst>
              <a:ext uri="{FF2B5EF4-FFF2-40B4-BE49-F238E27FC236}">
                <a16:creationId xmlns:a16="http://schemas.microsoft.com/office/drawing/2014/main" id="{39C8A65A-B7AF-285B-995B-37215C61B601}"/>
              </a:ext>
            </a:extLst>
          </p:cNvPr>
          <p:cNvPicPr>
            <a:picLocks noChangeAspect="1"/>
          </p:cNvPicPr>
          <p:nvPr/>
        </p:nvPicPr>
        <p:blipFill>
          <a:blip r:embed="rId3"/>
          <a:stretch>
            <a:fillRect/>
          </a:stretch>
        </p:blipFill>
        <p:spPr>
          <a:xfrm>
            <a:off x="989521" y="1832755"/>
            <a:ext cx="4733184" cy="3928470"/>
          </a:xfrm>
          <a:prstGeom prst="rect">
            <a:avLst/>
          </a:prstGeom>
        </p:spPr>
      </p:pic>
    </p:spTree>
    <p:extLst>
      <p:ext uri="{BB962C8B-B14F-4D97-AF65-F5344CB8AC3E}">
        <p14:creationId xmlns:p14="http://schemas.microsoft.com/office/powerpoint/2010/main" val="365996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6C28B4-B5D0-B65C-B77E-BDC4449A9369}"/>
              </a:ext>
            </a:extLst>
          </p:cNvPr>
          <p:cNvPicPr>
            <a:picLocks noChangeAspect="1"/>
          </p:cNvPicPr>
          <p:nvPr/>
        </p:nvPicPr>
        <p:blipFill>
          <a:blip r:embed="rId2"/>
          <a:stretch>
            <a:fillRect/>
          </a:stretch>
        </p:blipFill>
        <p:spPr>
          <a:xfrm>
            <a:off x="3401122" y="1758183"/>
            <a:ext cx="5389756" cy="4456756"/>
          </a:xfrm>
          <a:prstGeom prst="rect">
            <a:avLst/>
          </a:prstGeom>
        </p:spPr>
      </p:pic>
    </p:spTree>
    <p:extLst>
      <p:ext uri="{BB962C8B-B14F-4D97-AF65-F5344CB8AC3E}">
        <p14:creationId xmlns:p14="http://schemas.microsoft.com/office/powerpoint/2010/main" val="349931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E3C860-EF15-EB27-33BF-B6D11D90EFF7}"/>
              </a:ext>
            </a:extLst>
          </p:cNvPr>
          <p:cNvPicPr>
            <a:picLocks noChangeAspect="1"/>
          </p:cNvPicPr>
          <p:nvPr/>
        </p:nvPicPr>
        <p:blipFill>
          <a:blip r:embed="rId2"/>
          <a:stretch>
            <a:fillRect/>
          </a:stretch>
        </p:blipFill>
        <p:spPr>
          <a:xfrm>
            <a:off x="2439486" y="1761891"/>
            <a:ext cx="6844678" cy="4471642"/>
          </a:xfrm>
          <a:prstGeom prst="rect">
            <a:avLst/>
          </a:prstGeom>
        </p:spPr>
      </p:pic>
    </p:spTree>
    <p:extLst>
      <p:ext uri="{BB962C8B-B14F-4D97-AF65-F5344CB8AC3E}">
        <p14:creationId xmlns:p14="http://schemas.microsoft.com/office/powerpoint/2010/main" val="2941773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09B786-0CD0-23B2-1611-D271A07AF124}"/>
              </a:ext>
            </a:extLst>
          </p:cNvPr>
          <p:cNvSpPr>
            <a:spLocks noGrp="1"/>
          </p:cNvSpPr>
          <p:nvPr>
            <p:ph type="sldNum" sz="quarter" idx="12"/>
          </p:nvPr>
        </p:nvSpPr>
        <p:spPr/>
        <p:txBody>
          <a:bodyPr/>
          <a:lstStyle/>
          <a:p>
            <a:fld id="{F830CF16-402D-43F7-B818-8640906456B2}" type="slidenum">
              <a:rPr lang="en-AU" smtClean="0"/>
              <a:t>7</a:t>
            </a:fld>
            <a:endParaRPr lang="en-AU"/>
          </a:p>
        </p:txBody>
      </p:sp>
      <p:sp>
        <p:nvSpPr>
          <p:cNvPr id="4" name="TextBox 3">
            <a:extLst>
              <a:ext uri="{FF2B5EF4-FFF2-40B4-BE49-F238E27FC236}">
                <a16:creationId xmlns:a16="http://schemas.microsoft.com/office/drawing/2014/main" id="{F20DBD5D-8F6A-29EA-0C55-8FB0C8F33C2F}"/>
              </a:ext>
            </a:extLst>
          </p:cNvPr>
          <p:cNvSpPr txBox="1"/>
          <p:nvPr/>
        </p:nvSpPr>
        <p:spPr>
          <a:xfrm>
            <a:off x="0" y="-5417"/>
            <a:ext cx="12191999" cy="6717223"/>
          </a:xfrm>
          <a:prstGeom prst="rect">
            <a:avLst/>
          </a:prstGeom>
          <a:solidFill>
            <a:schemeClr val="bg1"/>
          </a:solidFill>
        </p:spPr>
        <p:txBody>
          <a:bodyPr wrap="square" rtlCol="0">
            <a:spAutoFit/>
          </a:bodyPr>
          <a:lstStyle/>
          <a:p>
            <a:pPr marL="457200" indent="-457200">
              <a:buFont typeface="+mj-lt"/>
              <a:buAutoNum type="arabicPeriod"/>
            </a:pPr>
            <a:r>
              <a:rPr lang="en-US" sz="2050" b="1" dirty="0"/>
              <a:t> Download XAMPP for macOS:</a:t>
            </a:r>
          </a:p>
          <a:p>
            <a:pPr marL="342900" indent="-342900">
              <a:buFont typeface="Arial" panose="020B0604020202020204" pitchFamily="34" charset="0"/>
              <a:buChar char="•"/>
            </a:pPr>
            <a:r>
              <a:rPr lang="en-US" sz="2050" dirty="0"/>
              <a:t>Visit the Apache Friends website at apachefriends.org.</a:t>
            </a:r>
          </a:p>
          <a:p>
            <a:pPr marL="342900" indent="-342900">
              <a:buFont typeface="Arial" panose="020B0604020202020204" pitchFamily="34" charset="0"/>
              <a:buChar char="•"/>
            </a:pPr>
            <a:r>
              <a:rPr lang="en-US" sz="2050" dirty="0"/>
              <a:t>Click on "XAMPP for OS X" and download the installer.</a:t>
            </a:r>
          </a:p>
          <a:p>
            <a:r>
              <a:rPr lang="en-US" sz="2050" b="1" dirty="0"/>
              <a:t>2.      Install XAMPP:</a:t>
            </a:r>
          </a:p>
          <a:p>
            <a:pPr marL="342900" indent="-342900">
              <a:buFont typeface="Arial" panose="020B0604020202020204" pitchFamily="34" charset="0"/>
              <a:buChar char="•"/>
            </a:pPr>
            <a:r>
              <a:rPr lang="en-US" sz="2050" dirty="0"/>
              <a:t>Open the downloaded file (a DMG file).</a:t>
            </a:r>
          </a:p>
          <a:p>
            <a:pPr marL="342900" indent="-342900">
              <a:buFont typeface="Arial" panose="020B0604020202020204" pitchFamily="34" charset="0"/>
              <a:buChar char="•"/>
            </a:pPr>
            <a:r>
              <a:rPr lang="en-US" sz="2050" dirty="0"/>
              <a:t>Drag and drop the XAMPP icon into your Applications folder as instructed by the installer.</a:t>
            </a:r>
          </a:p>
          <a:p>
            <a:r>
              <a:rPr lang="en-US" sz="2050" b="1" dirty="0"/>
              <a:t>3.      Launch XAMPP:</a:t>
            </a:r>
          </a:p>
          <a:p>
            <a:pPr marL="342900" indent="-342900">
              <a:buFont typeface="Arial" panose="020B0604020202020204" pitchFamily="34" charset="0"/>
              <a:buChar char="•"/>
            </a:pPr>
            <a:r>
              <a:rPr lang="en-US" sz="2050" dirty="0"/>
              <a:t>Go to your Applications folder and open XAMPP.</a:t>
            </a:r>
          </a:p>
          <a:p>
            <a:pPr marL="342900" indent="-342900">
              <a:buFont typeface="Arial" panose="020B0604020202020204" pitchFamily="34" charset="0"/>
              <a:buChar char="•"/>
            </a:pPr>
            <a:r>
              <a:rPr lang="en-US" sz="2050" dirty="0"/>
              <a:t>You might need to grant security permissions to open XAMPP since it was downloaded from the Internet. You can do this from the 'Security &amp; Privacy' settings in the System Preferences.</a:t>
            </a:r>
          </a:p>
          <a:p>
            <a:r>
              <a:rPr lang="en-US" sz="2050" b="1" dirty="0"/>
              <a:t>4.      Manage Servers:</a:t>
            </a:r>
          </a:p>
          <a:p>
            <a:pPr marL="342900" indent="-342900">
              <a:buFont typeface="Arial" panose="020B0604020202020204" pitchFamily="34" charset="0"/>
              <a:buChar char="•"/>
            </a:pPr>
            <a:r>
              <a:rPr lang="en-US" sz="2050" dirty="0"/>
              <a:t>Use the XAMPP Control Panel to start/stop Apache, MySQL, and other services. You can also check the status of these services here.</a:t>
            </a:r>
          </a:p>
          <a:p>
            <a:pPr marL="342900" indent="-342900">
              <a:buFont typeface="Arial" panose="020B0604020202020204" pitchFamily="34" charset="0"/>
              <a:buChar char="•"/>
            </a:pPr>
            <a:r>
              <a:rPr lang="en-US" sz="2050" dirty="0"/>
              <a:t>Click on the "Manage Servers" tab, and then you can start or stop individual services like Apache, MySQL, etc.</a:t>
            </a:r>
          </a:p>
          <a:p>
            <a:r>
              <a:rPr lang="en-US" sz="2050" b="1" dirty="0"/>
              <a:t>5.      Access Your Local Server:</a:t>
            </a:r>
          </a:p>
          <a:p>
            <a:pPr marL="342900" indent="-342900">
              <a:buFont typeface="Arial" panose="020B0604020202020204" pitchFamily="34" charset="0"/>
              <a:buChar char="•"/>
            </a:pPr>
            <a:r>
              <a:rPr lang="en-US" sz="2050" dirty="0"/>
              <a:t>Once Apache starts, you can access your local server by going to http://localhost in your web browser.</a:t>
            </a:r>
          </a:p>
          <a:p>
            <a:pPr marL="342900" indent="-342900">
              <a:buFont typeface="Arial" panose="020B0604020202020204" pitchFamily="34" charset="0"/>
              <a:buChar char="•"/>
            </a:pPr>
            <a:r>
              <a:rPr lang="en-US" sz="2050" dirty="0"/>
              <a:t>You can place your website files in the </a:t>
            </a:r>
            <a:r>
              <a:rPr lang="en-US" sz="2050" dirty="0" err="1"/>
              <a:t>htdocs</a:t>
            </a:r>
            <a:r>
              <a:rPr lang="en-US" sz="2050" dirty="0"/>
              <a:t> folder inside the XAMPP directory to serve them through the local server.</a:t>
            </a:r>
          </a:p>
          <a:p>
            <a:r>
              <a:rPr lang="en-US" sz="2050" b="1" dirty="0"/>
              <a:t>6.      Use phpMyAdmin:</a:t>
            </a:r>
          </a:p>
          <a:p>
            <a:pPr marL="342900" indent="-342900">
              <a:buFont typeface="Arial" panose="020B0604020202020204" pitchFamily="34" charset="0"/>
              <a:buChar char="•"/>
            </a:pPr>
            <a:r>
              <a:rPr lang="en-US" sz="2050" dirty="0"/>
              <a:t>If you need to manage databases, XAMPP includes phpMyAdmin.</a:t>
            </a:r>
          </a:p>
          <a:p>
            <a:pPr marL="342900" indent="-342900">
              <a:buFont typeface="Arial" panose="020B0604020202020204" pitchFamily="34" charset="0"/>
              <a:buChar char="•"/>
            </a:pPr>
            <a:r>
              <a:rPr lang="en-US" sz="2050" dirty="0"/>
              <a:t>Access phpMyAdmin by visiting </a:t>
            </a:r>
            <a:r>
              <a:rPr lang="en-US" sz="2050" dirty="0">
                <a:hlinkClick r:id="rId2"/>
              </a:rPr>
              <a:t>http://localhost/phpmyadmin</a:t>
            </a:r>
            <a:r>
              <a:rPr lang="en-US" sz="2050" dirty="0"/>
              <a:t>  in your browser.</a:t>
            </a:r>
            <a:endParaRPr lang="en-AU" sz="2050" dirty="0"/>
          </a:p>
        </p:txBody>
      </p:sp>
      <p:sp>
        <p:nvSpPr>
          <p:cNvPr id="5" name="TextBox 4">
            <a:extLst>
              <a:ext uri="{FF2B5EF4-FFF2-40B4-BE49-F238E27FC236}">
                <a16:creationId xmlns:a16="http://schemas.microsoft.com/office/drawing/2014/main" id="{D68DC3F8-CD96-DE43-B6A4-66960EAF8F41}"/>
              </a:ext>
            </a:extLst>
          </p:cNvPr>
          <p:cNvSpPr txBox="1"/>
          <p:nvPr/>
        </p:nvSpPr>
        <p:spPr>
          <a:xfrm>
            <a:off x="6791094" y="0"/>
            <a:ext cx="5400906" cy="1354217"/>
          </a:xfrm>
          <a:prstGeom prst="rect">
            <a:avLst/>
          </a:prstGeom>
          <a:noFill/>
          <a:ln>
            <a:solidFill>
              <a:schemeClr val="accent1"/>
            </a:solidFill>
          </a:ln>
        </p:spPr>
        <p:txBody>
          <a:bodyPr wrap="square" rtlCol="0">
            <a:spAutoFit/>
          </a:bodyPr>
          <a:lstStyle/>
          <a:p>
            <a:r>
              <a:rPr lang="en-US" sz="2050" b="0" i="0" dirty="0">
                <a:solidFill>
                  <a:srgbClr val="0D0D0D"/>
                </a:solidFill>
                <a:effectLst/>
                <a:highlight>
                  <a:srgbClr val="FFFFFF"/>
                </a:highlight>
                <a:latin typeface="Calibiri"/>
              </a:rPr>
              <a:t>These steps will get XAMPP up and running on your Mac. This setup is excellent for developing and testing web applications locally before deploying them to a live server.</a:t>
            </a:r>
            <a:endParaRPr lang="en-AU" sz="2050" dirty="0">
              <a:latin typeface="Calibiri"/>
            </a:endParaRPr>
          </a:p>
        </p:txBody>
      </p:sp>
    </p:spTree>
    <p:extLst>
      <p:ext uri="{BB962C8B-B14F-4D97-AF65-F5344CB8AC3E}">
        <p14:creationId xmlns:p14="http://schemas.microsoft.com/office/powerpoint/2010/main" val="15502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438</Words>
  <Application>Microsoft Office PowerPoint</Application>
  <PresentationFormat>Widescreen</PresentationFormat>
  <Paragraphs>24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Calibiri</vt:lpstr>
      <vt:lpstr>Calibri</vt:lpstr>
      <vt:lpstr>Office Theme</vt:lpstr>
      <vt:lpstr>XAMPP Installation</vt:lpstr>
      <vt:lpstr>Complete the following tasks:   Task 1: Install XAMPP on Windows: A popular PHP and HTML development environment that allows you to run web codes locally on your computer. It includes Apache server, MySQL, and PHP. You can download it from the official XAMPP website, install it, and place your PHP files in the htdocs folder. https://www.apachefriends.org/de/download.html  * Or Install MAMP: Similar to XAMPP, MAMP is another local server environment primarily used on MacOS and Windows. After installing MAMP, you can put your PHP files in the htdocs folder.</vt:lpstr>
      <vt:lpstr>Complete the following tasks:   Task 1: Install Xampp as the webserver on your systems and test it. https://www.apachefriends.org/de/download.html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1</cp:revision>
  <dcterms:created xsi:type="dcterms:W3CDTF">2026-03-23T06:44:44Z</dcterms:created>
  <dcterms:modified xsi:type="dcterms:W3CDTF">2026-03-23T06:45:54Z</dcterms:modified>
</cp:coreProperties>
</file>