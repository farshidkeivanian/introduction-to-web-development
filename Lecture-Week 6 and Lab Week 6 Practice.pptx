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1.xml" ContentType="application/vnd.openxmlformats-officedocument.themeOverr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96"/>
  </p:notesMasterIdLst>
  <p:sldIdLst>
    <p:sldId id="331" r:id="rId4"/>
    <p:sldId id="304" r:id="rId5"/>
    <p:sldId id="302" r:id="rId6"/>
    <p:sldId id="1251" r:id="rId7"/>
    <p:sldId id="1297" r:id="rId8"/>
    <p:sldId id="1298" r:id="rId9"/>
    <p:sldId id="1299" r:id="rId10"/>
    <p:sldId id="1300" r:id="rId11"/>
    <p:sldId id="1301" r:id="rId12"/>
    <p:sldId id="1302" r:id="rId13"/>
    <p:sldId id="1303" r:id="rId14"/>
    <p:sldId id="1304" r:id="rId15"/>
    <p:sldId id="1305" r:id="rId16"/>
    <p:sldId id="1306" r:id="rId17"/>
    <p:sldId id="1339" r:id="rId18"/>
    <p:sldId id="1307" r:id="rId19"/>
    <p:sldId id="1308" r:id="rId20"/>
    <p:sldId id="1309" r:id="rId21"/>
    <p:sldId id="1310" r:id="rId22"/>
    <p:sldId id="1311" r:id="rId23"/>
    <p:sldId id="1312" r:id="rId24"/>
    <p:sldId id="1313" r:id="rId25"/>
    <p:sldId id="1314" r:id="rId26"/>
    <p:sldId id="1315" r:id="rId27"/>
    <p:sldId id="1316" r:id="rId28"/>
    <p:sldId id="1317" r:id="rId29"/>
    <p:sldId id="1318" r:id="rId30"/>
    <p:sldId id="1319" r:id="rId31"/>
    <p:sldId id="1320" r:id="rId32"/>
    <p:sldId id="1321" r:id="rId33"/>
    <p:sldId id="1322" r:id="rId34"/>
    <p:sldId id="1324" r:id="rId35"/>
    <p:sldId id="1323" r:id="rId36"/>
    <p:sldId id="1325" r:id="rId37"/>
    <p:sldId id="1340" r:id="rId38"/>
    <p:sldId id="1326" r:id="rId39"/>
    <p:sldId id="1327" r:id="rId40"/>
    <p:sldId id="1341" r:id="rId41"/>
    <p:sldId id="1342" r:id="rId42"/>
    <p:sldId id="1328" r:id="rId43"/>
    <p:sldId id="1329" r:id="rId44"/>
    <p:sldId id="1343" r:id="rId45"/>
    <p:sldId id="1331" r:id="rId46"/>
    <p:sldId id="1344" r:id="rId47"/>
    <p:sldId id="1332" r:id="rId48"/>
    <p:sldId id="1333" r:id="rId49"/>
    <p:sldId id="1334" r:id="rId50"/>
    <p:sldId id="1335" r:id="rId51"/>
    <p:sldId id="1336" r:id="rId52"/>
    <p:sldId id="1337" r:id="rId53"/>
    <p:sldId id="1345" r:id="rId54"/>
    <p:sldId id="1338" r:id="rId55"/>
    <p:sldId id="1296" r:id="rId56"/>
    <p:sldId id="1252" r:id="rId57"/>
    <p:sldId id="1254" r:id="rId58"/>
    <p:sldId id="1255" r:id="rId59"/>
    <p:sldId id="1256" r:id="rId60"/>
    <p:sldId id="1257" r:id="rId61"/>
    <p:sldId id="1253" r:id="rId62"/>
    <p:sldId id="1258" r:id="rId63"/>
    <p:sldId id="1260" r:id="rId64"/>
    <p:sldId id="1262" r:id="rId65"/>
    <p:sldId id="1261" r:id="rId66"/>
    <p:sldId id="1263" r:id="rId67"/>
    <p:sldId id="1264" r:id="rId68"/>
    <p:sldId id="1266" r:id="rId69"/>
    <p:sldId id="1267" r:id="rId70"/>
    <p:sldId id="1268" r:id="rId71"/>
    <p:sldId id="1269" r:id="rId72"/>
    <p:sldId id="1274" r:id="rId73"/>
    <p:sldId id="1275" r:id="rId74"/>
    <p:sldId id="1277" r:id="rId75"/>
    <p:sldId id="1278" r:id="rId76"/>
    <p:sldId id="1292" r:id="rId77"/>
    <p:sldId id="1279" r:id="rId78"/>
    <p:sldId id="1280" r:id="rId79"/>
    <p:sldId id="1281" r:id="rId80"/>
    <p:sldId id="1282" r:id="rId81"/>
    <p:sldId id="1276" r:id="rId82"/>
    <p:sldId id="1283" r:id="rId83"/>
    <p:sldId id="1284" r:id="rId84"/>
    <p:sldId id="1285" r:id="rId85"/>
    <p:sldId id="1286" r:id="rId86"/>
    <p:sldId id="1287" r:id="rId87"/>
    <p:sldId id="1288" r:id="rId88"/>
    <p:sldId id="1289" r:id="rId89"/>
    <p:sldId id="1290" r:id="rId90"/>
    <p:sldId id="1291" r:id="rId91"/>
    <p:sldId id="1293" r:id="rId92"/>
    <p:sldId id="1294" r:id="rId93"/>
    <p:sldId id="1295" r:id="rId94"/>
    <p:sldId id="1216" r:id="rId9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8B9BE0-E33A-3790-0761-069E32552B51}" v="11" dt="2024-05-01T07:14:19.0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227" autoAdjust="0"/>
    <p:restoredTop sz="96778"/>
  </p:normalViewPr>
  <p:slideViewPr>
    <p:cSldViewPr snapToGrid="0">
      <p:cViewPr>
        <p:scale>
          <a:sx n="66" d="100"/>
          <a:sy n="66" d="100"/>
        </p:scale>
        <p:origin x="922" y="244"/>
      </p:cViewPr>
      <p:guideLst/>
    </p:cSldViewPr>
  </p:slideViewPr>
  <p:notesTextViewPr>
    <p:cViewPr>
      <p:scale>
        <a:sx n="140" d="100"/>
        <a:sy n="140" d="100"/>
      </p:scale>
      <p:origin x="0" y="0"/>
    </p:cViewPr>
  </p:notesTextViewPr>
  <p:sorterViewPr>
    <p:cViewPr varScale="1">
      <p:scale>
        <a:sx n="100" d="100"/>
        <a:sy n="100" d="100"/>
      </p:scale>
      <p:origin x="0" y="-1947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theme" Target="theme/theme1.xml"/><Relationship Id="rId101"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viewProps" Target="viewProps.xml"/><Relationship Id="rId3" Type="http://schemas.openxmlformats.org/officeDocument/2006/relationships/slideMaster" Target="slideMasters/slideMaster3.xml"/></Relationships>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E36D87D-E8D5-43C4-B6CE-03FB89ADC7F2}"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0D82596C-5BBC-4B4E-9065-ED8769F3CA2C}">
      <dgm:prSet/>
      <dgm:spPr/>
      <dgm:t>
        <a:bodyPr/>
        <a:lstStyle/>
        <a:p>
          <a:pPr>
            <a:lnSpc>
              <a:spcPct val="100000"/>
            </a:lnSpc>
            <a:defRPr cap="all"/>
          </a:pPr>
          <a:r>
            <a:rPr lang="en-AU" dirty="0"/>
            <a:t>Read Chapter 18 to 21 of The Prescribed Text </a:t>
          </a:r>
          <a:endParaRPr lang="en-US" dirty="0"/>
        </a:p>
      </dgm:t>
    </dgm:pt>
    <dgm:pt modelId="{D37907DE-07D9-4735-B54E-9D7712C92C8D}" type="parTrans" cxnId="{13BBEFD8-0291-4881-B74F-30175C1EF9BB}">
      <dgm:prSet/>
      <dgm:spPr/>
      <dgm:t>
        <a:bodyPr/>
        <a:lstStyle/>
        <a:p>
          <a:endParaRPr lang="en-US"/>
        </a:p>
      </dgm:t>
    </dgm:pt>
    <dgm:pt modelId="{1C75411B-F20A-44FE-8521-2A4E25B7FA69}" type="sibTrans" cxnId="{13BBEFD8-0291-4881-B74F-30175C1EF9BB}">
      <dgm:prSet/>
      <dgm:spPr/>
      <dgm:t>
        <a:bodyPr/>
        <a:lstStyle/>
        <a:p>
          <a:endParaRPr lang="en-US"/>
        </a:p>
      </dgm:t>
    </dgm:pt>
    <dgm:pt modelId="{3F672593-3124-4011-831C-F50427720BA8}">
      <dgm:prSet/>
      <dgm:spPr/>
      <dgm:t>
        <a:bodyPr/>
        <a:lstStyle/>
        <a:p>
          <a:pPr>
            <a:lnSpc>
              <a:spcPct val="100000"/>
            </a:lnSpc>
            <a:defRPr cap="all"/>
          </a:pPr>
          <a:r>
            <a:rPr lang="en-AU" dirty="0"/>
            <a:t>Attend LECTORIAL</a:t>
          </a:r>
          <a:endParaRPr lang="en-US" dirty="0"/>
        </a:p>
      </dgm:t>
    </dgm:pt>
    <dgm:pt modelId="{A994BEAA-CB7D-4CE0-B94B-5500A5636752}" type="parTrans" cxnId="{CB12A307-4EED-4C5F-8758-BAFA39B3C4BE}">
      <dgm:prSet/>
      <dgm:spPr/>
      <dgm:t>
        <a:bodyPr/>
        <a:lstStyle/>
        <a:p>
          <a:endParaRPr lang="en-US"/>
        </a:p>
      </dgm:t>
    </dgm:pt>
    <dgm:pt modelId="{A3F860F1-11FC-4B26-AE50-C04362FCC33C}" type="sibTrans" cxnId="{CB12A307-4EED-4C5F-8758-BAFA39B3C4BE}">
      <dgm:prSet/>
      <dgm:spPr/>
      <dgm:t>
        <a:bodyPr/>
        <a:lstStyle/>
        <a:p>
          <a:endParaRPr lang="en-US"/>
        </a:p>
      </dgm:t>
    </dgm:pt>
    <dgm:pt modelId="{6060DDCF-4DD0-4C9D-B94F-D9286CF3F52D}">
      <dgm:prSet/>
      <dgm:spPr/>
      <dgm:t>
        <a:bodyPr/>
        <a:lstStyle/>
        <a:p>
          <a:pPr>
            <a:lnSpc>
              <a:spcPct val="100000"/>
            </a:lnSpc>
            <a:defRPr cap="all"/>
          </a:pPr>
          <a:r>
            <a:rPr lang="en-AU" dirty="0"/>
            <a:t>Perform practical Exercises</a:t>
          </a:r>
          <a:endParaRPr lang="en-US" dirty="0"/>
        </a:p>
      </dgm:t>
    </dgm:pt>
    <dgm:pt modelId="{88C1EBD7-9EB1-4F84-A4C1-564CF8697D14}" type="parTrans" cxnId="{476D57CE-40B7-41D8-9464-A275DB4133B0}">
      <dgm:prSet/>
      <dgm:spPr/>
      <dgm:t>
        <a:bodyPr/>
        <a:lstStyle/>
        <a:p>
          <a:endParaRPr lang="en-US"/>
        </a:p>
      </dgm:t>
    </dgm:pt>
    <dgm:pt modelId="{3F5F3FEA-B522-4ECD-8148-3ED2AA4A4616}" type="sibTrans" cxnId="{476D57CE-40B7-41D8-9464-A275DB4133B0}">
      <dgm:prSet/>
      <dgm:spPr/>
      <dgm:t>
        <a:bodyPr/>
        <a:lstStyle/>
        <a:p>
          <a:endParaRPr lang="en-US"/>
        </a:p>
      </dgm:t>
    </dgm:pt>
    <dgm:pt modelId="{0ED14AB6-4ED0-4CCB-8CF2-302F13DF07B9}" type="pres">
      <dgm:prSet presAssocID="{5E36D87D-E8D5-43C4-B6CE-03FB89ADC7F2}" presName="root" presStyleCnt="0">
        <dgm:presLayoutVars>
          <dgm:dir/>
          <dgm:resizeHandles val="exact"/>
        </dgm:presLayoutVars>
      </dgm:prSet>
      <dgm:spPr/>
    </dgm:pt>
    <dgm:pt modelId="{1E4E18D8-371B-4142-BFBE-70814640F946}" type="pres">
      <dgm:prSet presAssocID="{0D82596C-5BBC-4B4E-9065-ED8769F3CA2C}" presName="compNode" presStyleCnt="0"/>
      <dgm:spPr/>
    </dgm:pt>
    <dgm:pt modelId="{F276765E-5846-4FA6-B8E6-562E8710BADA}" type="pres">
      <dgm:prSet presAssocID="{0D82596C-5BBC-4B4E-9065-ED8769F3CA2C}" presName="iconBgRect" presStyleLbl="bgShp" presStyleIdx="0" presStyleCnt="3"/>
      <dgm:spPr/>
    </dgm:pt>
    <dgm:pt modelId="{5E6A4728-88D3-48DA-8A0F-1AD3784BCA01}" type="pres">
      <dgm:prSet presAssocID="{0D82596C-5BBC-4B4E-9065-ED8769F3CA2C}" presName="iconRect" presStyleLbl="node1" presStyleIdx="0" presStyleCnt="3"/>
      <dgm:spPr>
        <a:blipFill>
          <a:blip xmlns:r="http://schemas.openxmlformats.org/officeDocument/2006/relationships" cstate="email">
            <a:extLst>
              <a:ext uri="{28A0092B-C50C-407E-A947-70E740481C1C}">
                <a14:useLocalDpi xmlns:a14="http://schemas.microsoft.com/office/drawing/2010/main"/>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Open Book"/>
        </a:ext>
      </dgm:extLst>
    </dgm:pt>
    <dgm:pt modelId="{8CEADDCB-DEAD-41CA-9920-6F304CECA80E}" type="pres">
      <dgm:prSet presAssocID="{0D82596C-5BBC-4B4E-9065-ED8769F3CA2C}" presName="spaceRect" presStyleCnt="0"/>
      <dgm:spPr/>
    </dgm:pt>
    <dgm:pt modelId="{A9AD1DC4-46FB-4D84-B21A-FD48457A2F3C}" type="pres">
      <dgm:prSet presAssocID="{0D82596C-5BBC-4B4E-9065-ED8769F3CA2C}" presName="textRect" presStyleLbl="revTx" presStyleIdx="0" presStyleCnt="3">
        <dgm:presLayoutVars>
          <dgm:chMax val="1"/>
          <dgm:chPref val="1"/>
        </dgm:presLayoutVars>
      </dgm:prSet>
      <dgm:spPr/>
    </dgm:pt>
    <dgm:pt modelId="{D8685E5E-0FD0-402F-84D8-CAB2F6BD6071}" type="pres">
      <dgm:prSet presAssocID="{1C75411B-F20A-44FE-8521-2A4E25B7FA69}" presName="sibTrans" presStyleCnt="0"/>
      <dgm:spPr/>
    </dgm:pt>
    <dgm:pt modelId="{CACABA53-0412-4EDE-B791-28D259A00760}" type="pres">
      <dgm:prSet presAssocID="{3F672593-3124-4011-831C-F50427720BA8}" presName="compNode" presStyleCnt="0"/>
      <dgm:spPr/>
    </dgm:pt>
    <dgm:pt modelId="{0E1A324A-9087-41E0-BBBE-05AF0B187442}" type="pres">
      <dgm:prSet presAssocID="{3F672593-3124-4011-831C-F50427720BA8}" presName="iconBgRect" presStyleLbl="bgShp" presStyleIdx="1" presStyleCnt="3"/>
      <dgm:spPr/>
    </dgm:pt>
    <dgm:pt modelId="{F8E56D59-3998-42B2-98F2-FBDCD79084B5}" type="pres">
      <dgm:prSet presAssocID="{3F672593-3124-4011-831C-F50427720BA8}" presName="iconRect" presStyleLbl="node1" presStyleIdx="1" presStyleCnt="3"/>
      <dgm:spPr>
        <a:blipFill>
          <a:blip xmlns:r="http://schemas.openxmlformats.org/officeDocument/2006/relationships"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eacher"/>
        </a:ext>
      </dgm:extLst>
    </dgm:pt>
    <dgm:pt modelId="{D9175FC7-F17B-4C40-9ED1-9835D1159FC9}" type="pres">
      <dgm:prSet presAssocID="{3F672593-3124-4011-831C-F50427720BA8}" presName="spaceRect" presStyleCnt="0"/>
      <dgm:spPr/>
    </dgm:pt>
    <dgm:pt modelId="{82AAB51D-5549-4591-B366-DD04B12FA9E4}" type="pres">
      <dgm:prSet presAssocID="{3F672593-3124-4011-831C-F50427720BA8}" presName="textRect" presStyleLbl="revTx" presStyleIdx="1" presStyleCnt="3">
        <dgm:presLayoutVars>
          <dgm:chMax val="1"/>
          <dgm:chPref val="1"/>
        </dgm:presLayoutVars>
      </dgm:prSet>
      <dgm:spPr/>
    </dgm:pt>
    <dgm:pt modelId="{BDE2288A-531B-4CD6-8E2F-609BB0AEAC79}" type="pres">
      <dgm:prSet presAssocID="{A3F860F1-11FC-4B26-AE50-C04362FCC33C}" presName="sibTrans" presStyleCnt="0"/>
      <dgm:spPr/>
    </dgm:pt>
    <dgm:pt modelId="{C5E46A68-9079-43FE-A260-66B384149AB9}" type="pres">
      <dgm:prSet presAssocID="{6060DDCF-4DD0-4C9D-B94F-D9286CF3F52D}" presName="compNode" presStyleCnt="0"/>
      <dgm:spPr/>
    </dgm:pt>
    <dgm:pt modelId="{512FF5EA-607D-4566-9AB8-164FDFB9D7DB}" type="pres">
      <dgm:prSet presAssocID="{6060DDCF-4DD0-4C9D-B94F-D9286CF3F52D}" presName="iconBgRect" presStyleLbl="bgShp" presStyleIdx="2" presStyleCnt="3"/>
      <dgm:spPr/>
    </dgm:pt>
    <dgm:pt modelId="{CF6A1116-2E4E-4A81-BD02-674104A67DD7}" type="pres">
      <dgm:prSet presAssocID="{6060DDCF-4DD0-4C9D-B94F-D9286CF3F52D}" presName="iconRect" presStyleLbl="node1" presStyleIdx="2" presStyleCnt="3"/>
      <dgm:spPr>
        <a:blipFill>
          <a:blip xmlns:r="http://schemas.openxmlformats.org/officeDocument/2006/relationships"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Programmer"/>
        </a:ext>
      </dgm:extLst>
    </dgm:pt>
    <dgm:pt modelId="{C7C30F7E-CDF0-4BF7-8199-DD1DEDF3EF36}" type="pres">
      <dgm:prSet presAssocID="{6060DDCF-4DD0-4C9D-B94F-D9286CF3F52D}" presName="spaceRect" presStyleCnt="0"/>
      <dgm:spPr/>
    </dgm:pt>
    <dgm:pt modelId="{30AA28B3-BCBD-430D-8ADC-82E6C7646622}" type="pres">
      <dgm:prSet presAssocID="{6060DDCF-4DD0-4C9D-B94F-D9286CF3F52D}" presName="textRect" presStyleLbl="revTx" presStyleIdx="2" presStyleCnt="3">
        <dgm:presLayoutVars>
          <dgm:chMax val="1"/>
          <dgm:chPref val="1"/>
        </dgm:presLayoutVars>
      </dgm:prSet>
      <dgm:spPr/>
    </dgm:pt>
  </dgm:ptLst>
  <dgm:cxnLst>
    <dgm:cxn modelId="{CB12A307-4EED-4C5F-8758-BAFA39B3C4BE}" srcId="{5E36D87D-E8D5-43C4-B6CE-03FB89ADC7F2}" destId="{3F672593-3124-4011-831C-F50427720BA8}" srcOrd="1" destOrd="0" parTransId="{A994BEAA-CB7D-4CE0-B94B-5500A5636752}" sibTransId="{A3F860F1-11FC-4B26-AE50-C04362FCC33C}"/>
    <dgm:cxn modelId="{217CA518-1B59-4499-AF04-41808DEA494D}" type="presOf" srcId="{6060DDCF-4DD0-4C9D-B94F-D9286CF3F52D}" destId="{30AA28B3-BCBD-430D-8ADC-82E6C7646622}" srcOrd="0" destOrd="0" presId="urn:microsoft.com/office/officeart/2018/5/layout/IconCircleLabelList"/>
    <dgm:cxn modelId="{6DCF1955-240F-4E4C-8314-7D775BDA43BF}" type="presOf" srcId="{0D82596C-5BBC-4B4E-9065-ED8769F3CA2C}" destId="{A9AD1DC4-46FB-4D84-B21A-FD48457A2F3C}" srcOrd="0" destOrd="0" presId="urn:microsoft.com/office/officeart/2018/5/layout/IconCircleLabelList"/>
    <dgm:cxn modelId="{CDC13B85-166B-4DAB-B131-B68C584713A4}" type="presOf" srcId="{5E36D87D-E8D5-43C4-B6CE-03FB89ADC7F2}" destId="{0ED14AB6-4ED0-4CCB-8CF2-302F13DF07B9}" srcOrd="0" destOrd="0" presId="urn:microsoft.com/office/officeart/2018/5/layout/IconCircleLabelList"/>
    <dgm:cxn modelId="{476D57CE-40B7-41D8-9464-A275DB4133B0}" srcId="{5E36D87D-E8D5-43C4-B6CE-03FB89ADC7F2}" destId="{6060DDCF-4DD0-4C9D-B94F-D9286CF3F52D}" srcOrd="2" destOrd="0" parTransId="{88C1EBD7-9EB1-4F84-A4C1-564CF8697D14}" sibTransId="{3F5F3FEA-B522-4ECD-8148-3ED2AA4A4616}"/>
    <dgm:cxn modelId="{54D613F5-47A0-4F8B-B829-F90A2CDF8D61}" type="presOf" srcId="{3F672593-3124-4011-831C-F50427720BA8}" destId="{82AAB51D-5549-4591-B366-DD04B12FA9E4}" srcOrd="0" destOrd="0" presId="urn:microsoft.com/office/officeart/2018/5/layout/IconCircleLabelList"/>
    <dgm:cxn modelId="{13BBEFD8-0291-4881-B74F-30175C1EF9BB}" srcId="{5E36D87D-E8D5-43C4-B6CE-03FB89ADC7F2}" destId="{0D82596C-5BBC-4B4E-9065-ED8769F3CA2C}" srcOrd="0" destOrd="0" parTransId="{D37907DE-07D9-4735-B54E-9D7712C92C8D}" sibTransId="{1C75411B-F20A-44FE-8521-2A4E25B7FA69}"/>
    <dgm:cxn modelId="{4912075C-A508-4887-8FC9-888A6D00385D}" type="presParOf" srcId="{0ED14AB6-4ED0-4CCB-8CF2-302F13DF07B9}" destId="{1E4E18D8-371B-4142-BFBE-70814640F946}" srcOrd="0" destOrd="0" presId="urn:microsoft.com/office/officeart/2018/5/layout/IconCircleLabelList"/>
    <dgm:cxn modelId="{27716E8C-E358-4B62-B369-F72237622256}" type="presParOf" srcId="{1E4E18D8-371B-4142-BFBE-70814640F946}" destId="{F276765E-5846-4FA6-B8E6-562E8710BADA}" srcOrd="0" destOrd="0" presId="urn:microsoft.com/office/officeart/2018/5/layout/IconCircleLabelList"/>
    <dgm:cxn modelId="{A72DC44D-50C3-4352-9204-8F983D4BF1BB}" type="presParOf" srcId="{1E4E18D8-371B-4142-BFBE-70814640F946}" destId="{5E6A4728-88D3-48DA-8A0F-1AD3784BCA01}" srcOrd="1" destOrd="0" presId="urn:microsoft.com/office/officeart/2018/5/layout/IconCircleLabelList"/>
    <dgm:cxn modelId="{B18DC17A-89C8-42B4-931D-6F4CAD8AE6EB}" type="presParOf" srcId="{1E4E18D8-371B-4142-BFBE-70814640F946}" destId="{8CEADDCB-DEAD-41CA-9920-6F304CECA80E}" srcOrd="2" destOrd="0" presId="urn:microsoft.com/office/officeart/2018/5/layout/IconCircleLabelList"/>
    <dgm:cxn modelId="{F6101487-0115-4485-B180-EB346B91B7C4}" type="presParOf" srcId="{1E4E18D8-371B-4142-BFBE-70814640F946}" destId="{A9AD1DC4-46FB-4D84-B21A-FD48457A2F3C}" srcOrd="3" destOrd="0" presId="urn:microsoft.com/office/officeart/2018/5/layout/IconCircleLabelList"/>
    <dgm:cxn modelId="{EAC9A668-8AD3-452A-AE9F-EDCEB7C7D1EB}" type="presParOf" srcId="{0ED14AB6-4ED0-4CCB-8CF2-302F13DF07B9}" destId="{D8685E5E-0FD0-402F-84D8-CAB2F6BD6071}" srcOrd="1" destOrd="0" presId="urn:microsoft.com/office/officeart/2018/5/layout/IconCircleLabelList"/>
    <dgm:cxn modelId="{A33FC0BB-9005-4243-BF3C-FEEA5B748BC0}" type="presParOf" srcId="{0ED14AB6-4ED0-4CCB-8CF2-302F13DF07B9}" destId="{CACABA53-0412-4EDE-B791-28D259A00760}" srcOrd="2" destOrd="0" presId="urn:microsoft.com/office/officeart/2018/5/layout/IconCircleLabelList"/>
    <dgm:cxn modelId="{F9D91621-EBB4-4AB0-918D-04F7C08ECE9B}" type="presParOf" srcId="{CACABA53-0412-4EDE-B791-28D259A00760}" destId="{0E1A324A-9087-41E0-BBBE-05AF0B187442}" srcOrd="0" destOrd="0" presId="urn:microsoft.com/office/officeart/2018/5/layout/IconCircleLabelList"/>
    <dgm:cxn modelId="{427BEC41-4E66-4ADA-8CB7-F584E1AC982A}" type="presParOf" srcId="{CACABA53-0412-4EDE-B791-28D259A00760}" destId="{F8E56D59-3998-42B2-98F2-FBDCD79084B5}" srcOrd="1" destOrd="0" presId="urn:microsoft.com/office/officeart/2018/5/layout/IconCircleLabelList"/>
    <dgm:cxn modelId="{406A4D79-03E1-4A4F-AB4E-577C96579320}" type="presParOf" srcId="{CACABA53-0412-4EDE-B791-28D259A00760}" destId="{D9175FC7-F17B-4C40-9ED1-9835D1159FC9}" srcOrd="2" destOrd="0" presId="urn:microsoft.com/office/officeart/2018/5/layout/IconCircleLabelList"/>
    <dgm:cxn modelId="{D32C1205-64F2-49E1-B18D-97EFCB73A3D9}" type="presParOf" srcId="{CACABA53-0412-4EDE-B791-28D259A00760}" destId="{82AAB51D-5549-4591-B366-DD04B12FA9E4}" srcOrd="3" destOrd="0" presId="urn:microsoft.com/office/officeart/2018/5/layout/IconCircleLabelList"/>
    <dgm:cxn modelId="{A591531B-F205-48AF-A329-9B0EDFF09538}" type="presParOf" srcId="{0ED14AB6-4ED0-4CCB-8CF2-302F13DF07B9}" destId="{BDE2288A-531B-4CD6-8E2F-609BB0AEAC79}" srcOrd="3" destOrd="0" presId="urn:microsoft.com/office/officeart/2018/5/layout/IconCircleLabelList"/>
    <dgm:cxn modelId="{5DDD4D51-7389-4C9B-8E5A-88AE0AFD38AC}" type="presParOf" srcId="{0ED14AB6-4ED0-4CCB-8CF2-302F13DF07B9}" destId="{C5E46A68-9079-43FE-A260-66B384149AB9}" srcOrd="4" destOrd="0" presId="urn:microsoft.com/office/officeart/2018/5/layout/IconCircleLabelList"/>
    <dgm:cxn modelId="{8BCE2A42-3C4F-4536-ACF0-DABD501DC6F5}" type="presParOf" srcId="{C5E46A68-9079-43FE-A260-66B384149AB9}" destId="{512FF5EA-607D-4566-9AB8-164FDFB9D7DB}" srcOrd="0" destOrd="0" presId="urn:microsoft.com/office/officeart/2018/5/layout/IconCircleLabelList"/>
    <dgm:cxn modelId="{59DDC92A-0332-4BCE-AA4B-3385BFC91F78}" type="presParOf" srcId="{C5E46A68-9079-43FE-A260-66B384149AB9}" destId="{CF6A1116-2E4E-4A81-BD02-674104A67DD7}" srcOrd="1" destOrd="0" presId="urn:microsoft.com/office/officeart/2018/5/layout/IconCircleLabelList"/>
    <dgm:cxn modelId="{8E5763EE-5EF1-4D89-8EA0-183180CCD109}" type="presParOf" srcId="{C5E46A68-9079-43FE-A260-66B384149AB9}" destId="{C7C30F7E-CDF0-4BF7-8199-DD1DEDF3EF36}" srcOrd="2" destOrd="0" presId="urn:microsoft.com/office/officeart/2018/5/layout/IconCircleLabelList"/>
    <dgm:cxn modelId="{391F5149-7A81-4830-8D55-881FE3C21257}" type="presParOf" srcId="{C5E46A68-9079-43FE-A260-66B384149AB9}" destId="{30AA28B3-BCBD-430D-8ADC-82E6C7646622}"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0F91B88-0146-476D-B9D5-2E10622AF835}" type="doc">
      <dgm:prSet loTypeId="urn:microsoft.com/office/officeart/2008/layout/LinedList" loCatId="list" qsTypeId="urn:microsoft.com/office/officeart/2005/8/quickstyle/simple2" qsCatId="simple" csTypeId="urn:microsoft.com/office/officeart/2005/8/colors/colorful2" csCatId="colorful" phldr="1"/>
      <dgm:spPr/>
      <dgm:t>
        <a:bodyPr/>
        <a:lstStyle/>
        <a:p>
          <a:endParaRPr lang="en-US"/>
        </a:p>
      </dgm:t>
    </dgm:pt>
    <dgm:pt modelId="{C333608D-244C-491C-A3F2-F13C6954B60C}">
      <dgm:prSet custT="1"/>
      <dgm:spPr/>
      <dgm:t>
        <a:bodyPr/>
        <a:lstStyle/>
        <a:p>
          <a:r>
            <a:rPr lang="en-US" sz="2800" dirty="0"/>
            <a:t>By the end of this week, you should be able to demonstrate: </a:t>
          </a:r>
        </a:p>
      </dgm:t>
    </dgm:pt>
    <dgm:pt modelId="{58AD2817-F6F2-47CC-AEFF-91A0F8182DE1}" type="parTrans" cxnId="{44234CE8-A7A7-495E-A75F-B614EE1E68ED}">
      <dgm:prSet/>
      <dgm:spPr/>
      <dgm:t>
        <a:bodyPr/>
        <a:lstStyle/>
        <a:p>
          <a:endParaRPr lang="en-US" sz="2800"/>
        </a:p>
      </dgm:t>
    </dgm:pt>
    <dgm:pt modelId="{EE39FDFE-7C18-4718-8BF3-DD1BBDD0E558}" type="sibTrans" cxnId="{44234CE8-A7A7-495E-A75F-B614EE1E68ED}">
      <dgm:prSet/>
      <dgm:spPr/>
      <dgm:t>
        <a:bodyPr/>
        <a:lstStyle/>
        <a:p>
          <a:endParaRPr lang="en-US" sz="2800"/>
        </a:p>
      </dgm:t>
    </dgm:pt>
    <dgm:pt modelId="{3B39988F-A979-4635-BCEE-3D0482A4DED9}">
      <dgm:prSet custT="1"/>
      <dgm:spPr/>
      <dgm:t>
        <a:bodyPr/>
        <a:lstStyle/>
        <a:p>
          <a:r>
            <a:rPr lang="en-US" sz="2400" dirty="0"/>
            <a:t>Knowledge about using Cascading Style Sheets (CSS)</a:t>
          </a:r>
        </a:p>
      </dgm:t>
    </dgm:pt>
    <dgm:pt modelId="{B6CD07DD-EDCF-4FDB-82A9-7EA0F78A7817}" type="parTrans" cxnId="{5E2CD382-0AF9-4580-A3BD-CE69614CE22C}">
      <dgm:prSet/>
      <dgm:spPr/>
      <dgm:t>
        <a:bodyPr/>
        <a:lstStyle/>
        <a:p>
          <a:endParaRPr lang="en-US" sz="2800"/>
        </a:p>
      </dgm:t>
    </dgm:pt>
    <dgm:pt modelId="{6B4C2246-0BF0-464D-908F-0B37396EFF68}" type="sibTrans" cxnId="{5E2CD382-0AF9-4580-A3BD-CE69614CE22C}">
      <dgm:prSet/>
      <dgm:spPr/>
      <dgm:t>
        <a:bodyPr/>
        <a:lstStyle/>
        <a:p>
          <a:endParaRPr lang="en-US" sz="2800"/>
        </a:p>
      </dgm:t>
    </dgm:pt>
    <dgm:pt modelId="{770513DF-C59B-4000-944D-07E8A16AFA79}" type="pres">
      <dgm:prSet presAssocID="{00F91B88-0146-476D-B9D5-2E10622AF835}" presName="vert0" presStyleCnt="0">
        <dgm:presLayoutVars>
          <dgm:dir/>
          <dgm:animOne val="branch"/>
          <dgm:animLvl val="lvl"/>
        </dgm:presLayoutVars>
      </dgm:prSet>
      <dgm:spPr/>
    </dgm:pt>
    <dgm:pt modelId="{86B2CD72-68F8-4599-83D6-E283E5E5AEDF}" type="pres">
      <dgm:prSet presAssocID="{C333608D-244C-491C-A3F2-F13C6954B60C}" presName="thickLine" presStyleLbl="alignNode1" presStyleIdx="0" presStyleCnt="1"/>
      <dgm:spPr/>
    </dgm:pt>
    <dgm:pt modelId="{2D9F617F-D79C-429A-AE55-BD76996D0D05}" type="pres">
      <dgm:prSet presAssocID="{C333608D-244C-491C-A3F2-F13C6954B60C}" presName="horz1" presStyleCnt="0"/>
      <dgm:spPr/>
    </dgm:pt>
    <dgm:pt modelId="{B68C2787-D7C3-4C51-83C3-1BE199DA65D9}" type="pres">
      <dgm:prSet presAssocID="{C333608D-244C-491C-A3F2-F13C6954B60C}" presName="tx1" presStyleLbl="revTx" presStyleIdx="0" presStyleCnt="2" custScaleX="279676"/>
      <dgm:spPr/>
    </dgm:pt>
    <dgm:pt modelId="{C2EED055-BFAE-40FB-BF8F-C1C180341325}" type="pres">
      <dgm:prSet presAssocID="{C333608D-244C-491C-A3F2-F13C6954B60C}" presName="vert1" presStyleCnt="0"/>
      <dgm:spPr/>
    </dgm:pt>
    <dgm:pt modelId="{F7D6FDF3-FF25-4FEB-9D95-32388865E345}" type="pres">
      <dgm:prSet presAssocID="{3B39988F-A979-4635-BCEE-3D0482A4DED9}" presName="vertSpace2a" presStyleCnt="0"/>
      <dgm:spPr/>
    </dgm:pt>
    <dgm:pt modelId="{478C4710-D8E9-49A1-8DE3-8A9EE551C2C0}" type="pres">
      <dgm:prSet presAssocID="{3B39988F-A979-4635-BCEE-3D0482A4DED9}" presName="horz2" presStyleCnt="0"/>
      <dgm:spPr/>
    </dgm:pt>
    <dgm:pt modelId="{5102E2AE-E2B9-41D4-BD12-89E519943D66}" type="pres">
      <dgm:prSet presAssocID="{3B39988F-A979-4635-BCEE-3D0482A4DED9}" presName="horzSpace2" presStyleCnt="0"/>
      <dgm:spPr/>
    </dgm:pt>
    <dgm:pt modelId="{D43CE966-2582-4191-9075-56BBDC66C19B}" type="pres">
      <dgm:prSet presAssocID="{3B39988F-A979-4635-BCEE-3D0482A4DED9}" presName="tx2" presStyleLbl="revTx" presStyleIdx="1" presStyleCnt="2"/>
      <dgm:spPr/>
    </dgm:pt>
    <dgm:pt modelId="{00DFDBDC-6B7D-4DFE-B26D-E164F84F96A1}" type="pres">
      <dgm:prSet presAssocID="{3B39988F-A979-4635-BCEE-3D0482A4DED9}" presName="vert2" presStyleCnt="0"/>
      <dgm:spPr/>
    </dgm:pt>
    <dgm:pt modelId="{7861B5D8-42EF-43EB-AA6B-BEF3D75C585E}" type="pres">
      <dgm:prSet presAssocID="{3B39988F-A979-4635-BCEE-3D0482A4DED9}" presName="thinLine2b" presStyleLbl="callout" presStyleIdx="0" presStyleCnt="1"/>
      <dgm:spPr/>
    </dgm:pt>
    <dgm:pt modelId="{F35DA2E4-2124-4F94-91F6-57969EA74124}" type="pres">
      <dgm:prSet presAssocID="{3B39988F-A979-4635-BCEE-3D0482A4DED9}" presName="vertSpace2b" presStyleCnt="0"/>
      <dgm:spPr/>
    </dgm:pt>
  </dgm:ptLst>
  <dgm:cxnLst>
    <dgm:cxn modelId="{86487918-6F7B-418C-9F2D-51641173478A}" type="presOf" srcId="{C333608D-244C-491C-A3F2-F13C6954B60C}" destId="{B68C2787-D7C3-4C51-83C3-1BE199DA65D9}" srcOrd="0" destOrd="0" presId="urn:microsoft.com/office/officeart/2008/layout/LinedList"/>
    <dgm:cxn modelId="{5E2CD382-0AF9-4580-A3BD-CE69614CE22C}" srcId="{C333608D-244C-491C-A3F2-F13C6954B60C}" destId="{3B39988F-A979-4635-BCEE-3D0482A4DED9}" srcOrd="0" destOrd="0" parTransId="{B6CD07DD-EDCF-4FDB-82A9-7EA0F78A7817}" sibTransId="{6B4C2246-0BF0-464D-908F-0B37396EFF68}"/>
    <dgm:cxn modelId="{24196FB4-AA10-4195-914D-BB23C2268A6B}" type="presOf" srcId="{00F91B88-0146-476D-B9D5-2E10622AF835}" destId="{770513DF-C59B-4000-944D-07E8A16AFA79}" srcOrd="0" destOrd="0" presId="urn:microsoft.com/office/officeart/2008/layout/LinedList"/>
    <dgm:cxn modelId="{44234CE8-A7A7-495E-A75F-B614EE1E68ED}" srcId="{00F91B88-0146-476D-B9D5-2E10622AF835}" destId="{C333608D-244C-491C-A3F2-F13C6954B60C}" srcOrd="0" destOrd="0" parTransId="{58AD2817-F6F2-47CC-AEFF-91A0F8182DE1}" sibTransId="{EE39FDFE-7C18-4718-8BF3-DD1BBDD0E558}"/>
    <dgm:cxn modelId="{BBCA7ACF-A400-4BAC-9484-0FEEBDC795B9}" type="presOf" srcId="{3B39988F-A979-4635-BCEE-3D0482A4DED9}" destId="{D43CE966-2582-4191-9075-56BBDC66C19B}" srcOrd="0" destOrd="0" presId="urn:microsoft.com/office/officeart/2008/layout/LinedList"/>
    <dgm:cxn modelId="{838EB01F-CCEA-4C1F-A80A-17FA1CD0C161}" type="presParOf" srcId="{770513DF-C59B-4000-944D-07E8A16AFA79}" destId="{86B2CD72-68F8-4599-83D6-E283E5E5AEDF}" srcOrd="0" destOrd="0" presId="urn:microsoft.com/office/officeart/2008/layout/LinedList"/>
    <dgm:cxn modelId="{4439C563-F41B-4961-A123-9B8F8ABE943B}" type="presParOf" srcId="{770513DF-C59B-4000-944D-07E8A16AFA79}" destId="{2D9F617F-D79C-429A-AE55-BD76996D0D05}" srcOrd="1" destOrd="0" presId="urn:microsoft.com/office/officeart/2008/layout/LinedList"/>
    <dgm:cxn modelId="{77DA9EC5-C677-41C0-876D-67B844565C61}" type="presParOf" srcId="{2D9F617F-D79C-429A-AE55-BD76996D0D05}" destId="{B68C2787-D7C3-4C51-83C3-1BE199DA65D9}" srcOrd="0" destOrd="0" presId="urn:microsoft.com/office/officeart/2008/layout/LinedList"/>
    <dgm:cxn modelId="{2E3DBE30-8ECA-484D-9EC0-16F2C3AC6B9E}" type="presParOf" srcId="{2D9F617F-D79C-429A-AE55-BD76996D0D05}" destId="{C2EED055-BFAE-40FB-BF8F-C1C180341325}" srcOrd="1" destOrd="0" presId="urn:microsoft.com/office/officeart/2008/layout/LinedList"/>
    <dgm:cxn modelId="{FB7BBB8D-99B2-43E5-9F08-02C1C76D4C14}" type="presParOf" srcId="{C2EED055-BFAE-40FB-BF8F-C1C180341325}" destId="{F7D6FDF3-FF25-4FEB-9D95-32388865E345}" srcOrd="0" destOrd="0" presId="urn:microsoft.com/office/officeart/2008/layout/LinedList"/>
    <dgm:cxn modelId="{BC30E7FD-0AE0-4B6B-A20E-E9831122D44C}" type="presParOf" srcId="{C2EED055-BFAE-40FB-BF8F-C1C180341325}" destId="{478C4710-D8E9-49A1-8DE3-8A9EE551C2C0}" srcOrd="1" destOrd="0" presId="urn:microsoft.com/office/officeart/2008/layout/LinedList"/>
    <dgm:cxn modelId="{C6BB9F3D-16F0-4FB4-B895-7FA5C31C97B4}" type="presParOf" srcId="{478C4710-D8E9-49A1-8DE3-8A9EE551C2C0}" destId="{5102E2AE-E2B9-41D4-BD12-89E519943D66}" srcOrd="0" destOrd="0" presId="urn:microsoft.com/office/officeart/2008/layout/LinedList"/>
    <dgm:cxn modelId="{8A37F8EB-DD21-42B4-9E4C-377A4F5B4826}" type="presParOf" srcId="{478C4710-D8E9-49A1-8DE3-8A9EE551C2C0}" destId="{D43CE966-2582-4191-9075-56BBDC66C19B}" srcOrd="1" destOrd="0" presId="urn:microsoft.com/office/officeart/2008/layout/LinedList"/>
    <dgm:cxn modelId="{8232E332-8A89-4E31-8CC7-5FC2D3DBC33B}" type="presParOf" srcId="{478C4710-D8E9-49A1-8DE3-8A9EE551C2C0}" destId="{00DFDBDC-6B7D-4DFE-B26D-E164F84F96A1}" srcOrd="2" destOrd="0" presId="urn:microsoft.com/office/officeart/2008/layout/LinedList"/>
    <dgm:cxn modelId="{8FC4A277-5623-4EC0-9B76-9FCB01B34852}" type="presParOf" srcId="{C2EED055-BFAE-40FB-BF8F-C1C180341325}" destId="{7861B5D8-42EF-43EB-AA6B-BEF3D75C585E}" srcOrd="2" destOrd="0" presId="urn:microsoft.com/office/officeart/2008/layout/LinedList"/>
    <dgm:cxn modelId="{09E4E2C7-672E-4EDF-A0E2-89CE6258E97F}" type="presParOf" srcId="{C2EED055-BFAE-40FB-BF8F-C1C180341325}" destId="{F35DA2E4-2124-4F94-91F6-57969EA74124}" srcOrd="3"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76765E-5846-4FA6-B8E6-562E8710BADA}">
      <dsp:nvSpPr>
        <dsp:cNvPr id="0" name=""/>
        <dsp:cNvSpPr/>
      </dsp:nvSpPr>
      <dsp:spPr>
        <a:xfrm>
          <a:off x="679050" y="306706"/>
          <a:ext cx="1887187" cy="188718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6A4728-88D3-48DA-8A0F-1AD3784BCA01}">
      <dsp:nvSpPr>
        <dsp:cNvPr id="0" name=""/>
        <dsp:cNvSpPr/>
      </dsp:nvSpPr>
      <dsp:spPr>
        <a:xfrm>
          <a:off x="1081237" y="708893"/>
          <a:ext cx="1082812" cy="1082812"/>
        </a:xfrm>
        <a:prstGeom prst="rect">
          <a:avLst/>
        </a:prstGeom>
        <a:blipFill>
          <a:blip xmlns:r="http://schemas.openxmlformats.org/officeDocument/2006/relationships" cstate="email">
            <a:extLst>
              <a:ext uri="{28A0092B-C50C-407E-A947-70E740481C1C}">
                <a14:useLocalDpi xmlns:a14="http://schemas.microsoft.com/office/drawing/2010/main"/>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AD1DC4-46FB-4D84-B21A-FD48457A2F3C}">
      <dsp:nvSpPr>
        <dsp:cNvPr id="0" name=""/>
        <dsp:cNvSpPr/>
      </dsp:nvSpPr>
      <dsp:spPr>
        <a:xfrm>
          <a:off x="75768" y="2781706"/>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AU" sz="2300" kern="1200" dirty="0"/>
            <a:t>Read Chapter 18 to 21 of The Prescribed Text </a:t>
          </a:r>
          <a:endParaRPr lang="en-US" sz="2300" kern="1200" dirty="0"/>
        </a:p>
      </dsp:txBody>
      <dsp:txXfrm>
        <a:off x="75768" y="2781706"/>
        <a:ext cx="3093750" cy="720000"/>
      </dsp:txXfrm>
    </dsp:sp>
    <dsp:sp modelId="{0E1A324A-9087-41E0-BBBE-05AF0B187442}">
      <dsp:nvSpPr>
        <dsp:cNvPr id="0" name=""/>
        <dsp:cNvSpPr/>
      </dsp:nvSpPr>
      <dsp:spPr>
        <a:xfrm>
          <a:off x="4314206" y="306706"/>
          <a:ext cx="1887187" cy="188718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E56D59-3998-42B2-98F2-FBDCD79084B5}">
      <dsp:nvSpPr>
        <dsp:cNvPr id="0" name=""/>
        <dsp:cNvSpPr/>
      </dsp:nvSpPr>
      <dsp:spPr>
        <a:xfrm>
          <a:off x="4716393" y="708893"/>
          <a:ext cx="1082812" cy="1082812"/>
        </a:xfrm>
        <a:prstGeom prst="rect">
          <a:avLst/>
        </a:prstGeom>
        <a:blipFill>
          <a:blip xmlns:r="http://schemas.openxmlformats.org/officeDocument/2006/relationships"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AAB51D-5549-4591-B366-DD04B12FA9E4}">
      <dsp:nvSpPr>
        <dsp:cNvPr id="0" name=""/>
        <dsp:cNvSpPr/>
      </dsp:nvSpPr>
      <dsp:spPr>
        <a:xfrm>
          <a:off x="3710925" y="2781706"/>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AU" sz="2300" kern="1200" dirty="0"/>
            <a:t>Attend LECTORIAL</a:t>
          </a:r>
          <a:endParaRPr lang="en-US" sz="2300" kern="1200" dirty="0"/>
        </a:p>
      </dsp:txBody>
      <dsp:txXfrm>
        <a:off x="3710925" y="2781706"/>
        <a:ext cx="3093750" cy="720000"/>
      </dsp:txXfrm>
    </dsp:sp>
    <dsp:sp modelId="{512FF5EA-607D-4566-9AB8-164FDFB9D7DB}">
      <dsp:nvSpPr>
        <dsp:cNvPr id="0" name=""/>
        <dsp:cNvSpPr/>
      </dsp:nvSpPr>
      <dsp:spPr>
        <a:xfrm>
          <a:off x="7949362" y="306706"/>
          <a:ext cx="1887187" cy="188718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6A1116-2E4E-4A81-BD02-674104A67DD7}">
      <dsp:nvSpPr>
        <dsp:cNvPr id="0" name=""/>
        <dsp:cNvSpPr/>
      </dsp:nvSpPr>
      <dsp:spPr>
        <a:xfrm>
          <a:off x="8351550" y="708893"/>
          <a:ext cx="1082812" cy="1082812"/>
        </a:xfrm>
        <a:prstGeom prst="rect">
          <a:avLst/>
        </a:prstGeom>
        <a:blipFill>
          <a:blip xmlns:r="http://schemas.openxmlformats.org/officeDocument/2006/relationships"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AA28B3-BCBD-430D-8ADC-82E6C7646622}">
      <dsp:nvSpPr>
        <dsp:cNvPr id="0" name=""/>
        <dsp:cNvSpPr/>
      </dsp:nvSpPr>
      <dsp:spPr>
        <a:xfrm>
          <a:off x="7346081" y="2781706"/>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AU" sz="2300" kern="1200" dirty="0"/>
            <a:t>Perform practical Exercises</a:t>
          </a:r>
          <a:endParaRPr lang="en-US" sz="2300" kern="1200" dirty="0"/>
        </a:p>
      </dsp:txBody>
      <dsp:txXfrm>
        <a:off x="7346081" y="2781706"/>
        <a:ext cx="30937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B2CD72-68F8-4599-83D6-E283E5E5AEDF}">
      <dsp:nvSpPr>
        <dsp:cNvPr id="0" name=""/>
        <dsp:cNvSpPr/>
      </dsp:nvSpPr>
      <dsp:spPr>
        <a:xfrm>
          <a:off x="0" y="0"/>
          <a:ext cx="852963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B68C2787-D7C3-4C51-83C3-1BE199DA65D9}">
      <dsp:nvSpPr>
        <dsp:cNvPr id="0" name=""/>
        <dsp:cNvSpPr/>
      </dsp:nvSpPr>
      <dsp:spPr>
        <a:xfrm>
          <a:off x="0" y="0"/>
          <a:ext cx="3508413" cy="32356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By the end of this week, you should be able to demonstrate: </a:t>
          </a:r>
        </a:p>
      </dsp:txBody>
      <dsp:txXfrm>
        <a:off x="0" y="0"/>
        <a:ext cx="3508413" cy="3235605"/>
      </dsp:txXfrm>
    </dsp:sp>
    <dsp:sp modelId="{D43CE966-2582-4191-9075-56BBDC66C19B}">
      <dsp:nvSpPr>
        <dsp:cNvPr id="0" name=""/>
        <dsp:cNvSpPr/>
      </dsp:nvSpPr>
      <dsp:spPr>
        <a:xfrm>
          <a:off x="3602498" y="146929"/>
          <a:ext cx="4923741" cy="29385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Knowledge about using Cascading Style Sheets (CSS)</a:t>
          </a:r>
        </a:p>
      </dsp:txBody>
      <dsp:txXfrm>
        <a:off x="3602498" y="146929"/>
        <a:ext cx="4923741" cy="2938586"/>
      </dsp:txXfrm>
    </dsp:sp>
    <dsp:sp modelId="{7861B5D8-42EF-43EB-AA6B-BEF3D75C585E}">
      <dsp:nvSpPr>
        <dsp:cNvPr id="0" name=""/>
        <dsp:cNvSpPr/>
      </dsp:nvSpPr>
      <dsp:spPr>
        <a:xfrm>
          <a:off x="3508413" y="3085515"/>
          <a:ext cx="5017826"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B35B49-FE53-44A6-86D3-227CDCBE5C3E}" type="datetimeFigureOut">
              <a:rPr lang="en-AU" smtClean="0"/>
              <a:t>19/04/2026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DCD060-3FD2-4013-A6E0-1CA9904835CF}" type="slidenum">
              <a:rPr lang="en-AU" smtClean="0"/>
              <a:t>‹#›</a:t>
            </a:fld>
            <a:endParaRPr lang="en-AU"/>
          </a:p>
        </p:txBody>
      </p:sp>
    </p:spTree>
    <p:extLst>
      <p:ext uri="{BB962C8B-B14F-4D97-AF65-F5344CB8AC3E}">
        <p14:creationId xmlns:p14="http://schemas.microsoft.com/office/powerpoint/2010/main" val="2449050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DCD060-3FD2-4013-A6E0-1CA9904835CF}" type="slidenum">
              <a:rPr lang="en-AU" smtClean="0"/>
              <a:t>1</a:t>
            </a:fld>
            <a:endParaRPr lang="en-AU"/>
          </a:p>
        </p:txBody>
      </p:sp>
    </p:spTree>
    <p:extLst>
      <p:ext uri="{BB962C8B-B14F-4D97-AF65-F5344CB8AC3E}">
        <p14:creationId xmlns:p14="http://schemas.microsoft.com/office/powerpoint/2010/main" val="686716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DCD060-3FD2-4013-A6E0-1CA9904835CF}" type="slidenum">
              <a:rPr lang="en-AU" smtClean="0"/>
              <a:t>2</a:t>
            </a:fld>
            <a:endParaRPr lang="en-AU"/>
          </a:p>
        </p:txBody>
      </p:sp>
    </p:spTree>
    <p:extLst>
      <p:ext uri="{BB962C8B-B14F-4D97-AF65-F5344CB8AC3E}">
        <p14:creationId xmlns:p14="http://schemas.microsoft.com/office/powerpoint/2010/main" val="33228715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b="0" i="0" u="none" strike="noStrike" dirty="0">
                <a:solidFill>
                  <a:srgbClr val="374151"/>
                </a:solidFill>
                <a:effectLst/>
                <a:latin typeface="Söhne"/>
              </a:rPr>
              <a:t>In CSS, a pseudo-class is a keyword that is used to define a special state of an element. Pseudo-classes are used to select elements based on their state or position in relation to the document, user interaction, or other factors.</a:t>
            </a:r>
          </a:p>
          <a:p>
            <a:pPr algn="l"/>
            <a:r>
              <a:rPr lang="en-AU" b="0" i="0" u="none" strike="noStrike" dirty="0">
                <a:solidFill>
                  <a:srgbClr val="374151"/>
                </a:solidFill>
                <a:effectLst/>
                <a:latin typeface="Söhne"/>
              </a:rPr>
              <a:t>Some common examples of CSS pseudo-classes include:</a:t>
            </a:r>
          </a:p>
          <a:p>
            <a:pPr algn="l">
              <a:buFont typeface="+mj-lt"/>
              <a:buAutoNum type="arabicPeriod"/>
            </a:pPr>
            <a:r>
              <a:rPr lang="en-AU" b="0" i="0" u="none" strike="noStrike" dirty="0">
                <a:solidFill>
                  <a:srgbClr val="374151"/>
                </a:solidFill>
                <a:effectLst/>
                <a:latin typeface="Söhne"/>
              </a:rPr>
              <a:t>:hover - selects an element when the user hovers over it with the mouse</a:t>
            </a:r>
          </a:p>
          <a:p>
            <a:pPr algn="l">
              <a:buFont typeface="+mj-lt"/>
              <a:buAutoNum type="arabicPeriod"/>
            </a:pPr>
            <a:r>
              <a:rPr lang="en-AU" b="0" i="0" u="none" strike="noStrike" dirty="0">
                <a:solidFill>
                  <a:srgbClr val="374151"/>
                </a:solidFill>
                <a:effectLst/>
                <a:latin typeface="Söhne"/>
              </a:rPr>
              <a:t>:active - selects an element when it is being clicked or activated</a:t>
            </a:r>
          </a:p>
          <a:p>
            <a:pPr algn="l">
              <a:buFont typeface="+mj-lt"/>
              <a:buAutoNum type="arabicPeriod"/>
            </a:pPr>
            <a:r>
              <a:rPr lang="en-AU" b="0" i="0" u="none" strike="noStrike" dirty="0">
                <a:solidFill>
                  <a:srgbClr val="374151"/>
                </a:solidFill>
                <a:effectLst/>
                <a:latin typeface="Söhne"/>
              </a:rPr>
              <a:t>:visited - selects a link that has been visited by the user</a:t>
            </a:r>
          </a:p>
          <a:p>
            <a:pPr algn="l">
              <a:buFont typeface="+mj-lt"/>
              <a:buAutoNum type="arabicPeriod"/>
            </a:pPr>
            <a:r>
              <a:rPr lang="en-AU" b="0" i="0" u="none" strike="noStrike" dirty="0">
                <a:solidFill>
                  <a:srgbClr val="374151"/>
                </a:solidFill>
                <a:effectLst/>
                <a:latin typeface="Söhne"/>
              </a:rPr>
              <a:t>:focus - selects an element when it has focus, such as when a user clicks on an input field</a:t>
            </a:r>
          </a:p>
          <a:p>
            <a:pPr algn="l">
              <a:buFont typeface="+mj-lt"/>
              <a:buAutoNum type="arabicPeriod"/>
            </a:pPr>
            <a:r>
              <a:rPr lang="en-AU" b="0" i="0" u="none" strike="noStrike" dirty="0">
                <a:solidFill>
                  <a:srgbClr val="374151"/>
                </a:solidFill>
                <a:effectLst/>
                <a:latin typeface="Söhne"/>
              </a:rPr>
              <a:t>:nth-child - selects elements based on their position within a parent element</a:t>
            </a:r>
          </a:p>
          <a:p>
            <a:pPr algn="l">
              <a:buFont typeface="+mj-lt"/>
              <a:buAutoNum type="arabicPeriod"/>
            </a:pPr>
            <a:r>
              <a:rPr lang="en-AU" b="0" i="0" u="none" strike="noStrike" dirty="0">
                <a:solidFill>
                  <a:srgbClr val="374151"/>
                </a:solidFill>
                <a:effectLst/>
                <a:latin typeface="Söhne"/>
              </a:rPr>
              <a:t>:first-child - selects the first child element of a parent element</a:t>
            </a:r>
          </a:p>
          <a:p>
            <a:pPr algn="l">
              <a:buFont typeface="+mj-lt"/>
              <a:buAutoNum type="arabicPeriod"/>
            </a:pPr>
            <a:r>
              <a:rPr lang="en-AU" b="0" i="0" u="none" strike="noStrike" dirty="0">
                <a:solidFill>
                  <a:srgbClr val="374151"/>
                </a:solidFill>
                <a:effectLst/>
                <a:latin typeface="Söhne"/>
              </a:rPr>
              <a:t>:last-child - selects the last child element of a parent element</a:t>
            </a:r>
          </a:p>
          <a:p>
            <a:pPr algn="l"/>
            <a:r>
              <a:rPr lang="en-AU" b="0" i="0" u="none" strike="noStrike" dirty="0">
                <a:solidFill>
                  <a:srgbClr val="374151"/>
                </a:solidFill>
                <a:effectLst/>
                <a:latin typeface="Söhne"/>
              </a:rPr>
              <a:t>Pseudo-classes can be very useful for adding dynamic effects and interactivity to a web page. They can also be combined with other CSS selectors to create more specific and powerful styles</a:t>
            </a:r>
          </a:p>
          <a:p>
            <a:endParaRPr lang="en-US" dirty="0"/>
          </a:p>
        </p:txBody>
      </p:sp>
      <p:sp>
        <p:nvSpPr>
          <p:cNvPr id="4" name="Slide Number Placeholder 3"/>
          <p:cNvSpPr>
            <a:spLocks noGrp="1"/>
          </p:cNvSpPr>
          <p:nvPr>
            <p:ph type="sldNum" sz="quarter" idx="5"/>
          </p:nvPr>
        </p:nvSpPr>
        <p:spPr/>
        <p:txBody>
          <a:bodyPr/>
          <a:lstStyle/>
          <a:p>
            <a:fld id="{D3DCD060-3FD2-4013-A6E0-1CA9904835CF}" type="slidenum">
              <a:rPr lang="en-AU" smtClean="0"/>
              <a:t>54</a:t>
            </a:fld>
            <a:endParaRPr lang="en-AU"/>
          </a:p>
        </p:txBody>
      </p:sp>
    </p:spTree>
    <p:extLst>
      <p:ext uri="{BB962C8B-B14F-4D97-AF65-F5344CB8AC3E}">
        <p14:creationId xmlns:p14="http://schemas.microsoft.com/office/powerpoint/2010/main" val="15998138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u="none" strike="noStrike" dirty="0">
                <a:solidFill>
                  <a:srgbClr val="374151"/>
                </a:solidFill>
                <a:effectLst/>
                <a:latin typeface="Söhne"/>
              </a:rPr>
              <a:t>In CSS, there are several pseudo-classes that are specifically related to anchor elements (also known as hyperlinks). These pseudo-classes allow you to style different states of the anchor element, depending on its interaction with the user. Some common anchor pseudo-classes include:</a:t>
            </a:r>
            <a:endParaRPr lang="en-US" dirty="0"/>
          </a:p>
        </p:txBody>
      </p:sp>
      <p:sp>
        <p:nvSpPr>
          <p:cNvPr id="4" name="Slide Number Placeholder 3"/>
          <p:cNvSpPr>
            <a:spLocks noGrp="1"/>
          </p:cNvSpPr>
          <p:nvPr>
            <p:ph type="sldNum" sz="quarter" idx="5"/>
          </p:nvPr>
        </p:nvSpPr>
        <p:spPr/>
        <p:txBody>
          <a:bodyPr/>
          <a:lstStyle/>
          <a:p>
            <a:fld id="{D3DCD060-3FD2-4013-A6E0-1CA9904835CF}" type="slidenum">
              <a:rPr lang="en-AU" smtClean="0"/>
              <a:t>55</a:t>
            </a:fld>
            <a:endParaRPr lang="en-AU"/>
          </a:p>
        </p:txBody>
      </p:sp>
    </p:spTree>
    <p:extLst>
      <p:ext uri="{BB962C8B-B14F-4D97-AF65-F5344CB8AC3E}">
        <p14:creationId xmlns:p14="http://schemas.microsoft.com/office/powerpoint/2010/main" val="34073026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DCD060-3FD2-4013-A6E0-1CA9904835CF}" type="slidenum">
              <a:rPr lang="en-AU" smtClean="0"/>
              <a:t>56</a:t>
            </a:fld>
            <a:endParaRPr lang="en-AU"/>
          </a:p>
        </p:txBody>
      </p:sp>
    </p:spTree>
    <p:extLst>
      <p:ext uri="{BB962C8B-B14F-4D97-AF65-F5344CB8AC3E}">
        <p14:creationId xmlns:p14="http://schemas.microsoft.com/office/powerpoint/2010/main" val="21308373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DCD060-3FD2-4013-A6E0-1CA9904835CF}" type="slidenum">
              <a:rPr lang="en-AU" smtClean="0"/>
              <a:t>57</a:t>
            </a:fld>
            <a:endParaRPr lang="en-AU"/>
          </a:p>
        </p:txBody>
      </p:sp>
    </p:spTree>
    <p:extLst>
      <p:ext uri="{BB962C8B-B14F-4D97-AF65-F5344CB8AC3E}">
        <p14:creationId xmlns:p14="http://schemas.microsoft.com/office/powerpoint/2010/main" val="35861192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DCD060-3FD2-4013-A6E0-1CA9904835CF}" type="slidenum">
              <a:rPr lang="en-AU" smtClean="0"/>
              <a:t>58</a:t>
            </a:fld>
            <a:endParaRPr lang="en-AU"/>
          </a:p>
        </p:txBody>
      </p:sp>
    </p:spTree>
    <p:extLst>
      <p:ext uri="{BB962C8B-B14F-4D97-AF65-F5344CB8AC3E}">
        <p14:creationId xmlns:p14="http://schemas.microsoft.com/office/powerpoint/2010/main" val="20939506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DCD060-3FD2-4013-A6E0-1CA9904835CF}" type="slidenum">
              <a:rPr lang="en-AU" smtClean="0"/>
              <a:t>59</a:t>
            </a:fld>
            <a:endParaRPr lang="en-AU"/>
          </a:p>
        </p:txBody>
      </p:sp>
    </p:spTree>
    <p:extLst>
      <p:ext uri="{BB962C8B-B14F-4D97-AF65-F5344CB8AC3E}">
        <p14:creationId xmlns:p14="http://schemas.microsoft.com/office/powerpoint/2010/main" val="19019688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b="0" i="0" u="none" strike="noStrike" dirty="0">
                <a:solidFill>
                  <a:srgbClr val="374151"/>
                </a:solidFill>
                <a:effectLst/>
                <a:latin typeface="Söhne"/>
              </a:rPr>
              <a:t>In CSS, a pseudo-element is a keyword that is used to style a specific part of an element. Pseudo-elements allow you to add content or style to parts of an element that are not part of the actual document structure. Pseudo-elements are indicated with a double colon (::) notation.</a:t>
            </a:r>
          </a:p>
          <a:p>
            <a:pPr algn="l"/>
            <a:r>
              <a:rPr lang="en-AU" b="0" i="0" u="none" strike="noStrike" dirty="0">
                <a:solidFill>
                  <a:srgbClr val="374151"/>
                </a:solidFill>
                <a:effectLst/>
                <a:latin typeface="Söhne"/>
              </a:rPr>
              <a:t>Some common CSS pseudo-elements include:</a:t>
            </a:r>
          </a:p>
          <a:p>
            <a:pPr algn="l">
              <a:buFont typeface="+mj-lt"/>
              <a:buAutoNum type="arabicPeriod"/>
            </a:pPr>
            <a:r>
              <a:rPr lang="en-AU" b="0" i="0" u="none" strike="noStrike" dirty="0">
                <a:solidFill>
                  <a:srgbClr val="374151"/>
                </a:solidFill>
                <a:effectLst/>
                <a:latin typeface="Söhne"/>
              </a:rPr>
              <a:t>::before - creates a pseudo-element that is inserted before the content of an element</a:t>
            </a:r>
          </a:p>
          <a:p>
            <a:pPr algn="l">
              <a:buFont typeface="+mj-lt"/>
              <a:buAutoNum type="arabicPeriod"/>
            </a:pPr>
            <a:r>
              <a:rPr lang="en-AU" b="0" i="0" u="none" strike="noStrike" dirty="0">
                <a:solidFill>
                  <a:srgbClr val="374151"/>
                </a:solidFill>
                <a:effectLst/>
                <a:latin typeface="Söhne"/>
              </a:rPr>
              <a:t>::after - creates a pseudo-element that is inserted after the content of an element</a:t>
            </a:r>
          </a:p>
          <a:p>
            <a:pPr algn="l">
              <a:buFont typeface="+mj-lt"/>
              <a:buAutoNum type="arabicPeriod"/>
            </a:pPr>
            <a:r>
              <a:rPr lang="en-AU" b="0" i="0" u="none" strike="noStrike" dirty="0">
                <a:solidFill>
                  <a:srgbClr val="374151"/>
                </a:solidFill>
                <a:effectLst/>
                <a:latin typeface="Söhne"/>
              </a:rPr>
              <a:t>::first-letter - selects the first letter of the content in an element</a:t>
            </a:r>
          </a:p>
          <a:p>
            <a:pPr algn="l">
              <a:buFont typeface="+mj-lt"/>
              <a:buAutoNum type="arabicPeriod"/>
            </a:pPr>
            <a:r>
              <a:rPr lang="en-AU" b="0" i="0" u="none" strike="noStrike" dirty="0">
                <a:solidFill>
                  <a:srgbClr val="374151"/>
                </a:solidFill>
                <a:effectLst/>
                <a:latin typeface="Söhne"/>
              </a:rPr>
              <a:t>::first-line - selects the first line of the content in an element</a:t>
            </a:r>
          </a:p>
          <a:p>
            <a:pPr algn="l"/>
            <a:r>
              <a:rPr lang="en-AU" b="0" i="0" u="none" strike="noStrike" dirty="0">
                <a:solidFill>
                  <a:srgbClr val="374151"/>
                </a:solidFill>
                <a:effectLst/>
                <a:latin typeface="Söhne"/>
              </a:rPr>
              <a:t>Here's an example of how to use the ::before pseudo-element to insert content before an element:</a:t>
            </a:r>
          </a:p>
          <a:p>
            <a:endParaRPr lang="en-US" dirty="0"/>
          </a:p>
        </p:txBody>
      </p:sp>
      <p:sp>
        <p:nvSpPr>
          <p:cNvPr id="4" name="Slide Number Placeholder 3"/>
          <p:cNvSpPr>
            <a:spLocks noGrp="1"/>
          </p:cNvSpPr>
          <p:nvPr>
            <p:ph type="sldNum" sz="quarter" idx="5"/>
          </p:nvPr>
        </p:nvSpPr>
        <p:spPr/>
        <p:txBody>
          <a:bodyPr/>
          <a:lstStyle/>
          <a:p>
            <a:fld id="{D3DCD060-3FD2-4013-A6E0-1CA9904835CF}" type="slidenum">
              <a:rPr lang="en-AU" smtClean="0"/>
              <a:t>60</a:t>
            </a:fld>
            <a:endParaRPr lang="en-AU"/>
          </a:p>
        </p:txBody>
      </p:sp>
    </p:spTree>
    <p:extLst>
      <p:ext uri="{BB962C8B-B14F-4D97-AF65-F5344CB8AC3E}">
        <p14:creationId xmlns:p14="http://schemas.microsoft.com/office/powerpoint/2010/main" val="33711263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DCD060-3FD2-4013-A6E0-1CA9904835CF}" type="slidenum">
              <a:rPr lang="en-AU" smtClean="0"/>
              <a:t>61</a:t>
            </a:fld>
            <a:endParaRPr lang="en-AU"/>
          </a:p>
        </p:txBody>
      </p:sp>
    </p:spTree>
    <p:extLst>
      <p:ext uri="{BB962C8B-B14F-4D97-AF65-F5344CB8AC3E}">
        <p14:creationId xmlns:p14="http://schemas.microsoft.com/office/powerpoint/2010/main" val="30195306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DCD060-3FD2-4013-A6E0-1CA9904835CF}" type="slidenum">
              <a:rPr lang="en-AU" smtClean="0"/>
              <a:t>63</a:t>
            </a:fld>
            <a:endParaRPr lang="en-AU"/>
          </a:p>
        </p:txBody>
      </p:sp>
    </p:spTree>
    <p:extLst>
      <p:ext uri="{BB962C8B-B14F-4D97-AF65-F5344CB8AC3E}">
        <p14:creationId xmlns:p14="http://schemas.microsoft.com/office/powerpoint/2010/main" val="32360124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DCD060-3FD2-4013-A6E0-1CA9904835CF}" type="slidenum">
              <a:rPr lang="en-AU" smtClean="0"/>
              <a:t>65</a:t>
            </a:fld>
            <a:endParaRPr lang="en-AU"/>
          </a:p>
        </p:txBody>
      </p:sp>
    </p:spTree>
    <p:extLst>
      <p:ext uri="{BB962C8B-B14F-4D97-AF65-F5344CB8AC3E}">
        <p14:creationId xmlns:p14="http://schemas.microsoft.com/office/powerpoint/2010/main" val="19780970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b="0" i="0" u="none" strike="noStrike" dirty="0">
                <a:solidFill>
                  <a:srgbClr val="374151"/>
                </a:solidFill>
                <a:effectLst/>
                <a:latin typeface="Söhne"/>
              </a:rPr>
              <a:t>A navigation bar is an essential part of a website that helps visitors navigate between different pages or sections of the site. In CSS, you can create a navigation bar by styling a list of links with some specific styles.</a:t>
            </a:r>
          </a:p>
          <a:p>
            <a:pPr algn="l"/>
            <a:r>
              <a:rPr lang="en-AU" b="0" i="0" u="none" strike="noStrike" dirty="0">
                <a:solidFill>
                  <a:srgbClr val="374151"/>
                </a:solidFill>
                <a:effectLst/>
                <a:latin typeface="Söhne"/>
              </a:rPr>
              <a:t>Here's an example of how to create a basic navigation bar using an unordered list:</a:t>
            </a:r>
          </a:p>
          <a:p>
            <a:endParaRPr lang="en-US" dirty="0"/>
          </a:p>
        </p:txBody>
      </p:sp>
      <p:sp>
        <p:nvSpPr>
          <p:cNvPr id="4" name="Slide Number Placeholder 3"/>
          <p:cNvSpPr>
            <a:spLocks noGrp="1"/>
          </p:cNvSpPr>
          <p:nvPr>
            <p:ph type="sldNum" sz="quarter" idx="5"/>
          </p:nvPr>
        </p:nvSpPr>
        <p:spPr/>
        <p:txBody>
          <a:bodyPr/>
          <a:lstStyle/>
          <a:p>
            <a:fld id="{D3DCD060-3FD2-4013-A6E0-1CA9904835CF}" type="slidenum">
              <a:rPr lang="en-AU" smtClean="0"/>
              <a:t>66</a:t>
            </a:fld>
            <a:endParaRPr lang="en-AU"/>
          </a:p>
        </p:txBody>
      </p:sp>
    </p:spTree>
    <p:extLst>
      <p:ext uri="{BB962C8B-B14F-4D97-AF65-F5344CB8AC3E}">
        <p14:creationId xmlns:p14="http://schemas.microsoft.com/office/powerpoint/2010/main" val="30000518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DCD060-3FD2-4013-A6E0-1CA9904835CF}" type="slidenum">
              <a:rPr lang="en-AU" smtClean="0"/>
              <a:t>67</a:t>
            </a:fld>
            <a:endParaRPr lang="en-AU"/>
          </a:p>
        </p:txBody>
      </p:sp>
    </p:spTree>
    <p:extLst>
      <p:ext uri="{BB962C8B-B14F-4D97-AF65-F5344CB8AC3E}">
        <p14:creationId xmlns:p14="http://schemas.microsoft.com/office/powerpoint/2010/main" val="9786866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DCD060-3FD2-4013-A6E0-1CA9904835CF}" type="slidenum">
              <a:rPr lang="en-AU" smtClean="0"/>
              <a:t>70</a:t>
            </a:fld>
            <a:endParaRPr lang="en-AU"/>
          </a:p>
        </p:txBody>
      </p:sp>
    </p:spTree>
    <p:extLst>
      <p:ext uri="{BB962C8B-B14F-4D97-AF65-F5344CB8AC3E}">
        <p14:creationId xmlns:p14="http://schemas.microsoft.com/office/powerpoint/2010/main" val="14198646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DCD060-3FD2-4013-A6E0-1CA9904835CF}" type="slidenum">
              <a:rPr lang="en-AU" smtClean="0"/>
              <a:t>71</a:t>
            </a:fld>
            <a:endParaRPr lang="en-AU"/>
          </a:p>
        </p:txBody>
      </p:sp>
    </p:spTree>
    <p:extLst>
      <p:ext uri="{BB962C8B-B14F-4D97-AF65-F5344CB8AC3E}">
        <p14:creationId xmlns:p14="http://schemas.microsoft.com/office/powerpoint/2010/main" val="10905494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b="0" i="0" u="none" strike="noStrike" dirty="0">
                <a:solidFill>
                  <a:srgbClr val="374151"/>
                </a:solidFill>
                <a:effectLst/>
                <a:latin typeface="Söhne"/>
              </a:rPr>
              <a:t>CSS attribute selectors are used to select elements based on the value of their attributes. There are several types of attribute selectors in CSS:</a:t>
            </a:r>
          </a:p>
          <a:p>
            <a:pPr algn="l">
              <a:buFont typeface="+mj-lt"/>
              <a:buAutoNum type="arabicPeriod"/>
            </a:pPr>
            <a:r>
              <a:rPr lang="en-AU" b="0" i="0" u="none" strike="noStrike" dirty="0">
                <a:solidFill>
                  <a:srgbClr val="374151"/>
                </a:solidFill>
                <a:effectLst/>
                <a:latin typeface="Söhne"/>
              </a:rPr>
              <a:t>[attribute]: Selects all elements that have the specified attribute, regardless of its value.</a:t>
            </a:r>
          </a:p>
          <a:p>
            <a:pPr algn="l">
              <a:buFont typeface="+mj-lt"/>
              <a:buAutoNum type="arabicPeriod"/>
            </a:pPr>
            <a:r>
              <a:rPr lang="en-AU" b="0" i="0" u="none" strike="noStrike" dirty="0">
                <a:solidFill>
                  <a:srgbClr val="374151"/>
                </a:solidFill>
                <a:effectLst/>
                <a:latin typeface="Söhne"/>
              </a:rPr>
              <a:t>[attribute=value]: Selects all elements that have the specified attribute with a value exactly equal to the given value.</a:t>
            </a:r>
          </a:p>
          <a:p>
            <a:pPr algn="l">
              <a:buFont typeface="+mj-lt"/>
              <a:buAutoNum type="arabicPeriod"/>
            </a:pPr>
            <a:r>
              <a:rPr lang="en-AU" b="0" i="0" u="none" strike="noStrike" dirty="0">
                <a:solidFill>
                  <a:srgbClr val="374151"/>
                </a:solidFill>
                <a:effectLst/>
                <a:latin typeface="Söhne"/>
              </a:rPr>
              <a:t>[attribute^=value]: Selects all elements that have the specified attribute with a value that begins with the given value.</a:t>
            </a:r>
          </a:p>
          <a:p>
            <a:pPr algn="l">
              <a:buFont typeface="+mj-lt"/>
              <a:buAutoNum type="arabicPeriod"/>
            </a:pPr>
            <a:r>
              <a:rPr lang="en-AU" b="0" i="0" u="none" strike="noStrike" dirty="0">
                <a:solidFill>
                  <a:srgbClr val="374151"/>
                </a:solidFill>
                <a:effectLst/>
                <a:latin typeface="Söhne"/>
              </a:rPr>
              <a:t>[attribute$=value]: Selects all elements that have the specified attribute with a value that ends with the given value.</a:t>
            </a:r>
          </a:p>
          <a:p>
            <a:pPr algn="l">
              <a:buFont typeface="+mj-lt"/>
              <a:buAutoNum type="arabicPeriod"/>
            </a:pPr>
            <a:r>
              <a:rPr lang="en-AU" b="0" i="0" u="none" strike="noStrike" dirty="0">
                <a:solidFill>
                  <a:srgbClr val="374151"/>
                </a:solidFill>
                <a:effectLst/>
                <a:latin typeface="Söhne"/>
              </a:rPr>
              <a:t>[attribute*=value]: Selects all elements that have the specified attribute with a value that contains the given value.</a:t>
            </a:r>
          </a:p>
          <a:p>
            <a:pPr algn="l"/>
            <a:r>
              <a:rPr lang="en-AU" b="0" i="0" u="none" strike="noStrike" dirty="0">
                <a:solidFill>
                  <a:srgbClr val="374151"/>
                </a:solidFill>
                <a:effectLst/>
                <a:latin typeface="Söhne"/>
              </a:rPr>
              <a:t>Here's an example of how to use attribute selectors in CSS:</a:t>
            </a:r>
          </a:p>
          <a:p>
            <a:endParaRPr lang="en-US" dirty="0"/>
          </a:p>
        </p:txBody>
      </p:sp>
      <p:sp>
        <p:nvSpPr>
          <p:cNvPr id="4" name="Slide Number Placeholder 3"/>
          <p:cNvSpPr>
            <a:spLocks noGrp="1"/>
          </p:cNvSpPr>
          <p:nvPr>
            <p:ph type="sldNum" sz="quarter" idx="5"/>
          </p:nvPr>
        </p:nvSpPr>
        <p:spPr/>
        <p:txBody>
          <a:bodyPr/>
          <a:lstStyle/>
          <a:p>
            <a:fld id="{D3DCD060-3FD2-4013-A6E0-1CA9904835CF}" type="slidenum">
              <a:rPr lang="en-AU" smtClean="0"/>
              <a:t>72</a:t>
            </a:fld>
            <a:endParaRPr lang="en-AU"/>
          </a:p>
        </p:txBody>
      </p:sp>
    </p:spTree>
    <p:extLst>
      <p:ext uri="{BB962C8B-B14F-4D97-AF65-F5344CB8AC3E}">
        <p14:creationId xmlns:p14="http://schemas.microsoft.com/office/powerpoint/2010/main" val="6125783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DCD060-3FD2-4013-A6E0-1CA9904835CF}" type="slidenum">
              <a:rPr lang="en-AU" smtClean="0"/>
              <a:t>74</a:t>
            </a:fld>
            <a:endParaRPr lang="en-AU"/>
          </a:p>
        </p:txBody>
      </p:sp>
    </p:spTree>
    <p:extLst>
      <p:ext uri="{BB962C8B-B14F-4D97-AF65-F5344CB8AC3E}">
        <p14:creationId xmlns:p14="http://schemas.microsoft.com/office/powerpoint/2010/main" val="25543357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DCD060-3FD2-4013-A6E0-1CA9904835CF}" type="slidenum">
              <a:rPr lang="en-AU" smtClean="0"/>
              <a:t>75</a:t>
            </a:fld>
            <a:endParaRPr lang="en-AU"/>
          </a:p>
        </p:txBody>
      </p:sp>
    </p:spTree>
    <p:extLst>
      <p:ext uri="{BB962C8B-B14F-4D97-AF65-F5344CB8AC3E}">
        <p14:creationId xmlns:p14="http://schemas.microsoft.com/office/powerpoint/2010/main" val="38143092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u="none" strike="noStrike" dirty="0">
                <a:solidFill>
                  <a:srgbClr val="374151"/>
                </a:solidFill>
                <a:effectLst/>
                <a:latin typeface="Söhne"/>
              </a:rPr>
              <a:t>In the example above, the </a:t>
            </a:r>
            <a:r>
              <a:rPr lang="en-AU" dirty="0"/>
              <a:t>[class*=”</a:t>
            </a:r>
            <a:r>
              <a:rPr lang="en-AU" dirty="0" err="1"/>
              <a:t>te</a:t>
            </a:r>
            <a:r>
              <a:rPr lang="en-AU" dirty="0"/>
              <a:t>"]</a:t>
            </a:r>
            <a:r>
              <a:rPr lang="en-AU" b="0" i="0" u="none" strike="noStrike" dirty="0">
                <a:solidFill>
                  <a:srgbClr val="374151"/>
                </a:solidFill>
                <a:effectLst/>
                <a:latin typeface="Söhne"/>
              </a:rPr>
              <a:t> selector selects all elements that have a </a:t>
            </a:r>
            <a:r>
              <a:rPr lang="en-AU" dirty="0"/>
              <a:t>class</a:t>
            </a:r>
            <a:r>
              <a:rPr lang="en-AU" b="0" i="0" u="none" strike="noStrike" dirty="0">
                <a:solidFill>
                  <a:srgbClr val="374151"/>
                </a:solidFill>
                <a:effectLst/>
                <a:latin typeface="Söhne"/>
              </a:rPr>
              <a:t> attribute containing the word "example". In this case, it selects the </a:t>
            </a:r>
            <a:r>
              <a:rPr lang="en-AU" dirty="0"/>
              <a:t>h1</a:t>
            </a:r>
            <a:r>
              <a:rPr lang="en-AU" b="0" i="0" u="none" strike="noStrike" dirty="0">
                <a:solidFill>
                  <a:srgbClr val="374151"/>
                </a:solidFill>
                <a:effectLst/>
                <a:latin typeface="Söhne"/>
              </a:rPr>
              <a:t> element with </a:t>
            </a:r>
            <a:r>
              <a:rPr lang="en-AU" dirty="0"/>
              <a:t>class="example-header"</a:t>
            </a:r>
            <a:r>
              <a:rPr lang="en-AU" b="0" i="0" u="none" strike="noStrike" dirty="0">
                <a:solidFill>
                  <a:srgbClr val="374151"/>
                </a:solidFill>
                <a:effectLst/>
                <a:latin typeface="Söhne"/>
              </a:rPr>
              <a:t>, the </a:t>
            </a:r>
            <a:r>
              <a:rPr lang="en-AU" dirty="0"/>
              <a:t>p</a:t>
            </a:r>
            <a:r>
              <a:rPr lang="en-AU" b="0" i="0" u="none" strike="noStrike" dirty="0">
                <a:solidFill>
                  <a:srgbClr val="374151"/>
                </a:solidFill>
                <a:effectLst/>
                <a:latin typeface="Söhne"/>
              </a:rPr>
              <a:t> element with </a:t>
            </a:r>
            <a:r>
              <a:rPr lang="en-AU" dirty="0"/>
              <a:t>class="example-paragraph"</a:t>
            </a:r>
            <a:r>
              <a:rPr lang="en-AU" b="0" i="0" u="none" strike="noStrike" dirty="0">
                <a:solidFill>
                  <a:srgbClr val="374151"/>
                </a:solidFill>
                <a:effectLst/>
                <a:latin typeface="Söhne"/>
              </a:rPr>
              <a:t>, and the </a:t>
            </a:r>
            <a:r>
              <a:rPr lang="en-AU" dirty="0"/>
              <a:t>li</a:t>
            </a:r>
            <a:r>
              <a:rPr lang="en-AU" b="0" i="0" u="none" strike="noStrike" dirty="0">
                <a:solidFill>
                  <a:srgbClr val="374151"/>
                </a:solidFill>
                <a:effectLst/>
                <a:latin typeface="Söhne"/>
              </a:rPr>
              <a:t> elements with </a:t>
            </a:r>
            <a:r>
              <a:rPr lang="en-AU" dirty="0"/>
              <a:t>class="example-list-item"</a:t>
            </a:r>
            <a:r>
              <a:rPr lang="en-AU" b="0" i="0" u="none" strike="noStrike" dirty="0">
                <a:solidFill>
                  <a:srgbClr val="374151"/>
                </a:solidFill>
                <a:effectLst/>
                <a:latin typeface="Söhne"/>
              </a:rPr>
              <a:t>. The </a:t>
            </a:r>
            <a:r>
              <a:rPr lang="en-AU" b="0" i="0" u="none" strike="noStrike" dirty="0" err="1">
                <a:solidFill>
                  <a:srgbClr val="374151"/>
                </a:solidFill>
                <a:effectLst/>
                <a:latin typeface="Söhne"/>
              </a:rPr>
              <a:t>color</a:t>
            </a:r>
            <a:r>
              <a:rPr lang="en-AU" b="0" i="0" u="none" strike="noStrike" dirty="0">
                <a:solidFill>
                  <a:srgbClr val="374151"/>
                </a:solidFill>
                <a:effectLst/>
                <a:latin typeface="Söhne"/>
              </a:rPr>
              <a:t> of the text inside these elements will be red due to the CSS rule </a:t>
            </a:r>
            <a:r>
              <a:rPr lang="en-AU" dirty="0" err="1"/>
              <a:t>color</a:t>
            </a:r>
            <a:r>
              <a:rPr lang="en-AU" dirty="0"/>
              <a:t>: red;</a:t>
            </a:r>
            <a:r>
              <a:rPr lang="en-AU" b="0" i="0" u="none" strike="noStrike" dirty="0">
                <a:solidFill>
                  <a:srgbClr val="374151"/>
                </a:solidFill>
                <a:effectLst/>
                <a:latin typeface="Söhne"/>
              </a:rPr>
              <a:t>.</a:t>
            </a:r>
            <a:endParaRPr lang="en-US" dirty="0"/>
          </a:p>
        </p:txBody>
      </p:sp>
      <p:sp>
        <p:nvSpPr>
          <p:cNvPr id="4" name="Slide Number Placeholder 3"/>
          <p:cNvSpPr>
            <a:spLocks noGrp="1"/>
          </p:cNvSpPr>
          <p:nvPr>
            <p:ph type="sldNum" sz="quarter" idx="5"/>
          </p:nvPr>
        </p:nvSpPr>
        <p:spPr/>
        <p:txBody>
          <a:bodyPr/>
          <a:lstStyle/>
          <a:p>
            <a:fld id="{D3DCD060-3FD2-4013-A6E0-1CA9904835CF}" type="slidenum">
              <a:rPr lang="en-AU" smtClean="0"/>
              <a:t>76</a:t>
            </a:fld>
            <a:endParaRPr lang="en-AU"/>
          </a:p>
        </p:txBody>
      </p:sp>
    </p:spTree>
    <p:extLst>
      <p:ext uri="{BB962C8B-B14F-4D97-AF65-F5344CB8AC3E}">
        <p14:creationId xmlns:p14="http://schemas.microsoft.com/office/powerpoint/2010/main" val="20321509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b="0" i="0" u="none" strike="noStrike" dirty="0">
                <a:solidFill>
                  <a:srgbClr val="374151"/>
                </a:solidFill>
                <a:effectLst/>
                <a:latin typeface="Söhne"/>
              </a:rPr>
              <a:t>The code you have provided is a CSS selector that selects an HTML element based on the value of its attribute. Here's a breakdown of the selector:</a:t>
            </a:r>
          </a:p>
          <a:p>
            <a:pPr algn="l">
              <a:buFont typeface="Arial" panose="020B0604020202020204" pitchFamily="34" charset="0"/>
              <a:buChar char="•"/>
            </a:pPr>
            <a:r>
              <a:rPr lang="en-AU" b="0" i="0" u="none" strike="noStrike" dirty="0">
                <a:solidFill>
                  <a:srgbClr val="374151"/>
                </a:solidFill>
                <a:effectLst/>
                <a:latin typeface="Söhne"/>
              </a:rPr>
              <a:t>attribute is the name of the attribute you want to select. For example, if you want to select all elements with a "data-id" attribute, you would replace "attribute" with "data-id".</a:t>
            </a:r>
          </a:p>
          <a:p>
            <a:pPr algn="l">
              <a:buFont typeface="Arial" panose="020B0604020202020204" pitchFamily="34" charset="0"/>
              <a:buChar char="•"/>
            </a:pPr>
            <a:r>
              <a:rPr lang="en-AU" b="0" i="0" u="none" strike="noStrike" dirty="0">
                <a:solidFill>
                  <a:srgbClr val="374151"/>
                </a:solidFill>
                <a:effectLst/>
                <a:latin typeface="Söhne"/>
              </a:rPr>
              <a:t>value is the value of the attribute you want to select. For example, if you want to select all elements with a "data-id" attribute that has a value of "123", you would replace "value" with "123".</a:t>
            </a:r>
          </a:p>
          <a:p>
            <a:pPr algn="l">
              <a:buFont typeface="Arial" panose="020B0604020202020204" pitchFamily="34" charset="0"/>
              <a:buChar char="•"/>
            </a:pPr>
            <a:r>
              <a:rPr lang="en-AU" b="0" i="0" u="none" strike="noStrike" dirty="0">
                <a:solidFill>
                  <a:srgbClr val="374151"/>
                </a:solidFill>
                <a:effectLst/>
                <a:latin typeface="Söhne"/>
              </a:rPr>
              <a:t>The = symbol is a CSS attribute selector operator that selects elements that have an attribute with a value that exactly matches the specified value.</a:t>
            </a:r>
          </a:p>
          <a:p>
            <a:pPr algn="l"/>
            <a:r>
              <a:rPr lang="en-AU" b="0" i="0" u="none" strike="noStrike" dirty="0">
                <a:solidFill>
                  <a:srgbClr val="374151"/>
                </a:solidFill>
                <a:effectLst/>
                <a:latin typeface="Söhne"/>
              </a:rPr>
              <a:t>So, the full selector attribute$="value" would select all elements that have an attribute named "attribute" with a value of "value".</a:t>
            </a:r>
          </a:p>
          <a:p>
            <a:endParaRPr lang="en-US" dirty="0"/>
          </a:p>
        </p:txBody>
      </p:sp>
      <p:sp>
        <p:nvSpPr>
          <p:cNvPr id="4" name="Slide Number Placeholder 3"/>
          <p:cNvSpPr>
            <a:spLocks noGrp="1"/>
          </p:cNvSpPr>
          <p:nvPr>
            <p:ph type="sldNum" sz="quarter" idx="5"/>
          </p:nvPr>
        </p:nvSpPr>
        <p:spPr/>
        <p:txBody>
          <a:bodyPr/>
          <a:lstStyle/>
          <a:p>
            <a:fld id="{D3DCD060-3FD2-4013-A6E0-1CA9904835CF}" type="slidenum">
              <a:rPr lang="en-AU" smtClean="0"/>
              <a:t>77</a:t>
            </a:fld>
            <a:endParaRPr lang="en-AU"/>
          </a:p>
        </p:txBody>
      </p:sp>
    </p:spTree>
    <p:extLst>
      <p:ext uri="{BB962C8B-B14F-4D97-AF65-F5344CB8AC3E}">
        <p14:creationId xmlns:p14="http://schemas.microsoft.com/office/powerpoint/2010/main" val="5263404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b="0" i="0" u="none" strike="noStrike" dirty="0">
                <a:solidFill>
                  <a:srgbClr val="374151"/>
                </a:solidFill>
                <a:effectLst/>
                <a:latin typeface="Söhne"/>
              </a:rPr>
              <a:t>The CSS selector [attribute^="value"] is used to select HTML elements that have an attribute whose value starts with a specific string "value". Here's a breakdown of the selector:</a:t>
            </a:r>
          </a:p>
          <a:p>
            <a:pPr algn="l">
              <a:buFont typeface="Arial" panose="020B0604020202020204" pitchFamily="34" charset="0"/>
              <a:buChar char="•"/>
            </a:pPr>
            <a:r>
              <a:rPr lang="en-AU" b="0" i="0" u="none" strike="noStrike" dirty="0">
                <a:solidFill>
                  <a:srgbClr val="374151"/>
                </a:solidFill>
                <a:effectLst/>
                <a:latin typeface="Söhne"/>
              </a:rPr>
              <a:t>attribute is the name of the attribute you want to select. For example, if you want to select all elements with a "data-id" attribute, you would replace "attribute" with "data-id".</a:t>
            </a:r>
          </a:p>
          <a:p>
            <a:pPr algn="l">
              <a:buFont typeface="Arial" panose="020B0604020202020204" pitchFamily="34" charset="0"/>
              <a:buChar char="•"/>
            </a:pPr>
            <a:r>
              <a:rPr lang="en-AU" b="0" i="0" u="none" strike="noStrike" dirty="0">
                <a:solidFill>
                  <a:srgbClr val="374151"/>
                </a:solidFill>
                <a:effectLst/>
                <a:latin typeface="Söhne"/>
              </a:rPr>
              <a:t>^= is a CSS selector operator that selects elements where the attribute value starts with the specified value.</a:t>
            </a:r>
          </a:p>
          <a:p>
            <a:pPr algn="l">
              <a:buFont typeface="Arial" panose="020B0604020202020204" pitchFamily="34" charset="0"/>
              <a:buChar char="•"/>
            </a:pPr>
            <a:r>
              <a:rPr lang="en-AU" b="0" i="0" u="none" strike="noStrike" dirty="0">
                <a:solidFill>
                  <a:srgbClr val="374151"/>
                </a:solidFill>
                <a:effectLst/>
                <a:latin typeface="Söhne"/>
              </a:rPr>
              <a:t>value is the string you want the attribute value to start with. For example, if you want to select all elements with a "data-id" attribute that starts with the string "user-", you would replace "value" with "user-".</a:t>
            </a:r>
          </a:p>
          <a:p>
            <a:pPr algn="l"/>
            <a:r>
              <a:rPr lang="en-AU" b="0" i="0" u="none" strike="noStrike" dirty="0">
                <a:solidFill>
                  <a:srgbClr val="374151"/>
                </a:solidFill>
                <a:effectLst/>
                <a:latin typeface="Söhne"/>
              </a:rPr>
              <a:t>So, the selector [attribute^="value"] would select all HTML elements that have an attribute named "attribute" with a value that starts with the string "value". For example, the selector [class^="my-class"] would select all elements with a class attribute that starts with "my-class".</a:t>
            </a:r>
          </a:p>
          <a:p>
            <a:endParaRPr lang="en-US" dirty="0"/>
          </a:p>
        </p:txBody>
      </p:sp>
      <p:sp>
        <p:nvSpPr>
          <p:cNvPr id="4" name="Slide Number Placeholder 3"/>
          <p:cNvSpPr>
            <a:spLocks noGrp="1"/>
          </p:cNvSpPr>
          <p:nvPr>
            <p:ph type="sldNum" sz="quarter" idx="5"/>
          </p:nvPr>
        </p:nvSpPr>
        <p:spPr/>
        <p:txBody>
          <a:bodyPr/>
          <a:lstStyle/>
          <a:p>
            <a:fld id="{D3DCD060-3FD2-4013-A6E0-1CA9904835CF}" type="slidenum">
              <a:rPr lang="en-AU" smtClean="0"/>
              <a:t>78</a:t>
            </a:fld>
            <a:endParaRPr lang="en-AU"/>
          </a:p>
        </p:txBody>
      </p:sp>
    </p:spTree>
    <p:extLst>
      <p:ext uri="{BB962C8B-B14F-4D97-AF65-F5344CB8AC3E}">
        <p14:creationId xmlns:p14="http://schemas.microsoft.com/office/powerpoint/2010/main" val="14021184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b="0" i="0" u="none" strike="noStrike" dirty="0">
                <a:solidFill>
                  <a:srgbClr val="374151"/>
                </a:solidFill>
                <a:effectLst/>
                <a:latin typeface="Söhne"/>
              </a:rPr>
              <a:t>CSS (Cascading Style Sheets) can be used to style forms and make them look visually appealing. Here are some common CSS properties that are used to style forms:</a:t>
            </a:r>
          </a:p>
          <a:p>
            <a:pPr algn="l">
              <a:buFont typeface="+mj-lt"/>
              <a:buAutoNum type="arabicPeriod"/>
            </a:pPr>
            <a:r>
              <a:rPr lang="en-AU" b="0" i="0" u="none" strike="noStrike" dirty="0">
                <a:solidFill>
                  <a:srgbClr val="374151"/>
                </a:solidFill>
                <a:effectLst/>
                <a:latin typeface="Söhne"/>
              </a:rPr>
              <a:t>background-</a:t>
            </a:r>
            <a:r>
              <a:rPr lang="en-AU" b="0" i="0" u="none" strike="noStrike" dirty="0" err="1">
                <a:solidFill>
                  <a:srgbClr val="374151"/>
                </a:solidFill>
                <a:effectLst/>
                <a:latin typeface="Söhne"/>
              </a:rPr>
              <a:t>color</a:t>
            </a:r>
            <a:r>
              <a:rPr lang="en-AU" b="0" i="0" u="none" strike="noStrike" dirty="0">
                <a:solidFill>
                  <a:srgbClr val="374151"/>
                </a:solidFill>
                <a:effectLst/>
                <a:latin typeface="Söhne"/>
              </a:rPr>
              <a:t>: This property is used to set the background </a:t>
            </a:r>
            <a:r>
              <a:rPr lang="en-AU" b="0" i="0" u="none" strike="noStrike" dirty="0" err="1">
                <a:solidFill>
                  <a:srgbClr val="374151"/>
                </a:solidFill>
                <a:effectLst/>
                <a:latin typeface="Söhne"/>
              </a:rPr>
              <a:t>color</a:t>
            </a:r>
            <a:r>
              <a:rPr lang="en-AU" b="0" i="0" u="none" strike="noStrike" dirty="0">
                <a:solidFill>
                  <a:srgbClr val="374151"/>
                </a:solidFill>
                <a:effectLst/>
                <a:latin typeface="Söhne"/>
              </a:rPr>
              <a:t> of the form elements.</a:t>
            </a:r>
          </a:p>
          <a:p>
            <a:pPr algn="l">
              <a:buFont typeface="+mj-lt"/>
              <a:buAutoNum type="arabicPeriod"/>
            </a:pPr>
            <a:r>
              <a:rPr lang="en-AU" b="0" i="0" u="none" strike="noStrike" dirty="0" err="1">
                <a:solidFill>
                  <a:srgbClr val="374151"/>
                </a:solidFill>
                <a:effectLst/>
                <a:latin typeface="Söhne"/>
              </a:rPr>
              <a:t>color</a:t>
            </a:r>
            <a:r>
              <a:rPr lang="en-AU" b="0" i="0" u="none" strike="noStrike" dirty="0">
                <a:solidFill>
                  <a:srgbClr val="374151"/>
                </a:solidFill>
                <a:effectLst/>
                <a:latin typeface="Söhne"/>
              </a:rPr>
              <a:t>: This property is used to set the text </a:t>
            </a:r>
            <a:r>
              <a:rPr lang="en-AU" b="0" i="0" u="none" strike="noStrike" dirty="0" err="1">
                <a:solidFill>
                  <a:srgbClr val="374151"/>
                </a:solidFill>
                <a:effectLst/>
                <a:latin typeface="Söhne"/>
              </a:rPr>
              <a:t>color</a:t>
            </a:r>
            <a:r>
              <a:rPr lang="en-AU" b="0" i="0" u="none" strike="noStrike" dirty="0">
                <a:solidFill>
                  <a:srgbClr val="374151"/>
                </a:solidFill>
                <a:effectLst/>
                <a:latin typeface="Söhne"/>
              </a:rPr>
              <a:t> of the form elements.</a:t>
            </a:r>
          </a:p>
          <a:p>
            <a:pPr algn="l">
              <a:buFont typeface="+mj-lt"/>
              <a:buAutoNum type="arabicPeriod"/>
            </a:pPr>
            <a:r>
              <a:rPr lang="en-AU" b="0" i="0" u="none" strike="noStrike" dirty="0">
                <a:solidFill>
                  <a:srgbClr val="374151"/>
                </a:solidFill>
                <a:effectLst/>
                <a:latin typeface="Söhne"/>
              </a:rPr>
              <a:t>font-family: This property is used to set the font family for the text in the form elements.</a:t>
            </a:r>
          </a:p>
          <a:p>
            <a:pPr algn="l">
              <a:buFont typeface="+mj-lt"/>
              <a:buAutoNum type="arabicPeriod"/>
            </a:pPr>
            <a:r>
              <a:rPr lang="en-AU" b="0" i="0" u="none" strike="noStrike" dirty="0">
                <a:solidFill>
                  <a:srgbClr val="374151"/>
                </a:solidFill>
                <a:effectLst/>
                <a:latin typeface="Söhne"/>
              </a:rPr>
              <a:t>font-size: This property is used to set the font size for the text in the form elements.</a:t>
            </a:r>
          </a:p>
          <a:p>
            <a:pPr algn="l">
              <a:buFont typeface="+mj-lt"/>
              <a:buAutoNum type="arabicPeriod"/>
            </a:pPr>
            <a:r>
              <a:rPr lang="en-AU" b="0" i="0" u="none" strike="noStrike" dirty="0">
                <a:solidFill>
                  <a:srgbClr val="374151"/>
                </a:solidFill>
                <a:effectLst/>
                <a:latin typeface="Söhne"/>
              </a:rPr>
              <a:t>padding: This property is used to set the padding (inner space) of the form elements.</a:t>
            </a:r>
          </a:p>
          <a:p>
            <a:pPr algn="l">
              <a:buFont typeface="+mj-lt"/>
              <a:buAutoNum type="arabicPeriod"/>
            </a:pPr>
            <a:r>
              <a:rPr lang="en-AU" b="0" i="0" u="none" strike="noStrike" dirty="0">
                <a:solidFill>
                  <a:srgbClr val="374151"/>
                </a:solidFill>
                <a:effectLst/>
                <a:latin typeface="Söhne"/>
              </a:rPr>
              <a:t>border: This property is used to set the border around the form elements.</a:t>
            </a:r>
          </a:p>
          <a:p>
            <a:pPr algn="l">
              <a:buFont typeface="+mj-lt"/>
              <a:buAutoNum type="arabicPeriod"/>
            </a:pPr>
            <a:r>
              <a:rPr lang="en-AU" b="0" i="0" u="none" strike="noStrike" dirty="0">
                <a:solidFill>
                  <a:srgbClr val="374151"/>
                </a:solidFill>
                <a:effectLst/>
                <a:latin typeface="Söhne"/>
              </a:rPr>
              <a:t>border-radius: This property is used to set the border radius (rounded corners) of the form elements.</a:t>
            </a:r>
          </a:p>
          <a:p>
            <a:pPr algn="l">
              <a:buFont typeface="+mj-lt"/>
              <a:buAutoNum type="arabicPeriod"/>
            </a:pPr>
            <a:r>
              <a:rPr lang="en-AU" b="0" i="0" u="none" strike="noStrike" dirty="0">
                <a:solidFill>
                  <a:srgbClr val="374151"/>
                </a:solidFill>
                <a:effectLst/>
                <a:latin typeface="Söhne"/>
              </a:rPr>
              <a:t>box-shadow: This property is used to add a shadow effect to the form elements.</a:t>
            </a:r>
          </a:p>
          <a:p>
            <a:pPr algn="l"/>
            <a:r>
              <a:rPr lang="en-AU" b="0" i="0" u="none" strike="noStrike" dirty="0">
                <a:solidFill>
                  <a:srgbClr val="374151"/>
                </a:solidFill>
                <a:effectLst/>
                <a:latin typeface="Söhne"/>
              </a:rPr>
              <a:t>In addition to these properties, there are many other CSS properties that can be used to style forms, such as text-align, width, height, margin, and display. By using a combination of these properties, you can create visually appealing forms that are easy to use and navigate.</a:t>
            </a:r>
          </a:p>
          <a:p>
            <a:endParaRPr lang="en-US" dirty="0"/>
          </a:p>
        </p:txBody>
      </p:sp>
      <p:sp>
        <p:nvSpPr>
          <p:cNvPr id="4" name="Slide Number Placeholder 3"/>
          <p:cNvSpPr>
            <a:spLocks noGrp="1"/>
          </p:cNvSpPr>
          <p:nvPr>
            <p:ph type="sldNum" sz="quarter" idx="5"/>
          </p:nvPr>
        </p:nvSpPr>
        <p:spPr/>
        <p:txBody>
          <a:bodyPr/>
          <a:lstStyle/>
          <a:p>
            <a:fld id="{D3DCD060-3FD2-4013-A6E0-1CA9904835CF}" type="slidenum">
              <a:rPr lang="en-AU" smtClean="0"/>
              <a:t>79</a:t>
            </a:fld>
            <a:endParaRPr lang="en-AU"/>
          </a:p>
        </p:txBody>
      </p:sp>
    </p:spTree>
    <p:extLst>
      <p:ext uri="{BB962C8B-B14F-4D97-AF65-F5344CB8AC3E}">
        <p14:creationId xmlns:p14="http://schemas.microsoft.com/office/powerpoint/2010/main" val="42824114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DCD060-3FD2-4013-A6E0-1CA9904835CF}" type="slidenum">
              <a:rPr lang="en-AU" smtClean="0"/>
              <a:t>80</a:t>
            </a:fld>
            <a:endParaRPr lang="en-AU"/>
          </a:p>
        </p:txBody>
      </p:sp>
    </p:spTree>
    <p:extLst>
      <p:ext uri="{BB962C8B-B14F-4D97-AF65-F5344CB8AC3E}">
        <p14:creationId xmlns:p14="http://schemas.microsoft.com/office/powerpoint/2010/main" val="33319377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DCD060-3FD2-4013-A6E0-1CA9904835CF}" type="slidenum">
              <a:rPr lang="en-AU" smtClean="0"/>
              <a:t>89</a:t>
            </a:fld>
            <a:endParaRPr lang="en-AU"/>
          </a:p>
        </p:txBody>
      </p:sp>
    </p:spTree>
    <p:extLst>
      <p:ext uri="{BB962C8B-B14F-4D97-AF65-F5344CB8AC3E}">
        <p14:creationId xmlns:p14="http://schemas.microsoft.com/office/powerpoint/2010/main" val="16597289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DCD060-3FD2-4013-A6E0-1CA9904835CF}" type="slidenum">
              <a:rPr lang="en-AU" smtClean="0"/>
              <a:t>90</a:t>
            </a:fld>
            <a:endParaRPr lang="en-AU"/>
          </a:p>
        </p:txBody>
      </p:sp>
    </p:spTree>
    <p:extLst>
      <p:ext uri="{BB962C8B-B14F-4D97-AF65-F5344CB8AC3E}">
        <p14:creationId xmlns:p14="http://schemas.microsoft.com/office/powerpoint/2010/main" val="1111693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2B2A0-90A6-40B8-83FD-02BD0FC3D0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B2E4BD6-A5E3-4A8A-9140-8BC5767C3A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7C095995-A7FF-403A-855F-07C111765D59}"/>
              </a:ext>
            </a:extLst>
          </p:cNvPr>
          <p:cNvSpPr>
            <a:spLocks noGrp="1"/>
          </p:cNvSpPr>
          <p:nvPr>
            <p:ph type="dt" sz="half" idx="10"/>
          </p:nvPr>
        </p:nvSpPr>
        <p:spPr/>
        <p:txBody>
          <a:bodyPr/>
          <a:lstStyle/>
          <a:p>
            <a:fld id="{7BC08CB8-74BE-4430-9CCE-E34B71BE6DA5}" type="datetimeFigureOut">
              <a:rPr lang="en-AU" smtClean="0"/>
              <a:t>19/04/2026</a:t>
            </a:fld>
            <a:endParaRPr lang="en-AU"/>
          </a:p>
        </p:txBody>
      </p:sp>
      <p:sp>
        <p:nvSpPr>
          <p:cNvPr id="5" name="Footer Placeholder 4">
            <a:extLst>
              <a:ext uri="{FF2B5EF4-FFF2-40B4-BE49-F238E27FC236}">
                <a16:creationId xmlns:a16="http://schemas.microsoft.com/office/drawing/2014/main" id="{D126F205-4562-4AFA-86E4-15B4C194567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D1B839F-3B02-4B4E-9669-D6E253A0F894}"/>
              </a:ext>
            </a:extLst>
          </p:cNvPr>
          <p:cNvSpPr>
            <a:spLocks noGrp="1"/>
          </p:cNvSpPr>
          <p:nvPr>
            <p:ph type="sldNum" sz="quarter" idx="12"/>
          </p:nvPr>
        </p:nvSpPr>
        <p:spPr/>
        <p:txBody>
          <a:bodyPr/>
          <a:lstStyle/>
          <a:p>
            <a:fld id="{0D13AB86-37F4-49F9-83EE-CBFA98C67A11}" type="slidenum">
              <a:rPr lang="en-AU" smtClean="0"/>
              <a:t>‹#›</a:t>
            </a:fld>
            <a:endParaRPr lang="en-AU"/>
          </a:p>
        </p:txBody>
      </p:sp>
    </p:spTree>
    <p:extLst>
      <p:ext uri="{BB962C8B-B14F-4D97-AF65-F5344CB8AC3E}">
        <p14:creationId xmlns:p14="http://schemas.microsoft.com/office/powerpoint/2010/main" val="3734124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0DA00-E02A-4B0E-B5FB-65A4567EE38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ABE3A9F5-6E55-4EED-AAC6-B7CB7A2A5D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E593F09-FD7E-442B-8814-B045166AAB17}"/>
              </a:ext>
            </a:extLst>
          </p:cNvPr>
          <p:cNvSpPr>
            <a:spLocks noGrp="1"/>
          </p:cNvSpPr>
          <p:nvPr>
            <p:ph type="dt" sz="half" idx="10"/>
          </p:nvPr>
        </p:nvSpPr>
        <p:spPr/>
        <p:txBody>
          <a:bodyPr/>
          <a:lstStyle/>
          <a:p>
            <a:fld id="{7BC08CB8-74BE-4430-9CCE-E34B71BE6DA5}" type="datetimeFigureOut">
              <a:rPr lang="en-AU" smtClean="0"/>
              <a:t>19/04/2026</a:t>
            </a:fld>
            <a:endParaRPr lang="en-AU"/>
          </a:p>
        </p:txBody>
      </p:sp>
      <p:sp>
        <p:nvSpPr>
          <p:cNvPr id="5" name="Footer Placeholder 4">
            <a:extLst>
              <a:ext uri="{FF2B5EF4-FFF2-40B4-BE49-F238E27FC236}">
                <a16:creationId xmlns:a16="http://schemas.microsoft.com/office/drawing/2014/main" id="{7312BF20-4F9A-4AF0-ACDD-AD6EE195F3B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54881B6-CED8-4874-A16C-1EB9E237DC52}"/>
              </a:ext>
            </a:extLst>
          </p:cNvPr>
          <p:cNvSpPr>
            <a:spLocks noGrp="1"/>
          </p:cNvSpPr>
          <p:nvPr>
            <p:ph type="sldNum" sz="quarter" idx="12"/>
          </p:nvPr>
        </p:nvSpPr>
        <p:spPr/>
        <p:txBody>
          <a:bodyPr/>
          <a:lstStyle/>
          <a:p>
            <a:fld id="{0D13AB86-37F4-49F9-83EE-CBFA98C67A11}" type="slidenum">
              <a:rPr lang="en-AU" smtClean="0"/>
              <a:t>‹#›</a:t>
            </a:fld>
            <a:endParaRPr lang="en-AU"/>
          </a:p>
        </p:txBody>
      </p:sp>
    </p:spTree>
    <p:extLst>
      <p:ext uri="{BB962C8B-B14F-4D97-AF65-F5344CB8AC3E}">
        <p14:creationId xmlns:p14="http://schemas.microsoft.com/office/powerpoint/2010/main" val="3331322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E4CDC-E23B-4019-B793-351580309E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9216B7D1-06D9-4109-9288-02F97D93C2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43E524-D397-49B9-8868-B7C9479E1F6C}"/>
              </a:ext>
            </a:extLst>
          </p:cNvPr>
          <p:cNvSpPr>
            <a:spLocks noGrp="1"/>
          </p:cNvSpPr>
          <p:nvPr>
            <p:ph type="dt" sz="half" idx="10"/>
          </p:nvPr>
        </p:nvSpPr>
        <p:spPr/>
        <p:txBody>
          <a:bodyPr/>
          <a:lstStyle/>
          <a:p>
            <a:fld id="{7BC08CB8-74BE-4430-9CCE-E34B71BE6DA5}" type="datetimeFigureOut">
              <a:rPr lang="en-AU" smtClean="0"/>
              <a:t>19/04/2026</a:t>
            </a:fld>
            <a:endParaRPr lang="en-AU"/>
          </a:p>
        </p:txBody>
      </p:sp>
      <p:sp>
        <p:nvSpPr>
          <p:cNvPr id="5" name="Footer Placeholder 4">
            <a:extLst>
              <a:ext uri="{FF2B5EF4-FFF2-40B4-BE49-F238E27FC236}">
                <a16:creationId xmlns:a16="http://schemas.microsoft.com/office/drawing/2014/main" id="{EBB1557C-0121-40D5-B076-DD3D671378E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BCCD829-EF03-42AE-9FBE-E4C20FF4AFE5}"/>
              </a:ext>
            </a:extLst>
          </p:cNvPr>
          <p:cNvSpPr>
            <a:spLocks noGrp="1"/>
          </p:cNvSpPr>
          <p:nvPr>
            <p:ph type="sldNum" sz="quarter" idx="12"/>
          </p:nvPr>
        </p:nvSpPr>
        <p:spPr/>
        <p:txBody>
          <a:bodyPr/>
          <a:lstStyle/>
          <a:p>
            <a:fld id="{0D13AB86-37F4-49F9-83EE-CBFA98C67A11}" type="slidenum">
              <a:rPr lang="en-AU" smtClean="0"/>
              <a:t>‹#›</a:t>
            </a:fld>
            <a:endParaRPr lang="en-AU"/>
          </a:p>
        </p:txBody>
      </p:sp>
    </p:spTree>
    <p:extLst>
      <p:ext uri="{BB962C8B-B14F-4D97-AF65-F5344CB8AC3E}">
        <p14:creationId xmlns:p14="http://schemas.microsoft.com/office/powerpoint/2010/main" val="4264523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6597F-F287-4636-8FB1-78D8BAF9F797}"/>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DE97A2E-E30F-4099-9F88-AD80C5E903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97BE3443-092C-4DEA-91E3-2BFD87120D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8FC5F64B-80C7-4B67-B991-58A30158AECC}"/>
              </a:ext>
            </a:extLst>
          </p:cNvPr>
          <p:cNvSpPr>
            <a:spLocks noGrp="1"/>
          </p:cNvSpPr>
          <p:nvPr>
            <p:ph type="dt" sz="half" idx="10"/>
          </p:nvPr>
        </p:nvSpPr>
        <p:spPr/>
        <p:txBody>
          <a:bodyPr/>
          <a:lstStyle/>
          <a:p>
            <a:fld id="{7BC08CB8-74BE-4430-9CCE-E34B71BE6DA5}" type="datetimeFigureOut">
              <a:rPr lang="en-AU" smtClean="0"/>
              <a:t>19/04/2026</a:t>
            </a:fld>
            <a:endParaRPr lang="en-AU"/>
          </a:p>
        </p:txBody>
      </p:sp>
      <p:sp>
        <p:nvSpPr>
          <p:cNvPr id="6" name="Footer Placeholder 5">
            <a:extLst>
              <a:ext uri="{FF2B5EF4-FFF2-40B4-BE49-F238E27FC236}">
                <a16:creationId xmlns:a16="http://schemas.microsoft.com/office/drawing/2014/main" id="{D40C9BCA-D472-40F5-A1FF-B9A99B06167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2A4CFF0-5FD3-4489-B0C7-88F735D93A42}"/>
              </a:ext>
            </a:extLst>
          </p:cNvPr>
          <p:cNvSpPr>
            <a:spLocks noGrp="1"/>
          </p:cNvSpPr>
          <p:nvPr>
            <p:ph type="sldNum" sz="quarter" idx="12"/>
          </p:nvPr>
        </p:nvSpPr>
        <p:spPr/>
        <p:txBody>
          <a:bodyPr/>
          <a:lstStyle/>
          <a:p>
            <a:fld id="{0D13AB86-37F4-49F9-83EE-CBFA98C67A11}" type="slidenum">
              <a:rPr lang="en-AU" smtClean="0"/>
              <a:t>‹#›</a:t>
            </a:fld>
            <a:endParaRPr lang="en-AU"/>
          </a:p>
        </p:txBody>
      </p:sp>
    </p:spTree>
    <p:extLst>
      <p:ext uri="{BB962C8B-B14F-4D97-AF65-F5344CB8AC3E}">
        <p14:creationId xmlns:p14="http://schemas.microsoft.com/office/powerpoint/2010/main" val="2722032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5A994-68B5-4410-8B88-3170D9577C11}"/>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BEF97305-60EB-4CE8-A658-1D20971E82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5EBCFE-0581-471E-B845-91C0214A40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E764BDD1-693D-4F29-B36B-F3C0894D67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43E5D7-B086-4684-A5B8-8183079B47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C33621E4-7D48-4319-9D2A-76EB2EA5BF0A}"/>
              </a:ext>
            </a:extLst>
          </p:cNvPr>
          <p:cNvSpPr>
            <a:spLocks noGrp="1"/>
          </p:cNvSpPr>
          <p:nvPr>
            <p:ph type="dt" sz="half" idx="10"/>
          </p:nvPr>
        </p:nvSpPr>
        <p:spPr/>
        <p:txBody>
          <a:bodyPr/>
          <a:lstStyle/>
          <a:p>
            <a:fld id="{7BC08CB8-74BE-4430-9CCE-E34B71BE6DA5}" type="datetimeFigureOut">
              <a:rPr lang="en-AU" smtClean="0"/>
              <a:t>19/04/2026</a:t>
            </a:fld>
            <a:endParaRPr lang="en-AU"/>
          </a:p>
        </p:txBody>
      </p:sp>
      <p:sp>
        <p:nvSpPr>
          <p:cNvPr id="8" name="Footer Placeholder 7">
            <a:extLst>
              <a:ext uri="{FF2B5EF4-FFF2-40B4-BE49-F238E27FC236}">
                <a16:creationId xmlns:a16="http://schemas.microsoft.com/office/drawing/2014/main" id="{BF038ABA-92F8-417A-851F-0B3B723358F4}"/>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7DFB59BA-67C4-405D-8866-65D53A0CF84B}"/>
              </a:ext>
            </a:extLst>
          </p:cNvPr>
          <p:cNvSpPr>
            <a:spLocks noGrp="1"/>
          </p:cNvSpPr>
          <p:nvPr>
            <p:ph type="sldNum" sz="quarter" idx="12"/>
          </p:nvPr>
        </p:nvSpPr>
        <p:spPr/>
        <p:txBody>
          <a:bodyPr/>
          <a:lstStyle/>
          <a:p>
            <a:fld id="{0D13AB86-37F4-49F9-83EE-CBFA98C67A11}" type="slidenum">
              <a:rPr lang="en-AU" smtClean="0"/>
              <a:t>‹#›</a:t>
            </a:fld>
            <a:endParaRPr lang="en-AU"/>
          </a:p>
        </p:txBody>
      </p:sp>
    </p:spTree>
    <p:extLst>
      <p:ext uri="{BB962C8B-B14F-4D97-AF65-F5344CB8AC3E}">
        <p14:creationId xmlns:p14="http://schemas.microsoft.com/office/powerpoint/2010/main" val="1885105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C6370-0E03-49D4-B0EB-862D3E5BD91C}"/>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3297DB17-EA3B-40A0-9CF7-975D5D252011}"/>
              </a:ext>
            </a:extLst>
          </p:cNvPr>
          <p:cNvSpPr>
            <a:spLocks noGrp="1"/>
          </p:cNvSpPr>
          <p:nvPr>
            <p:ph type="dt" sz="half" idx="10"/>
          </p:nvPr>
        </p:nvSpPr>
        <p:spPr/>
        <p:txBody>
          <a:bodyPr/>
          <a:lstStyle/>
          <a:p>
            <a:fld id="{7BC08CB8-74BE-4430-9CCE-E34B71BE6DA5}" type="datetimeFigureOut">
              <a:rPr lang="en-AU" smtClean="0"/>
              <a:t>19/04/2026</a:t>
            </a:fld>
            <a:endParaRPr lang="en-AU"/>
          </a:p>
        </p:txBody>
      </p:sp>
      <p:sp>
        <p:nvSpPr>
          <p:cNvPr id="4" name="Footer Placeholder 3">
            <a:extLst>
              <a:ext uri="{FF2B5EF4-FFF2-40B4-BE49-F238E27FC236}">
                <a16:creationId xmlns:a16="http://schemas.microsoft.com/office/drawing/2014/main" id="{D995C70C-807C-4534-AEBA-B73581DF1535}"/>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091AD2CC-1F0C-45E2-8C54-5D455AAD8FED}"/>
              </a:ext>
            </a:extLst>
          </p:cNvPr>
          <p:cNvSpPr>
            <a:spLocks noGrp="1"/>
          </p:cNvSpPr>
          <p:nvPr>
            <p:ph type="sldNum" sz="quarter" idx="12"/>
          </p:nvPr>
        </p:nvSpPr>
        <p:spPr/>
        <p:txBody>
          <a:bodyPr/>
          <a:lstStyle/>
          <a:p>
            <a:fld id="{0D13AB86-37F4-49F9-83EE-CBFA98C67A11}" type="slidenum">
              <a:rPr lang="en-AU" smtClean="0"/>
              <a:t>‹#›</a:t>
            </a:fld>
            <a:endParaRPr lang="en-AU"/>
          </a:p>
        </p:txBody>
      </p:sp>
    </p:spTree>
    <p:extLst>
      <p:ext uri="{BB962C8B-B14F-4D97-AF65-F5344CB8AC3E}">
        <p14:creationId xmlns:p14="http://schemas.microsoft.com/office/powerpoint/2010/main" val="766406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52FACF-F89C-46FD-B463-3D92C4981865}"/>
              </a:ext>
            </a:extLst>
          </p:cNvPr>
          <p:cNvSpPr>
            <a:spLocks noGrp="1"/>
          </p:cNvSpPr>
          <p:nvPr>
            <p:ph type="dt" sz="half" idx="10"/>
          </p:nvPr>
        </p:nvSpPr>
        <p:spPr/>
        <p:txBody>
          <a:bodyPr/>
          <a:lstStyle/>
          <a:p>
            <a:fld id="{7BC08CB8-74BE-4430-9CCE-E34B71BE6DA5}" type="datetimeFigureOut">
              <a:rPr lang="en-AU" smtClean="0"/>
              <a:t>19/04/2026</a:t>
            </a:fld>
            <a:endParaRPr lang="en-AU"/>
          </a:p>
        </p:txBody>
      </p:sp>
      <p:sp>
        <p:nvSpPr>
          <p:cNvPr id="3" name="Footer Placeholder 2">
            <a:extLst>
              <a:ext uri="{FF2B5EF4-FFF2-40B4-BE49-F238E27FC236}">
                <a16:creationId xmlns:a16="http://schemas.microsoft.com/office/drawing/2014/main" id="{792F0C9C-0CE6-4A1F-A65A-88D5202A9D66}"/>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37AB2C35-39CB-48C3-8CA9-C0FB49514DBA}"/>
              </a:ext>
            </a:extLst>
          </p:cNvPr>
          <p:cNvSpPr>
            <a:spLocks noGrp="1"/>
          </p:cNvSpPr>
          <p:nvPr>
            <p:ph type="sldNum" sz="quarter" idx="12"/>
          </p:nvPr>
        </p:nvSpPr>
        <p:spPr/>
        <p:txBody>
          <a:bodyPr/>
          <a:lstStyle/>
          <a:p>
            <a:fld id="{0D13AB86-37F4-49F9-83EE-CBFA98C67A11}" type="slidenum">
              <a:rPr lang="en-AU" smtClean="0"/>
              <a:t>‹#›</a:t>
            </a:fld>
            <a:endParaRPr lang="en-AU"/>
          </a:p>
        </p:txBody>
      </p:sp>
    </p:spTree>
    <p:extLst>
      <p:ext uri="{BB962C8B-B14F-4D97-AF65-F5344CB8AC3E}">
        <p14:creationId xmlns:p14="http://schemas.microsoft.com/office/powerpoint/2010/main" val="2529053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AE5B2-801A-4EAA-A5B5-D74C8C1709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07C5059C-5C0D-4700-AB8F-BB3F0E80B7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5C4451EC-358C-4840-B4E8-1CD1084BB1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FD2A9D-D8E9-4E1E-A8F7-C0EF3D9EB34A}"/>
              </a:ext>
            </a:extLst>
          </p:cNvPr>
          <p:cNvSpPr>
            <a:spLocks noGrp="1"/>
          </p:cNvSpPr>
          <p:nvPr>
            <p:ph type="dt" sz="half" idx="10"/>
          </p:nvPr>
        </p:nvSpPr>
        <p:spPr/>
        <p:txBody>
          <a:bodyPr/>
          <a:lstStyle/>
          <a:p>
            <a:fld id="{7BC08CB8-74BE-4430-9CCE-E34B71BE6DA5}" type="datetimeFigureOut">
              <a:rPr lang="en-AU" smtClean="0"/>
              <a:t>19/04/2026</a:t>
            </a:fld>
            <a:endParaRPr lang="en-AU"/>
          </a:p>
        </p:txBody>
      </p:sp>
      <p:sp>
        <p:nvSpPr>
          <p:cNvPr id="6" name="Footer Placeholder 5">
            <a:extLst>
              <a:ext uri="{FF2B5EF4-FFF2-40B4-BE49-F238E27FC236}">
                <a16:creationId xmlns:a16="http://schemas.microsoft.com/office/drawing/2014/main" id="{599FCB2B-4051-44A5-A283-860CA3A4F5C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4A955E5-9715-44C9-B404-59AA510499F7}"/>
              </a:ext>
            </a:extLst>
          </p:cNvPr>
          <p:cNvSpPr>
            <a:spLocks noGrp="1"/>
          </p:cNvSpPr>
          <p:nvPr>
            <p:ph type="sldNum" sz="quarter" idx="12"/>
          </p:nvPr>
        </p:nvSpPr>
        <p:spPr/>
        <p:txBody>
          <a:bodyPr/>
          <a:lstStyle/>
          <a:p>
            <a:fld id="{0D13AB86-37F4-49F9-83EE-CBFA98C67A11}" type="slidenum">
              <a:rPr lang="en-AU" smtClean="0"/>
              <a:t>‹#›</a:t>
            </a:fld>
            <a:endParaRPr lang="en-AU"/>
          </a:p>
        </p:txBody>
      </p:sp>
    </p:spTree>
    <p:extLst>
      <p:ext uri="{BB962C8B-B14F-4D97-AF65-F5344CB8AC3E}">
        <p14:creationId xmlns:p14="http://schemas.microsoft.com/office/powerpoint/2010/main" val="10824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DA4B0-CA5D-4F82-9511-CA608CB48A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2090F7F8-7BEB-4832-8B2E-94AC3EA9CD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A101519D-7A2B-40B0-A16B-8A3085A772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3C5EA9-236D-447E-BFD5-ECFAB3A51789}"/>
              </a:ext>
            </a:extLst>
          </p:cNvPr>
          <p:cNvSpPr>
            <a:spLocks noGrp="1"/>
          </p:cNvSpPr>
          <p:nvPr>
            <p:ph type="dt" sz="half" idx="10"/>
          </p:nvPr>
        </p:nvSpPr>
        <p:spPr/>
        <p:txBody>
          <a:bodyPr/>
          <a:lstStyle/>
          <a:p>
            <a:fld id="{7BC08CB8-74BE-4430-9CCE-E34B71BE6DA5}" type="datetimeFigureOut">
              <a:rPr lang="en-AU" smtClean="0"/>
              <a:t>19/04/2026</a:t>
            </a:fld>
            <a:endParaRPr lang="en-AU"/>
          </a:p>
        </p:txBody>
      </p:sp>
      <p:sp>
        <p:nvSpPr>
          <p:cNvPr id="6" name="Footer Placeholder 5">
            <a:extLst>
              <a:ext uri="{FF2B5EF4-FFF2-40B4-BE49-F238E27FC236}">
                <a16:creationId xmlns:a16="http://schemas.microsoft.com/office/drawing/2014/main" id="{65A8D0F5-9F33-4D9A-B71A-7E0130968CC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2ADC5A9-DA5E-4E7B-A5D0-74C5B0FC835B}"/>
              </a:ext>
            </a:extLst>
          </p:cNvPr>
          <p:cNvSpPr>
            <a:spLocks noGrp="1"/>
          </p:cNvSpPr>
          <p:nvPr>
            <p:ph type="sldNum" sz="quarter" idx="12"/>
          </p:nvPr>
        </p:nvSpPr>
        <p:spPr/>
        <p:txBody>
          <a:bodyPr/>
          <a:lstStyle/>
          <a:p>
            <a:fld id="{0D13AB86-37F4-49F9-83EE-CBFA98C67A11}" type="slidenum">
              <a:rPr lang="en-AU" smtClean="0"/>
              <a:t>‹#›</a:t>
            </a:fld>
            <a:endParaRPr lang="en-AU"/>
          </a:p>
        </p:txBody>
      </p:sp>
    </p:spTree>
    <p:extLst>
      <p:ext uri="{BB962C8B-B14F-4D97-AF65-F5344CB8AC3E}">
        <p14:creationId xmlns:p14="http://schemas.microsoft.com/office/powerpoint/2010/main" val="2559937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D5DF8-F4D7-4E89-9FAD-20AF19B6D37B}"/>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2E06CDF-E6A4-4611-AE4F-F6D8DF9A85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3A731F8-25F2-480B-AFE0-C45F53947AFA}"/>
              </a:ext>
            </a:extLst>
          </p:cNvPr>
          <p:cNvSpPr>
            <a:spLocks noGrp="1"/>
          </p:cNvSpPr>
          <p:nvPr>
            <p:ph type="dt" sz="half" idx="10"/>
          </p:nvPr>
        </p:nvSpPr>
        <p:spPr/>
        <p:txBody>
          <a:bodyPr/>
          <a:lstStyle/>
          <a:p>
            <a:fld id="{7BC08CB8-74BE-4430-9CCE-E34B71BE6DA5}" type="datetimeFigureOut">
              <a:rPr lang="en-AU" smtClean="0"/>
              <a:t>19/04/2026</a:t>
            </a:fld>
            <a:endParaRPr lang="en-AU"/>
          </a:p>
        </p:txBody>
      </p:sp>
      <p:sp>
        <p:nvSpPr>
          <p:cNvPr id="5" name="Footer Placeholder 4">
            <a:extLst>
              <a:ext uri="{FF2B5EF4-FFF2-40B4-BE49-F238E27FC236}">
                <a16:creationId xmlns:a16="http://schemas.microsoft.com/office/drawing/2014/main" id="{27C0B356-9BD1-4C24-9765-0408DD2B680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D075435-0062-408E-AF42-FA9B8EBE56B2}"/>
              </a:ext>
            </a:extLst>
          </p:cNvPr>
          <p:cNvSpPr>
            <a:spLocks noGrp="1"/>
          </p:cNvSpPr>
          <p:nvPr>
            <p:ph type="sldNum" sz="quarter" idx="12"/>
          </p:nvPr>
        </p:nvSpPr>
        <p:spPr/>
        <p:txBody>
          <a:bodyPr/>
          <a:lstStyle/>
          <a:p>
            <a:fld id="{0D13AB86-37F4-49F9-83EE-CBFA98C67A11}" type="slidenum">
              <a:rPr lang="en-AU" smtClean="0"/>
              <a:t>‹#›</a:t>
            </a:fld>
            <a:endParaRPr lang="en-AU"/>
          </a:p>
        </p:txBody>
      </p:sp>
    </p:spTree>
    <p:extLst>
      <p:ext uri="{BB962C8B-B14F-4D97-AF65-F5344CB8AC3E}">
        <p14:creationId xmlns:p14="http://schemas.microsoft.com/office/powerpoint/2010/main" val="3441479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833EF0-91BD-46B5-B854-824855FF7DB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9DE1E75D-9E46-43DF-B7E8-F196C23BD0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F2CB745-5755-4B40-A209-EA6ED715E2AB}"/>
              </a:ext>
            </a:extLst>
          </p:cNvPr>
          <p:cNvSpPr>
            <a:spLocks noGrp="1"/>
          </p:cNvSpPr>
          <p:nvPr>
            <p:ph type="dt" sz="half" idx="10"/>
          </p:nvPr>
        </p:nvSpPr>
        <p:spPr/>
        <p:txBody>
          <a:bodyPr/>
          <a:lstStyle/>
          <a:p>
            <a:fld id="{7BC08CB8-74BE-4430-9CCE-E34B71BE6DA5}" type="datetimeFigureOut">
              <a:rPr lang="en-AU" smtClean="0"/>
              <a:t>19/04/2026</a:t>
            </a:fld>
            <a:endParaRPr lang="en-AU"/>
          </a:p>
        </p:txBody>
      </p:sp>
      <p:sp>
        <p:nvSpPr>
          <p:cNvPr id="5" name="Footer Placeholder 4">
            <a:extLst>
              <a:ext uri="{FF2B5EF4-FFF2-40B4-BE49-F238E27FC236}">
                <a16:creationId xmlns:a16="http://schemas.microsoft.com/office/drawing/2014/main" id="{814FDE08-6B68-451F-935B-EBAAE7E43BF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157755F-498B-4313-A052-5D72603FEB06}"/>
              </a:ext>
            </a:extLst>
          </p:cNvPr>
          <p:cNvSpPr>
            <a:spLocks noGrp="1"/>
          </p:cNvSpPr>
          <p:nvPr>
            <p:ph type="sldNum" sz="quarter" idx="12"/>
          </p:nvPr>
        </p:nvSpPr>
        <p:spPr/>
        <p:txBody>
          <a:bodyPr/>
          <a:lstStyle/>
          <a:p>
            <a:fld id="{0D13AB86-37F4-49F9-83EE-CBFA98C67A11}" type="slidenum">
              <a:rPr lang="en-AU" smtClean="0"/>
              <a:t>‹#›</a:t>
            </a:fld>
            <a:endParaRPr lang="en-AU"/>
          </a:p>
        </p:txBody>
      </p:sp>
    </p:spTree>
    <p:extLst>
      <p:ext uri="{BB962C8B-B14F-4D97-AF65-F5344CB8AC3E}">
        <p14:creationId xmlns:p14="http://schemas.microsoft.com/office/powerpoint/2010/main" val="21630071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3DFD8-7C09-4ED2-B4AC-72A2273A27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5C8B11D5-1B04-4D8F-88E1-00D5617677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Tree>
    <p:extLst>
      <p:ext uri="{BB962C8B-B14F-4D97-AF65-F5344CB8AC3E}">
        <p14:creationId xmlns:p14="http://schemas.microsoft.com/office/powerpoint/2010/main" val="15936399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0FF2D-F8C8-4E7D-8C14-BBAD2570D97F}"/>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DBBB555-4A3A-46FA-9050-E90DB2CA95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8003723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C66F2-1552-432B-A7A7-73458430E371}"/>
              </a:ext>
            </a:extLst>
          </p:cNvPr>
          <p:cNvSpPr>
            <a:spLocks noGrp="1"/>
          </p:cNvSpPr>
          <p:nvPr>
            <p:ph type="title"/>
          </p:nvPr>
        </p:nvSpPr>
        <p:spPr>
          <a:xfrm>
            <a:off x="838200" y="768350"/>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1CCF3C02-71E1-489D-9134-200CBF6C6621}"/>
              </a:ext>
            </a:extLst>
          </p:cNvPr>
          <p:cNvSpPr>
            <a:spLocks noGrp="1"/>
          </p:cNvSpPr>
          <p:nvPr>
            <p:ph type="body" idx="1"/>
          </p:nvPr>
        </p:nvSpPr>
        <p:spPr>
          <a:xfrm>
            <a:off x="838200" y="39036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5974797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6517A-9178-454F-9E6E-C3A8130710A8}"/>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267E0E1-CED9-490A-AC01-264438C36D3E}"/>
              </a:ext>
            </a:extLst>
          </p:cNvPr>
          <p:cNvSpPr>
            <a:spLocks noGrp="1"/>
          </p:cNvSpPr>
          <p:nvPr>
            <p:ph sz="half" idx="1"/>
          </p:nvPr>
        </p:nvSpPr>
        <p:spPr>
          <a:xfrm>
            <a:off x="838200" y="1825625"/>
            <a:ext cx="5181600" cy="3838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FD3DB3D1-D890-48BE-B794-2C5070A96D3E}"/>
              </a:ext>
            </a:extLst>
          </p:cNvPr>
          <p:cNvSpPr>
            <a:spLocks noGrp="1"/>
          </p:cNvSpPr>
          <p:nvPr>
            <p:ph sz="half" idx="2"/>
          </p:nvPr>
        </p:nvSpPr>
        <p:spPr>
          <a:xfrm>
            <a:off x="6172200" y="1825625"/>
            <a:ext cx="5181600" cy="3838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4929933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4DA2C-20B0-4D4E-A3F8-B5BEFE345A47}"/>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FA445041-42AD-4F15-82CB-8EB02C306A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51E7F8-BAD6-42B8-94BF-C8B5083C9E05}"/>
              </a:ext>
            </a:extLst>
          </p:cNvPr>
          <p:cNvSpPr>
            <a:spLocks noGrp="1"/>
          </p:cNvSpPr>
          <p:nvPr>
            <p:ph sz="half" idx="2"/>
          </p:nvPr>
        </p:nvSpPr>
        <p:spPr>
          <a:xfrm>
            <a:off x="839788" y="2505075"/>
            <a:ext cx="5157787" cy="3209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7EEED1DC-EA4C-47B8-B6E4-36F1FCD03D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5CAF97-E604-4B33-9C63-185FC482A425}"/>
              </a:ext>
            </a:extLst>
          </p:cNvPr>
          <p:cNvSpPr>
            <a:spLocks noGrp="1"/>
          </p:cNvSpPr>
          <p:nvPr>
            <p:ph sz="quarter" idx="4"/>
          </p:nvPr>
        </p:nvSpPr>
        <p:spPr>
          <a:xfrm>
            <a:off x="6172200" y="2505075"/>
            <a:ext cx="5183188" cy="3209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4715090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168CB-56DB-489A-9CDA-392767D2D569}"/>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25559496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61209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E4D9E-08E3-4F44-A127-9C9FB61D73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38A2DE78-3467-4154-9B4F-F32F60871C60}"/>
              </a:ext>
            </a:extLst>
          </p:cNvPr>
          <p:cNvSpPr>
            <a:spLocks noGrp="1"/>
          </p:cNvSpPr>
          <p:nvPr>
            <p:ph idx="1"/>
          </p:nvPr>
        </p:nvSpPr>
        <p:spPr>
          <a:xfrm>
            <a:off x="5183188" y="987425"/>
            <a:ext cx="6172200" cy="46767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40CE7E3-11AD-46D8-BB43-25D5608CCA10}"/>
              </a:ext>
            </a:extLst>
          </p:cNvPr>
          <p:cNvSpPr>
            <a:spLocks noGrp="1"/>
          </p:cNvSpPr>
          <p:nvPr>
            <p:ph type="body" sz="half" idx="2"/>
          </p:nvPr>
        </p:nvSpPr>
        <p:spPr>
          <a:xfrm>
            <a:off x="839788" y="2057400"/>
            <a:ext cx="3932237" cy="360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9328501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E99EB-3880-4C00-A386-2C61B582CD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4EE39A1B-BC6A-4276-B6F5-2F104268DAA1}"/>
              </a:ext>
            </a:extLst>
          </p:cNvPr>
          <p:cNvSpPr>
            <a:spLocks noGrp="1"/>
          </p:cNvSpPr>
          <p:nvPr>
            <p:ph type="pic" idx="1"/>
          </p:nvPr>
        </p:nvSpPr>
        <p:spPr>
          <a:xfrm>
            <a:off x="5180012" y="6318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AU"/>
          </a:p>
        </p:txBody>
      </p:sp>
      <p:sp>
        <p:nvSpPr>
          <p:cNvPr id="4" name="Text Placeholder 3">
            <a:extLst>
              <a:ext uri="{FF2B5EF4-FFF2-40B4-BE49-F238E27FC236}">
                <a16:creationId xmlns:a16="http://schemas.microsoft.com/office/drawing/2014/main" id="{1C734775-AA98-442D-941F-DB7B13D70D65}"/>
              </a:ext>
            </a:extLst>
          </p:cNvPr>
          <p:cNvSpPr>
            <a:spLocks noGrp="1"/>
          </p:cNvSpPr>
          <p:nvPr>
            <p:ph type="body" sz="half" idx="2"/>
          </p:nvPr>
        </p:nvSpPr>
        <p:spPr>
          <a:xfrm>
            <a:off x="839788" y="2057400"/>
            <a:ext cx="3932237" cy="344805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9805689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75C0C-6FEB-4AD6-818F-C3F70649CA77}"/>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3C667819-C4EA-4AA3-91ED-E98D0410A0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42590703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458041-2789-4CE3-896A-19ADB9ACA146}"/>
              </a:ext>
            </a:extLst>
          </p:cNvPr>
          <p:cNvSpPr>
            <a:spLocks noGrp="1"/>
          </p:cNvSpPr>
          <p:nvPr>
            <p:ph type="title" orient="vert"/>
          </p:nvPr>
        </p:nvSpPr>
        <p:spPr>
          <a:xfrm>
            <a:off x="8724900" y="365125"/>
            <a:ext cx="2628900" cy="5286375"/>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4E4EA8B-375B-4C76-80F3-4086B2CA053F}"/>
              </a:ext>
            </a:extLst>
          </p:cNvPr>
          <p:cNvSpPr>
            <a:spLocks noGrp="1"/>
          </p:cNvSpPr>
          <p:nvPr>
            <p:ph type="body" orient="vert" idx="1"/>
          </p:nvPr>
        </p:nvSpPr>
        <p:spPr>
          <a:xfrm>
            <a:off x="838200" y="365125"/>
            <a:ext cx="7734300" cy="52863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7918125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3DFD8-7C09-4ED2-B4AC-72A2273A27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5C8B11D5-1B04-4D8F-88E1-00D5617677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7FF7D9B3-A0A9-41CD-815B-D7E60F9D2BD2}"/>
              </a:ext>
            </a:extLst>
          </p:cNvPr>
          <p:cNvSpPr>
            <a:spLocks noGrp="1"/>
          </p:cNvSpPr>
          <p:nvPr>
            <p:ph type="dt" sz="half" idx="10"/>
          </p:nvPr>
        </p:nvSpPr>
        <p:spPr/>
        <p:txBody>
          <a:bodyPr/>
          <a:lstStyle/>
          <a:p>
            <a:fld id="{D0E0257E-85B8-43A6-899A-6F1F8387CF6A}" type="datetime1">
              <a:rPr lang="en-AU" smtClean="0"/>
              <a:t>19/04/2026</a:t>
            </a:fld>
            <a:endParaRPr lang="en-AU"/>
          </a:p>
        </p:txBody>
      </p:sp>
      <p:sp>
        <p:nvSpPr>
          <p:cNvPr id="5" name="Footer Placeholder 4">
            <a:extLst>
              <a:ext uri="{FF2B5EF4-FFF2-40B4-BE49-F238E27FC236}">
                <a16:creationId xmlns:a16="http://schemas.microsoft.com/office/drawing/2014/main" id="{85918AFC-29C3-4639-B727-7DCA13FF8AB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93F48A5-E150-43BC-AEBB-19F31866DE0E}"/>
              </a:ext>
            </a:extLst>
          </p:cNvPr>
          <p:cNvSpPr>
            <a:spLocks noGrp="1"/>
          </p:cNvSpPr>
          <p:nvPr>
            <p:ph type="sldNum" sz="quarter" idx="12"/>
          </p:nvPr>
        </p:nvSpPr>
        <p:spPr/>
        <p:txBody>
          <a:bodyPr/>
          <a:lstStyle/>
          <a:p>
            <a:fld id="{F5E7372A-B3C7-427B-BB89-F15DC7ABDE49}" type="slidenum">
              <a:rPr lang="en-AU" smtClean="0"/>
              <a:t>‹#›</a:t>
            </a:fld>
            <a:endParaRPr lang="en-AU"/>
          </a:p>
        </p:txBody>
      </p:sp>
    </p:spTree>
    <p:extLst>
      <p:ext uri="{BB962C8B-B14F-4D97-AF65-F5344CB8AC3E}">
        <p14:creationId xmlns:p14="http://schemas.microsoft.com/office/powerpoint/2010/main" val="29477844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0FF2D-F8C8-4E7D-8C14-BBAD2570D97F}"/>
              </a:ext>
            </a:extLst>
          </p:cNvPr>
          <p:cNvSpPr>
            <a:spLocks noGrp="1"/>
          </p:cNvSpPr>
          <p:nvPr>
            <p:ph type="title"/>
          </p:nvPr>
        </p:nvSpPr>
        <p:spPr>
          <a:xfrm>
            <a:off x="838200" y="365126"/>
            <a:ext cx="10515600" cy="932452"/>
          </a:xfrm>
        </p:spPr>
        <p:txBody>
          <a:bodyPr/>
          <a:lstStyle>
            <a:lvl1pPr>
              <a:defRPr>
                <a:solidFill>
                  <a:schemeClr val="accent2">
                    <a:lumMod val="50000"/>
                  </a:schemeClr>
                </a:solidFill>
              </a:defRPr>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7DBBB555-4A3A-46FA-9050-E90DB2CA9502}"/>
              </a:ext>
            </a:extLst>
          </p:cNvPr>
          <p:cNvSpPr>
            <a:spLocks noGrp="1"/>
          </p:cNvSpPr>
          <p:nvPr>
            <p:ph idx="1"/>
          </p:nvPr>
        </p:nvSpPr>
        <p:spPr>
          <a:xfrm>
            <a:off x="838200" y="1445623"/>
            <a:ext cx="10515600" cy="41889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Footer Placeholder 4">
            <a:extLst>
              <a:ext uri="{FF2B5EF4-FFF2-40B4-BE49-F238E27FC236}">
                <a16:creationId xmlns:a16="http://schemas.microsoft.com/office/drawing/2014/main" id="{08274BC9-5322-4056-A08A-9B80AD53EE3D}"/>
              </a:ext>
            </a:extLst>
          </p:cNvPr>
          <p:cNvSpPr>
            <a:spLocks noGrp="1"/>
          </p:cNvSpPr>
          <p:nvPr>
            <p:ph type="ftr" sz="quarter" idx="11"/>
          </p:nvPr>
        </p:nvSpPr>
        <p:spPr>
          <a:xfrm>
            <a:off x="1981200" y="6356349"/>
            <a:ext cx="4114800" cy="365125"/>
          </a:xfrm>
        </p:spPr>
        <p:txBody>
          <a:bodyPr/>
          <a:lstStyle/>
          <a:p>
            <a:endParaRPr lang="en-AU"/>
          </a:p>
        </p:txBody>
      </p:sp>
      <p:sp>
        <p:nvSpPr>
          <p:cNvPr id="6" name="Slide Number Placeholder 5">
            <a:extLst>
              <a:ext uri="{FF2B5EF4-FFF2-40B4-BE49-F238E27FC236}">
                <a16:creationId xmlns:a16="http://schemas.microsoft.com/office/drawing/2014/main" id="{57A511E1-2563-4C25-98D0-EECFB3D27C65}"/>
              </a:ext>
            </a:extLst>
          </p:cNvPr>
          <p:cNvSpPr>
            <a:spLocks noGrp="1"/>
          </p:cNvSpPr>
          <p:nvPr>
            <p:ph type="sldNum" sz="quarter" idx="12"/>
          </p:nvPr>
        </p:nvSpPr>
        <p:spPr>
          <a:xfrm>
            <a:off x="6328954" y="6356349"/>
            <a:ext cx="2743200" cy="365125"/>
          </a:xfrm>
        </p:spPr>
        <p:txBody>
          <a:bodyPr/>
          <a:lstStyle>
            <a:lvl1pPr>
              <a:defRPr>
                <a:solidFill>
                  <a:schemeClr val="accent2">
                    <a:lumMod val="20000"/>
                    <a:lumOff val="80000"/>
                  </a:schemeClr>
                </a:solidFill>
              </a:defRPr>
            </a:lvl1pPr>
          </a:lstStyle>
          <a:p>
            <a:fld id="{F5E7372A-B3C7-427B-BB89-F15DC7ABDE49}" type="slidenum">
              <a:rPr lang="en-AU" smtClean="0"/>
              <a:pPr/>
              <a:t>‹#›</a:t>
            </a:fld>
            <a:endParaRPr lang="en-AU"/>
          </a:p>
        </p:txBody>
      </p:sp>
    </p:spTree>
    <p:extLst>
      <p:ext uri="{BB962C8B-B14F-4D97-AF65-F5344CB8AC3E}">
        <p14:creationId xmlns:p14="http://schemas.microsoft.com/office/powerpoint/2010/main" val="12812319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C66F2-1552-432B-A7A7-73458430E371}"/>
              </a:ext>
            </a:extLst>
          </p:cNvPr>
          <p:cNvSpPr>
            <a:spLocks noGrp="1"/>
          </p:cNvSpPr>
          <p:nvPr>
            <p:ph type="title"/>
          </p:nvPr>
        </p:nvSpPr>
        <p:spPr>
          <a:xfrm>
            <a:off x="838200" y="768350"/>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1CCF3C02-71E1-489D-9134-200CBF6C6621}"/>
              </a:ext>
            </a:extLst>
          </p:cNvPr>
          <p:cNvSpPr>
            <a:spLocks noGrp="1"/>
          </p:cNvSpPr>
          <p:nvPr>
            <p:ph type="body" idx="1"/>
          </p:nvPr>
        </p:nvSpPr>
        <p:spPr>
          <a:xfrm>
            <a:off x="838200" y="39036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203175-C484-4E48-80D0-9DD75503DB30}"/>
              </a:ext>
            </a:extLst>
          </p:cNvPr>
          <p:cNvSpPr>
            <a:spLocks noGrp="1"/>
          </p:cNvSpPr>
          <p:nvPr>
            <p:ph type="dt" sz="half" idx="10"/>
          </p:nvPr>
        </p:nvSpPr>
        <p:spPr/>
        <p:txBody>
          <a:bodyPr/>
          <a:lstStyle/>
          <a:p>
            <a:fld id="{A3DD1D0A-7E7F-4168-862F-6FF07D3619F0}" type="datetime1">
              <a:rPr lang="en-AU" smtClean="0"/>
              <a:t>19/04/2026</a:t>
            </a:fld>
            <a:endParaRPr lang="en-AU"/>
          </a:p>
        </p:txBody>
      </p:sp>
      <p:sp>
        <p:nvSpPr>
          <p:cNvPr id="5" name="Footer Placeholder 4">
            <a:extLst>
              <a:ext uri="{FF2B5EF4-FFF2-40B4-BE49-F238E27FC236}">
                <a16:creationId xmlns:a16="http://schemas.microsoft.com/office/drawing/2014/main" id="{7FAED655-E488-4025-AE74-A6554076023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3BD3F50-F39B-48E6-8CB3-D988A76DCD71}"/>
              </a:ext>
            </a:extLst>
          </p:cNvPr>
          <p:cNvSpPr>
            <a:spLocks noGrp="1"/>
          </p:cNvSpPr>
          <p:nvPr>
            <p:ph type="sldNum" sz="quarter" idx="12"/>
          </p:nvPr>
        </p:nvSpPr>
        <p:spPr/>
        <p:txBody>
          <a:bodyPr/>
          <a:lstStyle/>
          <a:p>
            <a:fld id="{F5E7372A-B3C7-427B-BB89-F15DC7ABDE49}" type="slidenum">
              <a:rPr lang="en-AU" smtClean="0"/>
              <a:t>‹#›</a:t>
            </a:fld>
            <a:endParaRPr lang="en-AU"/>
          </a:p>
        </p:txBody>
      </p:sp>
    </p:spTree>
    <p:extLst>
      <p:ext uri="{BB962C8B-B14F-4D97-AF65-F5344CB8AC3E}">
        <p14:creationId xmlns:p14="http://schemas.microsoft.com/office/powerpoint/2010/main" val="302774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6517A-9178-454F-9E6E-C3A8130710A8}"/>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267E0E1-CED9-490A-AC01-264438C36D3E}"/>
              </a:ext>
            </a:extLst>
          </p:cNvPr>
          <p:cNvSpPr>
            <a:spLocks noGrp="1"/>
          </p:cNvSpPr>
          <p:nvPr>
            <p:ph sz="half" idx="1"/>
          </p:nvPr>
        </p:nvSpPr>
        <p:spPr>
          <a:xfrm>
            <a:off x="838200" y="1825625"/>
            <a:ext cx="5181600" cy="3838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FD3DB3D1-D890-48BE-B794-2C5070A96D3E}"/>
              </a:ext>
            </a:extLst>
          </p:cNvPr>
          <p:cNvSpPr>
            <a:spLocks noGrp="1"/>
          </p:cNvSpPr>
          <p:nvPr>
            <p:ph sz="half" idx="2"/>
          </p:nvPr>
        </p:nvSpPr>
        <p:spPr>
          <a:xfrm>
            <a:off x="6172200" y="1825625"/>
            <a:ext cx="5181600" cy="3838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E50E5E52-CE58-45DE-9743-BCA1E5F7FDBF}"/>
              </a:ext>
            </a:extLst>
          </p:cNvPr>
          <p:cNvSpPr>
            <a:spLocks noGrp="1"/>
          </p:cNvSpPr>
          <p:nvPr>
            <p:ph type="dt" sz="half" idx="10"/>
          </p:nvPr>
        </p:nvSpPr>
        <p:spPr/>
        <p:txBody>
          <a:bodyPr/>
          <a:lstStyle/>
          <a:p>
            <a:fld id="{A3FA6E66-B09D-42B4-A928-F4B91E01DB4D}" type="datetime1">
              <a:rPr lang="en-AU" smtClean="0"/>
              <a:t>19/04/2026</a:t>
            </a:fld>
            <a:endParaRPr lang="en-AU"/>
          </a:p>
        </p:txBody>
      </p:sp>
      <p:sp>
        <p:nvSpPr>
          <p:cNvPr id="6" name="Footer Placeholder 5">
            <a:extLst>
              <a:ext uri="{FF2B5EF4-FFF2-40B4-BE49-F238E27FC236}">
                <a16:creationId xmlns:a16="http://schemas.microsoft.com/office/drawing/2014/main" id="{FBD940D5-C705-4114-9046-407A16708AF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0185785-C0A6-4CD7-8CA6-C940F14538F7}"/>
              </a:ext>
            </a:extLst>
          </p:cNvPr>
          <p:cNvSpPr>
            <a:spLocks noGrp="1"/>
          </p:cNvSpPr>
          <p:nvPr>
            <p:ph type="sldNum" sz="quarter" idx="12"/>
          </p:nvPr>
        </p:nvSpPr>
        <p:spPr/>
        <p:txBody>
          <a:bodyPr/>
          <a:lstStyle/>
          <a:p>
            <a:fld id="{F5E7372A-B3C7-427B-BB89-F15DC7ABDE49}" type="slidenum">
              <a:rPr lang="en-AU" smtClean="0"/>
              <a:t>‹#›</a:t>
            </a:fld>
            <a:endParaRPr lang="en-AU"/>
          </a:p>
        </p:txBody>
      </p:sp>
    </p:spTree>
    <p:extLst>
      <p:ext uri="{BB962C8B-B14F-4D97-AF65-F5344CB8AC3E}">
        <p14:creationId xmlns:p14="http://schemas.microsoft.com/office/powerpoint/2010/main" val="4000855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4DA2C-20B0-4D4E-A3F8-B5BEFE345A47}"/>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FA445041-42AD-4F15-82CB-8EB02C306A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51E7F8-BAD6-42B8-94BF-C8B5083C9E05}"/>
              </a:ext>
            </a:extLst>
          </p:cNvPr>
          <p:cNvSpPr>
            <a:spLocks noGrp="1"/>
          </p:cNvSpPr>
          <p:nvPr>
            <p:ph sz="half" idx="2"/>
          </p:nvPr>
        </p:nvSpPr>
        <p:spPr>
          <a:xfrm>
            <a:off x="839788" y="2505075"/>
            <a:ext cx="5157787" cy="3209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7EEED1DC-EA4C-47B8-B6E4-36F1FCD03D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5CAF97-E604-4B33-9C63-185FC482A425}"/>
              </a:ext>
            </a:extLst>
          </p:cNvPr>
          <p:cNvSpPr>
            <a:spLocks noGrp="1"/>
          </p:cNvSpPr>
          <p:nvPr>
            <p:ph sz="quarter" idx="4"/>
          </p:nvPr>
        </p:nvSpPr>
        <p:spPr>
          <a:xfrm>
            <a:off x="6172200" y="2505075"/>
            <a:ext cx="5183188" cy="3209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8ABD2B35-435F-4AC8-B09B-FC88697D19AF}"/>
              </a:ext>
            </a:extLst>
          </p:cNvPr>
          <p:cNvSpPr>
            <a:spLocks noGrp="1"/>
          </p:cNvSpPr>
          <p:nvPr>
            <p:ph type="dt" sz="half" idx="10"/>
          </p:nvPr>
        </p:nvSpPr>
        <p:spPr/>
        <p:txBody>
          <a:bodyPr/>
          <a:lstStyle/>
          <a:p>
            <a:fld id="{047EEC1A-339A-4160-AF1E-2A11EBA4E82E}" type="datetime1">
              <a:rPr lang="en-AU" smtClean="0"/>
              <a:t>19/04/2026</a:t>
            </a:fld>
            <a:endParaRPr lang="en-AU"/>
          </a:p>
        </p:txBody>
      </p:sp>
      <p:sp>
        <p:nvSpPr>
          <p:cNvPr id="8" name="Footer Placeholder 7">
            <a:extLst>
              <a:ext uri="{FF2B5EF4-FFF2-40B4-BE49-F238E27FC236}">
                <a16:creationId xmlns:a16="http://schemas.microsoft.com/office/drawing/2014/main" id="{DD62D970-4421-4C3C-B121-07C9234C9F1B}"/>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8F33878F-F13C-4DDC-A0C0-A329096C355F}"/>
              </a:ext>
            </a:extLst>
          </p:cNvPr>
          <p:cNvSpPr>
            <a:spLocks noGrp="1"/>
          </p:cNvSpPr>
          <p:nvPr>
            <p:ph type="sldNum" sz="quarter" idx="12"/>
          </p:nvPr>
        </p:nvSpPr>
        <p:spPr/>
        <p:txBody>
          <a:bodyPr/>
          <a:lstStyle/>
          <a:p>
            <a:fld id="{F5E7372A-B3C7-427B-BB89-F15DC7ABDE49}" type="slidenum">
              <a:rPr lang="en-AU" smtClean="0"/>
              <a:t>‹#›</a:t>
            </a:fld>
            <a:endParaRPr lang="en-AU"/>
          </a:p>
        </p:txBody>
      </p:sp>
    </p:spTree>
    <p:extLst>
      <p:ext uri="{BB962C8B-B14F-4D97-AF65-F5344CB8AC3E}">
        <p14:creationId xmlns:p14="http://schemas.microsoft.com/office/powerpoint/2010/main" val="10246005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168CB-56DB-489A-9CDA-392767D2D56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92FB220A-C5B2-4398-9084-DD46403029CF}"/>
              </a:ext>
            </a:extLst>
          </p:cNvPr>
          <p:cNvSpPr>
            <a:spLocks noGrp="1"/>
          </p:cNvSpPr>
          <p:nvPr>
            <p:ph type="dt" sz="half" idx="10"/>
          </p:nvPr>
        </p:nvSpPr>
        <p:spPr/>
        <p:txBody>
          <a:bodyPr/>
          <a:lstStyle/>
          <a:p>
            <a:fld id="{35143EC3-BD12-4369-8645-4598AE693607}" type="datetime1">
              <a:rPr lang="en-AU" smtClean="0"/>
              <a:t>19/04/2026</a:t>
            </a:fld>
            <a:endParaRPr lang="en-AU"/>
          </a:p>
        </p:txBody>
      </p:sp>
      <p:sp>
        <p:nvSpPr>
          <p:cNvPr id="4" name="Footer Placeholder 3">
            <a:extLst>
              <a:ext uri="{FF2B5EF4-FFF2-40B4-BE49-F238E27FC236}">
                <a16:creationId xmlns:a16="http://schemas.microsoft.com/office/drawing/2014/main" id="{BE05BB15-F254-435C-B8E9-8E5CE32A1ED7}"/>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5CEE4FB2-329F-4072-88D3-1E8819C685EA}"/>
              </a:ext>
            </a:extLst>
          </p:cNvPr>
          <p:cNvSpPr>
            <a:spLocks noGrp="1"/>
          </p:cNvSpPr>
          <p:nvPr>
            <p:ph type="sldNum" sz="quarter" idx="12"/>
          </p:nvPr>
        </p:nvSpPr>
        <p:spPr/>
        <p:txBody>
          <a:bodyPr/>
          <a:lstStyle/>
          <a:p>
            <a:fld id="{F5E7372A-B3C7-427B-BB89-F15DC7ABDE49}" type="slidenum">
              <a:rPr lang="en-AU" smtClean="0"/>
              <a:t>‹#›</a:t>
            </a:fld>
            <a:endParaRPr lang="en-AU"/>
          </a:p>
        </p:txBody>
      </p:sp>
    </p:spTree>
    <p:extLst>
      <p:ext uri="{BB962C8B-B14F-4D97-AF65-F5344CB8AC3E}">
        <p14:creationId xmlns:p14="http://schemas.microsoft.com/office/powerpoint/2010/main" val="42355929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56DFE9-5A22-44A0-8704-B543CD6748F3}"/>
              </a:ext>
            </a:extLst>
          </p:cNvPr>
          <p:cNvSpPr>
            <a:spLocks noGrp="1"/>
          </p:cNvSpPr>
          <p:nvPr>
            <p:ph type="dt" sz="half" idx="10"/>
          </p:nvPr>
        </p:nvSpPr>
        <p:spPr/>
        <p:txBody>
          <a:bodyPr/>
          <a:lstStyle/>
          <a:p>
            <a:fld id="{9BE7AD85-3989-4EE6-91E2-1DE937828308}" type="datetime1">
              <a:rPr lang="en-AU" smtClean="0"/>
              <a:t>19/04/2026</a:t>
            </a:fld>
            <a:endParaRPr lang="en-AU"/>
          </a:p>
        </p:txBody>
      </p:sp>
      <p:sp>
        <p:nvSpPr>
          <p:cNvPr id="3" name="Footer Placeholder 2">
            <a:extLst>
              <a:ext uri="{FF2B5EF4-FFF2-40B4-BE49-F238E27FC236}">
                <a16:creationId xmlns:a16="http://schemas.microsoft.com/office/drawing/2014/main" id="{040E6B2F-3B83-4E9B-A8CF-D3E99D3007CA}"/>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B3A79D62-3A38-4B86-B1C2-86813AA135EB}"/>
              </a:ext>
            </a:extLst>
          </p:cNvPr>
          <p:cNvSpPr>
            <a:spLocks noGrp="1"/>
          </p:cNvSpPr>
          <p:nvPr>
            <p:ph type="sldNum" sz="quarter" idx="12"/>
          </p:nvPr>
        </p:nvSpPr>
        <p:spPr/>
        <p:txBody>
          <a:bodyPr/>
          <a:lstStyle/>
          <a:p>
            <a:fld id="{F5E7372A-B3C7-427B-BB89-F15DC7ABDE49}" type="slidenum">
              <a:rPr lang="en-AU" smtClean="0"/>
              <a:t>‹#›</a:t>
            </a:fld>
            <a:endParaRPr lang="en-AU"/>
          </a:p>
        </p:txBody>
      </p:sp>
    </p:spTree>
    <p:extLst>
      <p:ext uri="{BB962C8B-B14F-4D97-AF65-F5344CB8AC3E}">
        <p14:creationId xmlns:p14="http://schemas.microsoft.com/office/powerpoint/2010/main" val="9364386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E4D9E-08E3-4F44-A127-9C9FB61D73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38A2DE78-3467-4154-9B4F-F32F60871C60}"/>
              </a:ext>
            </a:extLst>
          </p:cNvPr>
          <p:cNvSpPr>
            <a:spLocks noGrp="1"/>
          </p:cNvSpPr>
          <p:nvPr>
            <p:ph idx="1"/>
          </p:nvPr>
        </p:nvSpPr>
        <p:spPr>
          <a:xfrm>
            <a:off x="5183188" y="987425"/>
            <a:ext cx="6172200" cy="46767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40CE7E3-11AD-46D8-BB43-25D5608CCA10}"/>
              </a:ext>
            </a:extLst>
          </p:cNvPr>
          <p:cNvSpPr>
            <a:spLocks noGrp="1"/>
          </p:cNvSpPr>
          <p:nvPr>
            <p:ph type="body" sz="half" idx="2"/>
          </p:nvPr>
        </p:nvSpPr>
        <p:spPr>
          <a:xfrm>
            <a:off x="839788" y="2057400"/>
            <a:ext cx="3932237" cy="360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F218E5-A28A-4380-B3E6-E282CDBB76AA}"/>
              </a:ext>
            </a:extLst>
          </p:cNvPr>
          <p:cNvSpPr>
            <a:spLocks noGrp="1"/>
          </p:cNvSpPr>
          <p:nvPr>
            <p:ph type="dt" sz="half" idx="10"/>
          </p:nvPr>
        </p:nvSpPr>
        <p:spPr/>
        <p:txBody>
          <a:bodyPr/>
          <a:lstStyle/>
          <a:p>
            <a:fld id="{3338BDEB-FC21-4F49-B99F-E03B9C17E2F3}" type="datetime1">
              <a:rPr lang="en-AU" smtClean="0"/>
              <a:t>19/04/2026</a:t>
            </a:fld>
            <a:endParaRPr lang="en-AU"/>
          </a:p>
        </p:txBody>
      </p:sp>
      <p:sp>
        <p:nvSpPr>
          <p:cNvPr id="6" name="Footer Placeholder 5">
            <a:extLst>
              <a:ext uri="{FF2B5EF4-FFF2-40B4-BE49-F238E27FC236}">
                <a16:creationId xmlns:a16="http://schemas.microsoft.com/office/drawing/2014/main" id="{57632F9D-9DBB-4EA6-8A1F-410FAAAE837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6838D760-9ECA-4FDC-A104-52733551ECB3}"/>
              </a:ext>
            </a:extLst>
          </p:cNvPr>
          <p:cNvSpPr>
            <a:spLocks noGrp="1"/>
          </p:cNvSpPr>
          <p:nvPr>
            <p:ph type="sldNum" sz="quarter" idx="12"/>
          </p:nvPr>
        </p:nvSpPr>
        <p:spPr/>
        <p:txBody>
          <a:bodyPr/>
          <a:lstStyle/>
          <a:p>
            <a:fld id="{F5E7372A-B3C7-427B-BB89-F15DC7ABDE49}" type="slidenum">
              <a:rPr lang="en-AU" smtClean="0"/>
              <a:t>‹#›</a:t>
            </a:fld>
            <a:endParaRPr lang="en-AU"/>
          </a:p>
        </p:txBody>
      </p:sp>
    </p:spTree>
    <p:extLst>
      <p:ext uri="{BB962C8B-B14F-4D97-AF65-F5344CB8AC3E}">
        <p14:creationId xmlns:p14="http://schemas.microsoft.com/office/powerpoint/2010/main" val="356259613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E99EB-3880-4C00-A386-2C61B582CD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4EE39A1B-BC6A-4276-B6F5-2F104268DAA1}"/>
              </a:ext>
            </a:extLst>
          </p:cNvPr>
          <p:cNvSpPr>
            <a:spLocks noGrp="1"/>
          </p:cNvSpPr>
          <p:nvPr>
            <p:ph type="pic" idx="1"/>
          </p:nvPr>
        </p:nvSpPr>
        <p:spPr>
          <a:xfrm>
            <a:off x="5180012" y="6318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1C734775-AA98-442D-941F-DB7B13D70D65}"/>
              </a:ext>
            </a:extLst>
          </p:cNvPr>
          <p:cNvSpPr>
            <a:spLocks noGrp="1"/>
          </p:cNvSpPr>
          <p:nvPr>
            <p:ph type="body" sz="half" idx="2"/>
          </p:nvPr>
        </p:nvSpPr>
        <p:spPr>
          <a:xfrm>
            <a:off x="839788" y="2057400"/>
            <a:ext cx="3932237" cy="344805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0299B-203B-450A-BB29-61A5F82E4BC5}"/>
              </a:ext>
            </a:extLst>
          </p:cNvPr>
          <p:cNvSpPr>
            <a:spLocks noGrp="1"/>
          </p:cNvSpPr>
          <p:nvPr>
            <p:ph type="dt" sz="half" idx="10"/>
          </p:nvPr>
        </p:nvSpPr>
        <p:spPr/>
        <p:txBody>
          <a:bodyPr/>
          <a:lstStyle/>
          <a:p>
            <a:fld id="{1ADD036D-3605-441D-B4AF-9589ECECB82B}" type="datetime1">
              <a:rPr lang="en-AU" smtClean="0"/>
              <a:t>19/04/2026</a:t>
            </a:fld>
            <a:endParaRPr lang="en-AU"/>
          </a:p>
        </p:txBody>
      </p:sp>
      <p:sp>
        <p:nvSpPr>
          <p:cNvPr id="6" name="Footer Placeholder 5">
            <a:extLst>
              <a:ext uri="{FF2B5EF4-FFF2-40B4-BE49-F238E27FC236}">
                <a16:creationId xmlns:a16="http://schemas.microsoft.com/office/drawing/2014/main" id="{A9688C2F-160A-4495-ACF3-F0A0E451A47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65794ECD-AB1A-459D-9D50-7D0691EDE408}"/>
              </a:ext>
            </a:extLst>
          </p:cNvPr>
          <p:cNvSpPr>
            <a:spLocks noGrp="1"/>
          </p:cNvSpPr>
          <p:nvPr>
            <p:ph type="sldNum" sz="quarter" idx="12"/>
          </p:nvPr>
        </p:nvSpPr>
        <p:spPr/>
        <p:txBody>
          <a:bodyPr/>
          <a:lstStyle/>
          <a:p>
            <a:fld id="{F5E7372A-B3C7-427B-BB89-F15DC7ABDE49}" type="slidenum">
              <a:rPr lang="en-AU" smtClean="0"/>
              <a:t>‹#›</a:t>
            </a:fld>
            <a:endParaRPr lang="en-AU"/>
          </a:p>
        </p:txBody>
      </p:sp>
    </p:spTree>
    <p:extLst>
      <p:ext uri="{BB962C8B-B14F-4D97-AF65-F5344CB8AC3E}">
        <p14:creationId xmlns:p14="http://schemas.microsoft.com/office/powerpoint/2010/main" val="329210449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75C0C-6FEB-4AD6-818F-C3F70649CA77}"/>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3C667819-C4EA-4AA3-91ED-E98D0410A0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CB401F9-0788-4717-BA80-87B5730963E8}"/>
              </a:ext>
            </a:extLst>
          </p:cNvPr>
          <p:cNvSpPr>
            <a:spLocks noGrp="1"/>
          </p:cNvSpPr>
          <p:nvPr>
            <p:ph type="dt" sz="half" idx="10"/>
          </p:nvPr>
        </p:nvSpPr>
        <p:spPr/>
        <p:txBody>
          <a:bodyPr/>
          <a:lstStyle/>
          <a:p>
            <a:fld id="{A7852F7D-5FDC-41AA-AE14-F006C74C9CBA}" type="datetime1">
              <a:rPr lang="en-AU" smtClean="0"/>
              <a:t>19/04/2026</a:t>
            </a:fld>
            <a:endParaRPr lang="en-AU"/>
          </a:p>
        </p:txBody>
      </p:sp>
      <p:sp>
        <p:nvSpPr>
          <p:cNvPr id="5" name="Footer Placeholder 4">
            <a:extLst>
              <a:ext uri="{FF2B5EF4-FFF2-40B4-BE49-F238E27FC236}">
                <a16:creationId xmlns:a16="http://schemas.microsoft.com/office/drawing/2014/main" id="{2066D622-0A90-4863-AA1B-4CE8A703D0C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8DE7FC9-BC6C-46B0-927E-5489B2808425}"/>
              </a:ext>
            </a:extLst>
          </p:cNvPr>
          <p:cNvSpPr>
            <a:spLocks noGrp="1"/>
          </p:cNvSpPr>
          <p:nvPr>
            <p:ph type="sldNum" sz="quarter" idx="12"/>
          </p:nvPr>
        </p:nvSpPr>
        <p:spPr/>
        <p:txBody>
          <a:bodyPr/>
          <a:lstStyle/>
          <a:p>
            <a:fld id="{F5E7372A-B3C7-427B-BB89-F15DC7ABDE49}" type="slidenum">
              <a:rPr lang="en-AU" smtClean="0"/>
              <a:t>‹#›</a:t>
            </a:fld>
            <a:endParaRPr lang="en-AU"/>
          </a:p>
        </p:txBody>
      </p:sp>
    </p:spTree>
    <p:extLst>
      <p:ext uri="{BB962C8B-B14F-4D97-AF65-F5344CB8AC3E}">
        <p14:creationId xmlns:p14="http://schemas.microsoft.com/office/powerpoint/2010/main" val="32997239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458041-2789-4CE3-896A-19ADB9ACA146}"/>
              </a:ext>
            </a:extLst>
          </p:cNvPr>
          <p:cNvSpPr>
            <a:spLocks noGrp="1"/>
          </p:cNvSpPr>
          <p:nvPr>
            <p:ph type="title" orient="vert"/>
          </p:nvPr>
        </p:nvSpPr>
        <p:spPr>
          <a:xfrm>
            <a:off x="8724900" y="365125"/>
            <a:ext cx="2628900" cy="5286375"/>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4E4EA8B-375B-4C76-80F3-4086B2CA053F}"/>
              </a:ext>
            </a:extLst>
          </p:cNvPr>
          <p:cNvSpPr>
            <a:spLocks noGrp="1"/>
          </p:cNvSpPr>
          <p:nvPr>
            <p:ph type="body" orient="vert" idx="1"/>
          </p:nvPr>
        </p:nvSpPr>
        <p:spPr>
          <a:xfrm>
            <a:off x="838200" y="365125"/>
            <a:ext cx="7734300" cy="52863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D64C4AD-191B-454D-860A-7169A48CE421}"/>
              </a:ext>
            </a:extLst>
          </p:cNvPr>
          <p:cNvSpPr>
            <a:spLocks noGrp="1"/>
          </p:cNvSpPr>
          <p:nvPr>
            <p:ph type="dt" sz="half" idx="10"/>
          </p:nvPr>
        </p:nvSpPr>
        <p:spPr/>
        <p:txBody>
          <a:bodyPr/>
          <a:lstStyle/>
          <a:p>
            <a:fld id="{38681210-BB5F-493F-9E86-7CF2AED3CA8B}" type="datetime1">
              <a:rPr lang="en-AU" smtClean="0"/>
              <a:t>19/04/2026</a:t>
            </a:fld>
            <a:endParaRPr lang="en-AU"/>
          </a:p>
        </p:txBody>
      </p:sp>
      <p:sp>
        <p:nvSpPr>
          <p:cNvPr id="5" name="Footer Placeholder 4">
            <a:extLst>
              <a:ext uri="{FF2B5EF4-FFF2-40B4-BE49-F238E27FC236}">
                <a16:creationId xmlns:a16="http://schemas.microsoft.com/office/drawing/2014/main" id="{EC4E5B81-DC39-4A6E-A76D-1800683F4A0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A5176BE-B3E6-4C83-BA2A-E2E187CACF98}"/>
              </a:ext>
            </a:extLst>
          </p:cNvPr>
          <p:cNvSpPr>
            <a:spLocks noGrp="1"/>
          </p:cNvSpPr>
          <p:nvPr>
            <p:ph type="sldNum" sz="quarter" idx="12"/>
          </p:nvPr>
        </p:nvSpPr>
        <p:spPr/>
        <p:txBody>
          <a:bodyPr/>
          <a:lstStyle/>
          <a:p>
            <a:fld id="{F5E7372A-B3C7-427B-BB89-F15DC7ABDE49}" type="slidenum">
              <a:rPr lang="en-AU" smtClean="0"/>
              <a:t>‹#›</a:t>
            </a:fld>
            <a:endParaRPr lang="en-AU"/>
          </a:p>
        </p:txBody>
      </p:sp>
    </p:spTree>
    <p:extLst>
      <p:ext uri="{BB962C8B-B14F-4D97-AF65-F5344CB8AC3E}">
        <p14:creationId xmlns:p14="http://schemas.microsoft.com/office/powerpoint/2010/main" val="3367004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2.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8A3001-E505-4611-AC5E-30676A364E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3D8573A5-5692-4CAD-A0C3-6FAF57E382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7E357F3-7C6C-4B93-BB8B-8555EADD4C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C08CB8-74BE-4430-9CCE-E34B71BE6DA5}" type="datetimeFigureOut">
              <a:rPr lang="en-AU" smtClean="0"/>
              <a:t>19/04/2026</a:t>
            </a:fld>
            <a:endParaRPr lang="en-AU"/>
          </a:p>
        </p:txBody>
      </p:sp>
      <p:sp>
        <p:nvSpPr>
          <p:cNvPr id="5" name="Footer Placeholder 4">
            <a:extLst>
              <a:ext uri="{FF2B5EF4-FFF2-40B4-BE49-F238E27FC236}">
                <a16:creationId xmlns:a16="http://schemas.microsoft.com/office/drawing/2014/main" id="{CE98CE04-8EA9-4780-9982-BAD687AABA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F92AD06F-76B8-444C-85DB-6BAB9A6162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13AB86-37F4-49F9-83EE-CBFA98C67A11}" type="slidenum">
              <a:rPr lang="en-AU" smtClean="0"/>
              <a:t>‹#›</a:t>
            </a:fld>
            <a:endParaRPr lang="en-AU"/>
          </a:p>
        </p:txBody>
      </p:sp>
    </p:spTree>
    <p:extLst>
      <p:ext uri="{BB962C8B-B14F-4D97-AF65-F5344CB8AC3E}">
        <p14:creationId xmlns:p14="http://schemas.microsoft.com/office/powerpoint/2010/main" val="36778752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1610EB-B7CE-49D5-9641-1D51FD68C1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340846C-8EB4-4497-B087-6B5836AE4492}"/>
              </a:ext>
            </a:extLst>
          </p:cNvPr>
          <p:cNvSpPr>
            <a:spLocks noGrp="1"/>
          </p:cNvSpPr>
          <p:nvPr>
            <p:ph type="body" idx="1"/>
          </p:nvPr>
        </p:nvSpPr>
        <p:spPr>
          <a:xfrm>
            <a:off x="838200" y="1825625"/>
            <a:ext cx="10515600" cy="380895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C57A895-B1B5-4D54-8220-B55FC28138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AU"/>
          </a:p>
        </p:txBody>
      </p:sp>
      <p:sp>
        <p:nvSpPr>
          <p:cNvPr id="5" name="Footer Placeholder 4">
            <a:extLst>
              <a:ext uri="{FF2B5EF4-FFF2-40B4-BE49-F238E27FC236}">
                <a16:creationId xmlns:a16="http://schemas.microsoft.com/office/drawing/2014/main" id="{3788FF91-D788-45D6-B1D7-94B130D452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9A14C4E0-1941-4302-973A-38FFFA8FF2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954217-3129-429F-ACD6-AA22F16F39DE}" type="slidenum">
              <a:rPr lang="en-AU" smtClean="0"/>
              <a:t>‹#›</a:t>
            </a:fld>
            <a:endParaRPr lang="en-AU"/>
          </a:p>
        </p:txBody>
      </p:sp>
      <p:sp>
        <p:nvSpPr>
          <p:cNvPr id="8" name="Rectangle 7">
            <a:extLst>
              <a:ext uri="{FF2B5EF4-FFF2-40B4-BE49-F238E27FC236}">
                <a16:creationId xmlns:a16="http://schemas.microsoft.com/office/drawing/2014/main" id="{72F2CD8A-CAB8-43B2-8AA1-EF2DD6DE5381}"/>
              </a:ext>
            </a:extLst>
          </p:cNvPr>
          <p:cNvSpPr/>
          <p:nvPr/>
        </p:nvSpPr>
        <p:spPr>
          <a:xfrm>
            <a:off x="0" y="5732427"/>
            <a:ext cx="8765764" cy="1084671"/>
          </a:xfrm>
          <a:prstGeom prst="rect">
            <a:avLst/>
          </a:prstGeom>
          <a:solidFill>
            <a:srgbClr val="46A06F"/>
          </a:solidFill>
          <a:ln w="12700" cap="flat" cmpd="sng" algn="ctr">
            <a:solidFill>
              <a:srgbClr val="46A06F">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prstClr val="white"/>
              </a:solidFill>
              <a:effectLst/>
              <a:uLnTx/>
              <a:uFillTx/>
              <a:latin typeface="Calibri"/>
              <a:ea typeface="等线"/>
              <a:cs typeface="+mn-cs"/>
            </a:endParaRPr>
          </a:p>
        </p:txBody>
      </p:sp>
      <p:sp>
        <p:nvSpPr>
          <p:cNvPr id="10" name="Rectangle 9">
            <a:extLst>
              <a:ext uri="{FF2B5EF4-FFF2-40B4-BE49-F238E27FC236}">
                <a16:creationId xmlns:a16="http://schemas.microsoft.com/office/drawing/2014/main" id="{88970179-188F-48F4-980C-74973EC7E99F}"/>
              </a:ext>
            </a:extLst>
          </p:cNvPr>
          <p:cNvSpPr/>
          <p:nvPr/>
        </p:nvSpPr>
        <p:spPr>
          <a:xfrm>
            <a:off x="152400" y="6033184"/>
            <a:ext cx="6096000" cy="646331"/>
          </a:xfrm>
          <a:prstGeom prst="rect">
            <a:avLst/>
          </a:prstGeom>
        </p:spPr>
        <p:txBody>
          <a:bodyPr>
            <a:spAutoFit/>
          </a:bodyPr>
          <a:lstStyle/>
          <a:p>
            <a:r>
              <a:rPr lang="en-AU" dirty="0"/>
              <a:t>TEQSA: </a:t>
            </a:r>
            <a:r>
              <a:rPr lang="en-AU" sz="1800" kern="1200" dirty="0">
                <a:solidFill>
                  <a:schemeClr val="tx1"/>
                </a:solidFill>
                <a:effectLst/>
                <a:latin typeface="+mn-lt"/>
                <a:ea typeface="+mn-ea"/>
                <a:cs typeface="+mn-cs"/>
              </a:rPr>
              <a:t>PRV14311</a:t>
            </a:r>
            <a:br>
              <a:rPr lang="en-AU" dirty="0"/>
            </a:br>
            <a:r>
              <a:rPr lang="en-AU" dirty="0"/>
              <a:t>CRICOS:</a:t>
            </a:r>
            <a:r>
              <a:rPr lang="zh-CN" altLang="en-US" dirty="0"/>
              <a:t> </a:t>
            </a:r>
            <a:r>
              <a:rPr lang="en-US" altLang="zh-CN" dirty="0"/>
              <a:t>03836J</a:t>
            </a:r>
            <a:endParaRPr lang="en-AU" dirty="0"/>
          </a:p>
        </p:txBody>
      </p:sp>
      <p:pic>
        <p:nvPicPr>
          <p:cNvPr id="7" name="Picture 6">
            <a:extLst>
              <a:ext uri="{FF2B5EF4-FFF2-40B4-BE49-F238E27FC236}">
                <a16:creationId xmlns:a16="http://schemas.microsoft.com/office/drawing/2014/main" id="{3A8026AB-E8A0-4934-8244-EE6BACFE47FC}"/>
              </a:ext>
            </a:extLst>
          </p:cNvPr>
          <p:cNvPicPr>
            <a:picLocks noChangeAspect="1"/>
          </p:cNvPicPr>
          <p:nvPr/>
        </p:nvPicPr>
        <p:blipFill>
          <a:blip r:embed="rId13"/>
          <a:stretch>
            <a:fillRect/>
          </a:stretch>
        </p:blipFill>
        <p:spPr>
          <a:xfrm>
            <a:off x="8765764" y="5732427"/>
            <a:ext cx="3273836" cy="1121761"/>
          </a:xfrm>
          <a:prstGeom prst="rect">
            <a:avLst/>
          </a:prstGeom>
        </p:spPr>
      </p:pic>
      <p:sp>
        <p:nvSpPr>
          <p:cNvPr id="11" name="Slide Number Placeholder 1">
            <a:extLst>
              <a:ext uri="{FF2B5EF4-FFF2-40B4-BE49-F238E27FC236}">
                <a16:creationId xmlns:a16="http://schemas.microsoft.com/office/drawing/2014/main" id="{26C7C9A3-3548-2D43-ADBF-6B1AC8ED114B}"/>
              </a:ext>
            </a:extLst>
          </p:cNvPr>
          <p:cNvSpPr txBox="1">
            <a:spLocks noChangeArrowheads="1"/>
          </p:cNvSpPr>
          <p:nvPr/>
        </p:nvSpPr>
        <p:spPr bwMode="auto">
          <a:xfrm>
            <a:off x="5664200" y="6427282"/>
            <a:ext cx="431800" cy="312738"/>
          </a:xfrm>
          <a:prstGeom prst="rect">
            <a:avLst/>
          </a:prstGeom>
          <a:noFill/>
          <a:ln>
            <a:noFill/>
          </a:ln>
        </p:spPr>
        <p:txBody>
          <a:bodyPr/>
          <a:lstStyle>
            <a:lvl1pPr>
              <a:spcBef>
                <a:spcPct val="20000"/>
              </a:spcBef>
              <a:spcAft>
                <a:spcPts val="600"/>
              </a:spcAft>
              <a:buClr>
                <a:schemeClr val="accent1"/>
              </a:buClr>
              <a:buFont typeface="Wingdings 2" pitchFamily="2" charset="2"/>
              <a:buChar char=""/>
              <a:defRPr>
                <a:solidFill>
                  <a:schemeClr val="tx1"/>
                </a:solidFill>
                <a:latin typeface="Century Gothic" panose="020B0502020202020204" pitchFamily="34" charset="0"/>
              </a:defRPr>
            </a:lvl1pPr>
            <a:lvl2pPr marL="742950" indent="-285750">
              <a:spcBef>
                <a:spcPct val="20000"/>
              </a:spcBef>
              <a:spcAft>
                <a:spcPts val="600"/>
              </a:spcAft>
              <a:buClr>
                <a:schemeClr val="accent1"/>
              </a:buClr>
              <a:buFont typeface="Wingdings 2" pitchFamily="2" charset="2"/>
              <a:buChar char=""/>
              <a:defRPr sz="1600">
                <a:solidFill>
                  <a:schemeClr val="tx1"/>
                </a:solidFill>
                <a:latin typeface="Century Gothic" panose="020B0502020202020204" pitchFamily="34" charset="0"/>
              </a:defRPr>
            </a:lvl2pPr>
            <a:lvl3pPr marL="1143000" indent="-228600">
              <a:spcBef>
                <a:spcPct val="20000"/>
              </a:spcBef>
              <a:spcAft>
                <a:spcPts val="600"/>
              </a:spcAft>
              <a:buClr>
                <a:schemeClr val="accent1"/>
              </a:buClr>
              <a:buFont typeface="Wingdings 2" pitchFamily="2" charset="2"/>
              <a:buChar char=""/>
              <a:defRPr sz="1400">
                <a:solidFill>
                  <a:schemeClr val="tx1"/>
                </a:solidFill>
                <a:latin typeface="Century Gothic" panose="020B0502020202020204" pitchFamily="34" charset="0"/>
              </a:defRPr>
            </a:lvl3pPr>
            <a:lvl4pPr marL="1600200" indent="-228600">
              <a:spcBef>
                <a:spcPct val="20000"/>
              </a:spcBef>
              <a:spcAft>
                <a:spcPts val="600"/>
              </a:spcAft>
              <a:buClr>
                <a:schemeClr val="accent1"/>
              </a:buClr>
              <a:buFont typeface="Wingdings 2" pitchFamily="2" charset="2"/>
              <a:buChar char=""/>
              <a:defRPr sz="1200">
                <a:solidFill>
                  <a:schemeClr val="tx1"/>
                </a:solidFill>
                <a:latin typeface="Century Gothic" panose="020B0502020202020204" pitchFamily="34" charset="0"/>
              </a:defRPr>
            </a:lvl4pPr>
            <a:lvl5pPr marL="2057400" indent="-228600">
              <a:spcBef>
                <a:spcPct val="20000"/>
              </a:spcBef>
              <a:spcAft>
                <a:spcPts val="600"/>
              </a:spcAft>
              <a:buClr>
                <a:schemeClr val="accent1"/>
              </a:buClr>
              <a:buFont typeface="Wingdings 2" pitchFamily="2" charset="2"/>
              <a:buChar char=""/>
              <a:defRPr sz="1200">
                <a:solidFill>
                  <a:schemeClr val="tx1"/>
                </a:solidFill>
                <a:latin typeface="Century Gothic" panose="020B0502020202020204" pitchFamily="34" charset="0"/>
              </a:defRPr>
            </a:lvl5pPr>
            <a:lvl6pPr marL="2514600" indent="-228600" eaLnBrk="0" fontAlgn="base" hangingPunct="0">
              <a:spcBef>
                <a:spcPct val="20000"/>
              </a:spcBef>
              <a:spcAft>
                <a:spcPts val="600"/>
              </a:spcAft>
              <a:buClr>
                <a:schemeClr val="accent1"/>
              </a:buClr>
              <a:buFont typeface="Wingdings 2" pitchFamily="2" charset="2"/>
              <a:buChar char=""/>
              <a:defRPr sz="1200">
                <a:solidFill>
                  <a:schemeClr val="tx1"/>
                </a:solidFill>
                <a:latin typeface="Century Gothic" panose="020B0502020202020204" pitchFamily="34" charset="0"/>
              </a:defRPr>
            </a:lvl6pPr>
            <a:lvl7pPr marL="2971800" indent="-228600" eaLnBrk="0" fontAlgn="base" hangingPunct="0">
              <a:spcBef>
                <a:spcPct val="20000"/>
              </a:spcBef>
              <a:spcAft>
                <a:spcPts val="600"/>
              </a:spcAft>
              <a:buClr>
                <a:schemeClr val="accent1"/>
              </a:buClr>
              <a:buFont typeface="Wingdings 2" pitchFamily="2" charset="2"/>
              <a:buChar char=""/>
              <a:defRPr sz="1200">
                <a:solidFill>
                  <a:schemeClr val="tx1"/>
                </a:solidFill>
                <a:latin typeface="Century Gothic" panose="020B0502020202020204" pitchFamily="34" charset="0"/>
              </a:defRPr>
            </a:lvl7pPr>
            <a:lvl8pPr marL="3429000" indent="-228600" eaLnBrk="0" fontAlgn="base" hangingPunct="0">
              <a:spcBef>
                <a:spcPct val="20000"/>
              </a:spcBef>
              <a:spcAft>
                <a:spcPts val="600"/>
              </a:spcAft>
              <a:buClr>
                <a:schemeClr val="accent1"/>
              </a:buClr>
              <a:buFont typeface="Wingdings 2" pitchFamily="2" charset="2"/>
              <a:buChar char=""/>
              <a:defRPr sz="1200">
                <a:solidFill>
                  <a:schemeClr val="tx1"/>
                </a:solidFill>
                <a:latin typeface="Century Gothic" panose="020B0502020202020204" pitchFamily="34" charset="0"/>
              </a:defRPr>
            </a:lvl8pPr>
            <a:lvl9pPr marL="3886200" indent="-228600" eaLnBrk="0" fontAlgn="base" hangingPunct="0">
              <a:spcBef>
                <a:spcPct val="20000"/>
              </a:spcBef>
              <a:spcAft>
                <a:spcPts val="600"/>
              </a:spcAft>
              <a:buClr>
                <a:schemeClr val="accent1"/>
              </a:buClr>
              <a:buFont typeface="Wingdings 2" pitchFamily="2" charset="2"/>
              <a:buChar char=""/>
              <a:defRPr sz="1200">
                <a:solidFill>
                  <a:schemeClr val="tx1"/>
                </a:solidFill>
                <a:latin typeface="Century Gothic" panose="020B0502020202020204" pitchFamily="34" charset="0"/>
              </a:defRPr>
            </a:lvl9pPr>
          </a:lstStyle>
          <a:p>
            <a:pPr algn="ctr" eaLnBrk="1" hangingPunct="1">
              <a:spcBef>
                <a:spcPct val="0"/>
              </a:spcBef>
              <a:spcAft>
                <a:spcPct val="0"/>
              </a:spcAft>
              <a:buClrTx/>
              <a:buFontTx/>
              <a:buNone/>
              <a:defRPr/>
            </a:pPr>
            <a:fld id="{D3EF5166-0E13-6F46-8047-08625A788D21}" type="slidenum">
              <a:rPr lang="en-US" altLang="en-US" sz="900">
                <a:latin typeface="Calibri" panose="020F0502020204030204" pitchFamily="34" charset="0"/>
                <a:cs typeface="Calibri" panose="020F0502020204030204" pitchFamily="34" charset="0"/>
              </a:rPr>
              <a:pPr algn="ctr" eaLnBrk="1" hangingPunct="1">
                <a:spcBef>
                  <a:spcPct val="0"/>
                </a:spcBef>
                <a:spcAft>
                  <a:spcPct val="0"/>
                </a:spcAft>
                <a:buClrTx/>
                <a:buFontTx/>
                <a:buNone/>
                <a:defRPr/>
              </a:pPr>
              <a:t>‹#›</a:t>
            </a:fld>
            <a:endParaRPr lang="en-US" altLang="en-US" sz="9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474272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1610EB-B7CE-49D5-9641-1D51FD68C1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340846C-8EB4-4497-B087-6B5836AE4492}"/>
              </a:ext>
            </a:extLst>
          </p:cNvPr>
          <p:cNvSpPr>
            <a:spLocks noGrp="1"/>
          </p:cNvSpPr>
          <p:nvPr>
            <p:ph type="body" idx="1"/>
          </p:nvPr>
        </p:nvSpPr>
        <p:spPr>
          <a:xfrm>
            <a:off x="838200" y="1825625"/>
            <a:ext cx="10515600" cy="380895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C57A895-B1B5-4D54-8220-B55FC28138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1FF1DB-CBF9-4BEA-BE4B-7136B7A27BB8}" type="datetime1">
              <a:rPr lang="en-AU" smtClean="0"/>
              <a:t>19/04/2026</a:t>
            </a:fld>
            <a:endParaRPr lang="en-AU"/>
          </a:p>
        </p:txBody>
      </p:sp>
      <p:sp>
        <p:nvSpPr>
          <p:cNvPr id="5" name="Footer Placeholder 4">
            <a:extLst>
              <a:ext uri="{FF2B5EF4-FFF2-40B4-BE49-F238E27FC236}">
                <a16:creationId xmlns:a16="http://schemas.microsoft.com/office/drawing/2014/main" id="{3788FF91-D788-45D6-B1D7-94B130D452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9A14C4E0-1941-4302-973A-38FFFA8FF2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E7372A-B3C7-427B-BB89-F15DC7ABDE49}" type="slidenum">
              <a:rPr lang="en-AU" smtClean="0"/>
              <a:t>‹#›</a:t>
            </a:fld>
            <a:endParaRPr lang="en-AU"/>
          </a:p>
        </p:txBody>
      </p:sp>
      <p:sp>
        <p:nvSpPr>
          <p:cNvPr id="8" name="Rectangle 7">
            <a:extLst>
              <a:ext uri="{FF2B5EF4-FFF2-40B4-BE49-F238E27FC236}">
                <a16:creationId xmlns:a16="http://schemas.microsoft.com/office/drawing/2014/main" id="{72F2CD8A-CAB8-43B2-8AA1-EF2DD6DE5381}"/>
              </a:ext>
            </a:extLst>
          </p:cNvPr>
          <p:cNvSpPr/>
          <p:nvPr userDrawn="1"/>
        </p:nvSpPr>
        <p:spPr>
          <a:xfrm>
            <a:off x="0" y="5675855"/>
            <a:ext cx="9348148" cy="1121761"/>
          </a:xfrm>
          <a:prstGeom prst="rect">
            <a:avLst/>
          </a:prstGeom>
          <a:solidFill>
            <a:srgbClr val="46A06F"/>
          </a:solidFill>
          <a:ln w="12700" cap="flat" cmpd="sng" algn="ctr">
            <a:solidFill>
              <a:srgbClr val="46A06F">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prstClr val="white"/>
              </a:solidFill>
              <a:effectLst/>
              <a:uLnTx/>
              <a:uFillTx/>
              <a:latin typeface="Calibri"/>
              <a:ea typeface="等线"/>
              <a:cs typeface="+mn-cs"/>
            </a:endParaRPr>
          </a:p>
        </p:txBody>
      </p:sp>
      <p:sp>
        <p:nvSpPr>
          <p:cNvPr id="10" name="Rectangle 9">
            <a:extLst>
              <a:ext uri="{FF2B5EF4-FFF2-40B4-BE49-F238E27FC236}">
                <a16:creationId xmlns:a16="http://schemas.microsoft.com/office/drawing/2014/main" id="{88970179-188F-48F4-980C-74973EC7E99F}"/>
              </a:ext>
            </a:extLst>
          </p:cNvPr>
          <p:cNvSpPr/>
          <p:nvPr userDrawn="1"/>
        </p:nvSpPr>
        <p:spPr>
          <a:xfrm>
            <a:off x="152400" y="6033184"/>
            <a:ext cx="6096000" cy="646331"/>
          </a:xfrm>
          <a:prstGeom prst="rect">
            <a:avLst/>
          </a:prstGeom>
        </p:spPr>
        <p:txBody>
          <a:bodyPr>
            <a:spAutoFit/>
          </a:bodyPr>
          <a:lstStyle/>
          <a:p>
            <a:r>
              <a:rPr lang="en-AU" dirty="0"/>
              <a:t>TEQSA: </a:t>
            </a:r>
            <a:r>
              <a:rPr lang="en-AU" sz="1800" kern="1200" dirty="0">
                <a:solidFill>
                  <a:schemeClr val="tx1"/>
                </a:solidFill>
                <a:effectLst/>
                <a:latin typeface="+mn-lt"/>
                <a:ea typeface="+mn-ea"/>
                <a:cs typeface="+mn-cs"/>
              </a:rPr>
              <a:t>PRV14311</a:t>
            </a:r>
            <a:br>
              <a:rPr lang="en-AU" dirty="0"/>
            </a:br>
            <a:r>
              <a:rPr lang="en-AU" dirty="0"/>
              <a:t>CRICOS:</a:t>
            </a:r>
            <a:r>
              <a:rPr lang="zh-CN" altLang="en-US" dirty="0"/>
              <a:t> </a:t>
            </a:r>
            <a:r>
              <a:rPr lang="en-US" altLang="zh-CN" dirty="0"/>
              <a:t>03836J</a:t>
            </a:r>
            <a:endParaRPr lang="en-AU" dirty="0"/>
          </a:p>
        </p:txBody>
      </p:sp>
      <p:pic>
        <p:nvPicPr>
          <p:cNvPr id="7" name="Picture 6">
            <a:extLst>
              <a:ext uri="{FF2B5EF4-FFF2-40B4-BE49-F238E27FC236}">
                <a16:creationId xmlns:a16="http://schemas.microsoft.com/office/drawing/2014/main" id="{3A8026AB-E8A0-4934-8244-EE6BACFE47FC}"/>
              </a:ext>
            </a:extLst>
          </p:cNvPr>
          <p:cNvPicPr>
            <a:picLocks noChangeAspect="1"/>
          </p:cNvPicPr>
          <p:nvPr userDrawn="1"/>
        </p:nvPicPr>
        <p:blipFill>
          <a:blip r:embed="rId13" cstate="email">
            <a:extLst>
              <a:ext uri="{28A0092B-C50C-407E-A947-70E740481C1C}">
                <a14:useLocalDpi xmlns:a14="http://schemas.microsoft.com/office/drawing/2010/main"/>
              </a:ext>
            </a:extLst>
          </a:blip>
          <a:srcRect/>
          <a:stretch/>
        </p:blipFill>
        <p:spPr>
          <a:xfrm>
            <a:off x="9348148" y="5675856"/>
            <a:ext cx="2793526" cy="1121761"/>
          </a:xfrm>
          <a:prstGeom prst="rect">
            <a:avLst/>
          </a:prstGeom>
        </p:spPr>
      </p:pic>
    </p:spTree>
    <p:extLst>
      <p:ext uri="{BB962C8B-B14F-4D97-AF65-F5344CB8AC3E}">
        <p14:creationId xmlns:p14="http://schemas.microsoft.com/office/powerpoint/2010/main" val="296375487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hyperlink" Target="https://www.pexels.com/" TargetMode="Externa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BF3EC-AEB7-40C4-AC31-F806F469FDAA}"/>
              </a:ext>
            </a:extLst>
          </p:cNvPr>
          <p:cNvSpPr>
            <a:spLocks noGrp="1"/>
          </p:cNvSpPr>
          <p:nvPr>
            <p:ph type="title"/>
          </p:nvPr>
        </p:nvSpPr>
        <p:spPr>
          <a:xfrm>
            <a:off x="495300" y="631825"/>
            <a:ext cx="4152052" cy="1789917"/>
          </a:xfrm>
        </p:spPr>
        <p:txBody>
          <a:bodyPr anchor="b">
            <a:normAutofit/>
          </a:bodyPr>
          <a:lstStyle/>
          <a:p>
            <a:r>
              <a:rPr lang="en-US" sz="3600" dirty="0">
                <a:solidFill>
                  <a:schemeClr val="accent6">
                    <a:lumMod val="75000"/>
                  </a:schemeClr>
                </a:solidFill>
                <a:latin typeface="+mn-lt"/>
                <a:ea typeface="+mn-ea"/>
                <a:cs typeface="+mn-cs"/>
              </a:rPr>
              <a:t>ICT 101 Introduction to the Internet and Web Development</a:t>
            </a:r>
            <a:endParaRPr lang="en-AU" sz="3600" dirty="0">
              <a:solidFill>
                <a:schemeClr val="accent6">
                  <a:lumMod val="75000"/>
                </a:schemeClr>
              </a:solidFill>
              <a:latin typeface="+mn-lt"/>
              <a:ea typeface="+mn-ea"/>
              <a:cs typeface="+mn-cs"/>
            </a:endParaRPr>
          </a:p>
        </p:txBody>
      </p:sp>
      <p:pic>
        <p:nvPicPr>
          <p:cNvPr id="6" name="Picture 5" descr="A close up of text on a black background&#10;&#10;Description automatically generated">
            <a:extLst>
              <a:ext uri="{FF2B5EF4-FFF2-40B4-BE49-F238E27FC236}">
                <a16:creationId xmlns:a16="http://schemas.microsoft.com/office/drawing/2014/main" id="{592CFDDA-498C-4BF3-B263-F521CAE78840}"/>
              </a:ext>
            </a:extLst>
          </p:cNvPr>
          <p:cNvPicPr>
            <a:picLocks noChangeAspect="1"/>
          </p:cNvPicPr>
          <p:nvPr/>
        </p:nvPicPr>
        <p:blipFill rotWithShape="1">
          <a:blip r:embed="rId3">
            <a:extLst>
              <a:ext uri="{28A0092B-C50C-407E-A947-70E740481C1C}">
                <a14:useLocalDpi xmlns:a14="http://schemas.microsoft.com/office/drawing/2010/main" val="0"/>
              </a:ext>
            </a:extLst>
          </a:blip>
          <a:srcRect l="520" r="31408"/>
          <a:stretch/>
        </p:blipFill>
        <p:spPr>
          <a:xfrm>
            <a:off x="5524500" y="655888"/>
            <a:ext cx="6172200" cy="4873625"/>
          </a:xfrm>
          <a:prstGeom prst="rect">
            <a:avLst/>
          </a:prstGeom>
          <a:noFill/>
        </p:spPr>
      </p:pic>
      <p:sp>
        <p:nvSpPr>
          <p:cNvPr id="3" name="Subtitle 2">
            <a:extLst>
              <a:ext uri="{FF2B5EF4-FFF2-40B4-BE49-F238E27FC236}">
                <a16:creationId xmlns:a16="http://schemas.microsoft.com/office/drawing/2014/main" id="{3125719E-7687-4AF7-820F-1643B2AC252E}"/>
              </a:ext>
            </a:extLst>
          </p:cNvPr>
          <p:cNvSpPr>
            <a:spLocks noGrp="1"/>
          </p:cNvSpPr>
          <p:nvPr>
            <p:ph type="body" sz="half" idx="2"/>
          </p:nvPr>
        </p:nvSpPr>
        <p:spPr>
          <a:xfrm>
            <a:off x="615583" y="3692032"/>
            <a:ext cx="4470343" cy="723582"/>
          </a:xfrm>
        </p:spPr>
        <p:txBody>
          <a:bodyPr>
            <a:normAutofit/>
          </a:bodyPr>
          <a:lstStyle/>
          <a:p>
            <a:pPr algn="ctr"/>
            <a:r>
              <a:rPr lang="en-AU" sz="2400" b="1" dirty="0">
                <a:solidFill>
                  <a:schemeClr val="accent6">
                    <a:lumMod val="75000"/>
                  </a:schemeClr>
                </a:solidFill>
              </a:rPr>
              <a:t>Week 6 – CSS</a:t>
            </a:r>
            <a:endParaRPr lang="en-US" sz="2400" b="1" dirty="0">
              <a:solidFill>
                <a:schemeClr val="accent6">
                  <a:lumMod val="75000"/>
                </a:schemeClr>
              </a:solidFill>
            </a:endParaRPr>
          </a:p>
          <a:p>
            <a:pPr algn="ctr"/>
            <a:endParaRPr lang="en-AU" sz="2400" b="1" dirty="0">
              <a:solidFill>
                <a:schemeClr val="accent6">
                  <a:lumMod val="75000"/>
                </a:schemeClr>
              </a:solidFill>
            </a:endParaRPr>
          </a:p>
          <a:p>
            <a:pPr algn="ctr"/>
            <a:endParaRPr lang="en-AU" sz="2400" b="1" dirty="0">
              <a:solidFill>
                <a:schemeClr val="accent6">
                  <a:lumMod val="75000"/>
                </a:schemeClr>
              </a:solidFill>
              <a:effectLst>
                <a:outerShdw blurRad="38100" dist="38100" dir="2700000" algn="tl">
                  <a:srgbClr val="000000">
                    <a:alpha val="43137"/>
                  </a:srgbClr>
                </a:outerShdw>
              </a:effectLst>
            </a:endParaRPr>
          </a:p>
        </p:txBody>
      </p:sp>
      <p:sp>
        <p:nvSpPr>
          <p:cNvPr id="4" name="TextBox 3">
            <a:extLst>
              <a:ext uri="{FF2B5EF4-FFF2-40B4-BE49-F238E27FC236}">
                <a16:creationId xmlns:a16="http://schemas.microsoft.com/office/drawing/2014/main" id="{BF013501-5CF1-4776-9D9E-F7D88A57383A}"/>
              </a:ext>
            </a:extLst>
          </p:cNvPr>
          <p:cNvSpPr txBox="1"/>
          <p:nvPr/>
        </p:nvSpPr>
        <p:spPr>
          <a:xfrm rot="5400000">
            <a:off x="11131545" y="4618978"/>
            <a:ext cx="140730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a:ln>
                  <a:noFill/>
                </a:ln>
                <a:solidFill>
                  <a:prstClr val="black"/>
                </a:solidFill>
                <a:effectLst/>
                <a:uLnTx/>
                <a:uFillTx/>
                <a:latin typeface="Calibri" panose="020F0502020204030204"/>
                <a:ea typeface="+mn-ea"/>
                <a:cs typeface="+mn-cs"/>
              </a:rPr>
              <a:t>Courtesy of </a:t>
            </a:r>
            <a:r>
              <a:rPr kumimoji="0" lang="en-AU" sz="1200" b="0" i="0" u="none" strike="noStrike" kern="1200" cap="none" spc="0" normalizeH="0" baseline="0" noProof="0" dirty="0" err="1">
                <a:ln>
                  <a:noFill/>
                </a:ln>
                <a:solidFill>
                  <a:prstClr val="black"/>
                </a:solidFill>
                <a:effectLst/>
                <a:uLnTx/>
                <a:uFillTx/>
                <a:latin typeface="Calibri" panose="020F0502020204030204"/>
                <a:ea typeface="+mn-ea"/>
                <a:cs typeface="+mn-cs"/>
                <a:hlinkClick r:id="rId4"/>
              </a:rPr>
              <a:t>Pixabay</a:t>
            </a:r>
            <a:endParaRPr kumimoji="0" lang="en-AU"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8C35E957-7200-461F-A904-C49F3D70E19D}"/>
              </a:ext>
            </a:extLst>
          </p:cNvPr>
          <p:cNvSpPr>
            <a:spLocks noGrp="1"/>
          </p:cNvSpPr>
          <p:nvPr>
            <p:ph type="sldNum" sz="quarter" idx="12"/>
          </p:nvPr>
        </p:nvSpPr>
        <p:spPr/>
        <p:txBody>
          <a:bodyPr/>
          <a:lstStyle/>
          <a:p>
            <a:fld id="{EF954217-3129-429F-ACD6-AA22F16F39DE}" type="slidenum">
              <a:rPr lang="en-AU" smtClean="0"/>
              <a:t>1</a:t>
            </a:fld>
            <a:endParaRPr lang="en-AU"/>
          </a:p>
        </p:txBody>
      </p:sp>
    </p:spTree>
    <p:extLst>
      <p:ext uri="{BB962C8B-B14F-4D97-AF65-F5344CB8AC3E}">
        <p14:creationId xmlns:p14="http://schemas.microsoft.com/office/powerpoint/2010/main" val="3575300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23EBD-D600-4CFD-85D1-3FAED8AA2F0C}"/>
              </a:ext>
            </a:extLst>
          </p:cNvPr>
          <p:cNvSpPr>
            <a:spLocks noGrp="1"/>
          </p:cNvSpPr>
          <p:nvPr>
            <p:ph type="title"/>
          </p:nvPr>
        </p:nvSpPr>
        <p:spPr>
          <a:xfrm>
            <a:off x="838200" y="365125"/>
            <a:ext cx="10515600" cy="630555"/>
          </a:xfrm>
        </p:spPr>
        <p:txBody>
          <a:bodyPr anchor="b">
            <a:normAutofit/>
          </a:bodyPr>
          <a:lstStyle/>
          <a:p>
            <a:r>
              <a:rPr lang="en-AU" sz="3600" dirty="0">
                <a:solidFill>
                  <a:schemeClr val="accent6">
                    <a:lumMod val="75000"/>
                  </a:schemeClr>
                </a:solidFill>
                <a:latin typeface="+mn-lt"/>
                <a:ea typeface="+mn-ea"/>
                <a:cs typeface="+mn-cs"/>
              </a:rPr>
              <a:t>Weekly Learning Goals</a:t>
            </a:r>
          </a:p>
        </p:txBody>
      </p:sp>
      <p:graphicFrame>
        <p:nvGraphicFramePr>
          <p:cNvPr id="6" name="Content Placeholder 2">
            <a:extLst>
              <a:ext uri="{FF2B5EF4-FFF2-40B4-BE49-F238E27FC236}">
                <a16:creationId xmlns:a16="http://schemas.microsoft.com/office/drawing/2014/main" id="{7B3E77AC-F32A-414D-9EC7-14CF58A5F612}"/>
              </a:ext>
            </a:extLst>
          </p:cNvPr>
          <p:cNvGraphicFramePr>
            <a:graphicFrameLocks noGrp="1"/>
          </p:cNvGraphicFramePr>
          <p:nvPr>
            <p:ph idx="1"/>
            <p:extLst>
              <p:ext uri="{D42A27DB-BD31-4B8C-83A1-F6EECF244321}">
                <p14:modId xmlns:p14="http://schemas.microsoft.com/office/powerpoint/2010/main" val="1872534720"/>
              </p:ext>
            </p:extLst>
          </p:nvPr>
        </p:nvGraphicFramePr>
        <p:xfrm>
          <a:off x="838200" y="1825625"/>
          <a:ext cx="10515600" cy="38084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76149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72C63-4BA1-424D-8583-CF3C9CDCD6DC}"/>
              </a:ext>
            </a:extLst>
          </p:cNvPr>
          <p:cNvSpPr>
            <a:spLocks noGrp="1"/>
          </p:cNvSpPr>
          <p:nvPr>
            <p:ph type="title"/>
          </p:nvPr>
        </p:nvSpPr>
        <p:spPr>
          <a:xfrm>
            <a:off x="518467" y="507987"/>
            <a:ext cx="6641684" cy="508013"/>
          </a:xfrm>
        </p:spPr>
        <p:txBody>
          <a:bodyPr anchor="b">
            <a:noAutofit/>
          </a:bodyPr>
          <a:lstStyle/>
          <a:p>
            <a:r>
              <a:rPr lang="en-AU" sz="3600" dirty="0">
                <a:solidFill>
                  <a:schemeClr val="accent6">
                    <a:lumMod val="75000"/>
                  </a:schemeClr>
                </a:solidFill>
                <a:latin typeface="+mn-lt"/>
                <a:ea typeface="+mn-ea"/>
                <a:cs typeface="+mn-cs"/>
              </a:rPr>
              <a:t>Week 6 Learning Outcomes</a:t>
            </a:r>
          </a:p>
        </p:txBody>
      </p:sp>
      <p:graphicFrame>
        <p:nvGraphicFramePr>
          <p:cNvPr id="7" name="Content Placeholder 2">
            <a:extLst>
              <a:ext uri="{FF2B5EF4-FFF2-40B4-BE49-F238E27FC236}">
                <a16:creationId xmlns:a16="http://schemas.microsoft.com/office/drawing/2014/main" id="{4BE1E1AC-5283-4E92-B09D-1B38C725CEA8}"/>
              </a:ext>
            </a:extLst>
          </p:cNvPr>
          <p:cNvGraphicFramePr>
            <a:graphicFrameLocks noGrp="1"/>
          </p:cNvGraphicFramePr>
          <p:nvPr>
            <p:ph idx="1"/>
            <p:extLst>
              <p:ext uri="{D42A27DB-BD31-4B8C-83A1-F6EECF244321}">
                <p14:modId xmlns:p14="http://schemas.microsoft.com/office/powerpoint/2010/main" val="3936217003"/>
              </p:ext>
            </p:extLst>
          </p:nvPr>
        </p:nvGraphicFramePr>
        <p:xfrm>
          <a:off x="254144" y="2712585"/>
          <a:ext cx="8529638" cy="3235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Picture 8">
            <a:extLst>
              <a:ext uri="{FF2B5EF4-FFF2-40B4-BE49-F238E27FC236}">
                <a16:creationId xmlns:a16="http://schemas.microsoft.com/office/drawing/2014/main" id="{67D63876-9D9A-4843-BCE5-242CBBBAB435}"/>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b="-2"/>
          <a:stretch/>
        </p:blipFill>
        <p:spPr>
          <a:xfrm>
            <a:off x="8783782" y="1589"/>
            <a:ext cx="3408218" cy="5679048"/>
          </a:xfrm>
          <a:custGeom>
            <a:avLst/>
            <a:gdLst/>
            <a:ahLst/>
            <a:cxnLst/>
            <a:rect l="l" t="t" r="r" b="b"/>
            <a:pathLst>
              <a:path w="5620032" h="6856412">
                <a:moveTo>
                  <a:pt x="13187" y="0"/>
                </a:moveTo>
                <a:lnTo>
                  <a:pt x="5620032" y="0"/>
                </a:lnTo>
                <a:lnTo>
                  <a:pt x="5620032" y="6856412"/>
                </a:lnTo>
                <a:lnTo>
                  <a:pt x="0" y="6856412"/>
                </a:lnTo>
                <a:lnTo>
                  <a:pt x="64318" y="6298274"/>
                </a:lnTo>
                <a:cubicBezTo>
                  <a:pt x="203221" y="4970220"/>
                  <a:pt x="240510" y="3632077"/>
                  <a:pt x="97152" y="2276000"/>
                </a:cubicBezTo>
                <a:cubicBezTo>
                  <a:pt x="35713" y="1694824"/>
                  <a:pt x="7455" y="1116942"/>
                  <a:pt x="6154" y="541737"/>
                </a:cubicBezTo>
                <a:close/>
              </a:path>
            </a:pathLst>
          </a:custGeom>
        </p:spPr>
      </p:pic>
    </p:spTree>
    <p:extLst>
      <p:ext uri="{BB962C8B-B14F-4D97-AF65-F5344CB8AC3E}">
        <p14:creationId xmlns:p14="http://schemas.microsoft.com/office/powerpoint/2010/main" val="1106939236"/>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E357F-C349-4A31-9FCE-9E84C66CE0D1}"/>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pic>
        <p:nvPicPr>
          <p:cNvPr id="7" name="Picture 6">
            <a:extLst>
              <a:ext uri="{FF2B5EF4-FFF2-40B4-BE49-F238E27FC236}">
                <a16:creationId xmlns:a16="http://schemas.microsoft.com/office/drawing/2014/main" id="{FD4C1882-ECF8-2191-E72A-4F27C6B42B59}"/>
              </a:ext>
            </a:extLst>
          </p:cNvPr>
          <p:cNvPicPr>
            <a:picLocks noChangeAspect="1"/>
          </p:cNvPicPr>
          <p:nvPr/>
        </p:nvPicPr>
        <p:blipFill>
          <a:blip r:embed="rId2"/>
          <a:srcRect l="86250" t="46575" r="7267" b="36944"/>
          <a:stretch>
            <a:fillRect/>
          </a:stretch>
        </p:blipFill>
        <p:spPr>
          <a:xfrm>
            <a:off x="6407062" y="669018"/>
            <a:ext cx="3325661" cy="4755178"/>
          </a:xfrm>
          <a:prstGeom prst="rect">
            <a:avLst/>
          </a:prstGeom>
          <a:ln w="38100">
            <a:solidFill>
              <a:srgbClr val="FF0000"/>
            </a:solidFill>
          </a:ln>
        </p:spPr>
      </p:pic>
      <p:sp>
        <p:nvSpPr>
          <p:cNvPr id="8" name="TextBox 7">
            <a:extLst>
              <a:ext uri="{FF2B5EF4-FFF2-40B4-BE49-F238E27FC236}">
                <a16:creationId xmlns:a16="http://schemas.microsoft.com/office/drawing/2014/main" id="{5EBC977B-4BB2-571E-954E-FFAB8D74FBF0}"/>
              </a:ext>
            </a:extLst>
          </p:cNvPr>
          <p:cNvSpPr txBox="1"/>
          <p:nvPr/>
        </p:nvSpPr>
        <p:spPr>
          <a:xfrm>
            <a:off x="187890" y="1114816"/>
            <a:ext cx="5749447" cy="523220"/>
          </a:xfrm>
          <a:prstGeom prst="rect">
            <a:avLst/>
          </a:prstGeom>
          <a:noFill/>
        </p:spPr>
        <p:txBody>
          <a:bodyPr wrap="square" rtlCol="0">
            <a:spAutoFit/>
          </a:bodyPr>
          <a:lstStyle/>
          <a:p>
            <a:r>
              <a:rPr lang="en-US" sz="2800" dirty="0"/>
              <a:t>Create a folder: Week 6 Lab Practice</a:t>
            </a:r>
          </a:p>
        </p:txBody>
      </p:sp>
    </p:spTree>
    <p:extLst>
      <p:ext uri="{BB962C8B-B14F-4D97-AF65-F5344CB8AC3E}">
        <p14:creationId xmlns:p14="http://schemas.microsoft.com/office/powerpoint/2010/main" val="4193716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46193-68C5-1E7E-DE9C-A68BBE311A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31D7CF-CCB8-ED3A-474B-9F7CB3E581F5}"/>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8" name="TextBox 7">
            <a:extLst>
              <a:ext uri="{FF2B5EF4-FFF2-40B4-BE49-F238E27FC236}">
                <a16:creationId xmlns:a16="http://schemas.microsoft.com/office/drawing/2014/main" id="{E3695884-58B9-6DBE-6155-8C5F5AB4F801}"/>
              </a:ext>
            </a:extLst>
          </p:cNvPr>
          <p:cNvSpPr txBox="1"/>
          <p:nvPr/>
        </p:nvSpPr>
        <p:spPr>
          <a:xfrm>
            <a:off x="187890" y="1114816"/>
            <a:ext cx="6066775" cy="4549835"/>
          </a:xfrm>
          <a:prstGeom prst="rect">
            <a:avLst/>
          </a:prstGeom>
          <a:solidFill>
            <a:schemeClr val="bg1"/>
          </a:solidFill>
        </p:spPr>
        <p:txBody>
          <a:bodyPr wrap="square" rtlCol="0">
            <a:spAutoFit/>
          </a:bodyPr>
          <a:lstStyle/>
          <a:p>
            <a:pPr>
              <a:lnSpc>
                <a:spcPct val="150000"/>
              </a:lnSpc>
            </a:pPr>
            <a:r>
              <a:rPr lang="en-US" sz="2800" dirty="0"/>
              <a:t>Open Visual Studio Code </a:t>
            </a:r>
          </a:p>
          <a:p>
            <a:pPr>
              <a:lnSpc>
                <a:spcPct val="150000"/>
              </a:lnSpc>
            </a:pPr>
            <a:r>
              <a:rPr lang="en-US" sz="2800" dirty="0"/>
              <a:t>Click on:</a:t>
            </a:r>
          </a:p>
          <a:p>
            <a:pPr>
              <a:lnSpc>
                <a:spcPct val="150000"/>
              </a:lnSpc>
            </a:pPr>
            <a:r>
              <a:rPr lang="en-US" sz="2800" dirty="0"/>
              <a:t>File → Open Folder...</a:t>
            </a:r>
          </a:p>
          <a:p>
            <a:pPr>
              <a:lnSpc>
                <a:spcPct val="150000"/>
              </a:lnSpc>
            </a:pPr>
            <a:r>
              <a:rPr lang="en-US" sz="2800" dirty="0"/>
              <a:t>A window will open </a:t>
            </a:r>
          </a:p>
          <a:p>
            <a:pPr>
              <a:lnSpc>
                <a:spcPct val="150000"/>
              </a:lnSpc>
            </a:pPr>
            <a:r>
              <a:rPr lang="en-US" sz="2800" dirty="0"/>
              <a:t>Go to where your folder is saved (</a:t>
            </a:r>
            <a:r>
              <a:rPr lang="en-US" sz="2800" dirty="0" err="1"/>
              <a:t>e.g</a:t>
            </a:r>
            <a:r>
              <a:rPr lang="en-US" sz="2800" dirty="0"/>
              <a:t>, </a:t>
            </a:r>
            <a:r>
              <a:rPr lang="en-US" sz="2800" dirty="0">
                <a:highlight>
                  <a:srgbClr val="FFFF00"/>
                </a:highlight>
              </a:rPr>
              <a:t>C:\Week 6 Lab Practice</a:t>
            </a:r>
            <a:r>
              <a:rPr lang="en-US" sz="2800" dirty="0"/>
              <a:t>) </a:t>
            </a:r>
          </a:p>
          <a:p>
            <a:pPr>
              <a:lnSpc>
                <a:spcPct val="150000"/>
              </a:lnSpc>
            </a:pPr>
            <a:r>
              <a:rPr lang="en-US" sz="2800" dirty="0"/>
              <a:t>Click on the folder &gt;&gt; Click Select Folder</a:t>
            </a:r>
          </a:p>
        </p:txBody>
      </p:sp>
      <p:pic>
        <p:nvPicPr>
          <p:cNvPr id="4" name="Picture 3">
            <a:extLst>
              <a:ext uri="{FF2B5EF4-FFF2-40B4-BE49-F238E27FC236}">
                <a16:creationId xmlns:a16="http://schemas.microsoft.com/office/drawing/2014/main" id="{8ED7D0E7-90F0-B2DD-CFDC-2685E1DA9E12}"/>
              </a:ext>
            </a:extLst>
          </p:cNvPr>
          <p:cNvPicPr>
            <a:picLocks noChangeAspect="1"/>
          </p:cNvPicPr>
          <p:nvPr/>
        </p:nvPicPr>
        <p:blipFill>
          <a:blip r:embed="rId2"/>
          <a:srcRect r="61603" b="33478"/>
          <a:stretch>
            <a:fillRect/>
          </a:stretch>
        </p:blipFill>
        <p:spPr>
          <a:xfrm>
            <a:off x="6254665" y="0"/>
            <a:ext cx="5937335" cy="5786066"/>
          </a:xfrm>
          <a:prstGeom prst="rect">
            <a:avLst/>
          </a:prstGeom>
        </p:spPr>
      </p:pic>
      <p:sp>
        <p:nvSpPr>
          <p:cNvPr id="5" name="Rectangle: Rounded Corners 4">
            <a:extLst>
              <a:ext uri="{FF2B5EF4-FFF2-40B4-BE49-F238E27FC236}">
                <a16:creationId xmlns:a16="http://schemas.microsoft.com/office/drawing/2014/main" id="{4FA0198B-A3A7-EAA7-5819-FF1157D77B40}"/>
              </a:ext>
            </a:extLst>
          </p:cNvPr>
          <p:cNvSpPr/>
          <p:nvPr/>
        </p:nvSpPr>
        <p:spPr>
          <a:xfrm>
            <a:off x="6987209" y="2961861"/>
            <a:ext cx="5204791" cy="467139"/>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8149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5F760-07F4-5BE9-440D-A207B6759AE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627A8F0-7BA5-5F15-9947-8F555FD6367D}"/>
              </a:ext>
            </a:extLst>
          </p:cNvPr>
          <p:cNvPicPr>
            <a:picLocks noChangeAspect="1"/>
          </p:cNvPicPr>
          <p:nvPr/>
        </p:nvPicPr>
        <p:blipFill>
          <a:blip r:embed="rId2"/>
          <a:srcRect l="11821" t="4492" r="4131" b="20000"/>
          <a:stretch>
            <a:fillRect/>
          </a:stretch>
        </p:blipFill>
        <p:spPr>
          <a:xfrm>
            <a:off x="2971800" y="1023728"/>
            <a:ext cx="9220200" cy="4659287"/>
          </a:xfrm>
          <a:prstGeom prst="rect">
            <a:avLst/>
          </a:prstGeom>
        </p:spPr>
      </p:pic>
      <p:sp>
        <p:nvSpPr>
          <p:cNvPr id="2" name="Title 1">
            <a:extLst>
              <a:ext uri="{FF2B5EF4-FFF2-40B4-BE49-F238E27FC236}">
                <a16:creationId xmlns:a16="http://schemas.microsoft.com/office/drawing/2014/main" id="{922CE40F-6810-780D-6F5C-9281614DBCD0}"/>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8" name="TextBox 7">
            <a:extLst>
              <a:ext uri="{FF2B5EF4-FFF2-40B4-BE49-F238E27FC236}">
                <a16:creationId xmlns:a16="http://schemas.microsoft.com/office/drawing/2014/main" id="{680E04B6-2F19-9A27-6800-4F6CFF7E43A2}"/>
              </a:ext>
            </a:extLst>
          </p:cNvPr>
          <p:cNvSpPr txBox="1"/>
          <p:nvPr/>
        </p:nvSpPr>
        <p:spPr>
          <a:xfrm>
            <a:off x="0" y="1282149"/>
            <a:ext cx="2882349" cy="671851"/>
          </a:xfrm>
          <a:prstGeom prst="rect">
            <a:avLst/>
          </a:prstGeom>
          <a:solidFill>
            <a:schemeClr val="bg1"/>
          </a:solidFill>
        </p:spPr>
        <p:txBody>
          <a:bodyPr wrap="square" rtlCol="0">
            <a:spAutoFit/>
          </a:bodyPr>
          <a:lstStyle/>
          <a:p>
            <a:pPr>
              <a:lnSpc>
                <a:spcPct val="150000"/>
              </a:lnSpc>
            </a:pPr>
            <a:r>
              <a:rPr lang="en-US" sz="2800" dirty="0"/>
              <a:t>Select folder</a:t>
            </a:r>
          </a:p>
        </p:txBody>
      </p:sp>
      <p:sp>
        <p:nvSpPr>
          <p:cNvPr id="5" name="Rectangle: Rounded Corners 4">
            <a:extLst>
              <a:ext uri="{FF2B5EF4-FFF2-40B4-BE49-F238E27FC236}">
                <a16:creationId xmlns:a16="http://schemas.microsoft.com/office/drawing/2014/main" id="{91DFEF9E-CC4C-4B67-BDF2-8354BFF87B64}"/>
              </a:ext>
            </a:extLst>
          </p:cNvPr>
          <p:cNvSpPr/>
          <p:nvPr/>
        </p:nvSpPr>
        <p:spPr>
          <a:xfrm>
            <a:off x="2882349" y="983975"/>
            <a:ext cx="2554356" cy="29817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EC49069F-AB11-DD68-A638-5ECCF04387D7}"/>
              </a:ext>
            </a:extLst>
          </p:cNvPr>
          <p:cNvSpPr/>
          <p:nvPr/>
        </p:nvSpPr>
        <p:spPr>
          <a:xfrm>
            <a:off x="2971800" y="5128593"/>
            <a:ext cx="2554356" cy="29817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B0B6113D-E720-051D-AE3D-6871314D2D1F}"/>
              </a:ext>
            </a:extLst>
          </p:cNvPr>
          <p:cNvSpPr/>
          <p:nvPr/>
        </p:nvSpPr>
        <p:spPr>
          <a:xfrm>
            <a:off x="10515600" y="5364964"/>
            <a:ext cx="884582" cy="29817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6045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C9C70-B083-409C-8081-4C6A00F13B8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9D7EDD8-5C19-4AB0-32B6-2477E3E4EDE8}"/>
              </a:ext>
            </a:extLst>
          </p:cNvPr>
          <p:cNvPicPr>
            <a:picLocks noChangeAspect="1"/>
          </p:cNvPicPr>
          <p:nvPr/>
        </p:nvPicPr>
        <p:blipFill>
          <a:blip r:embed="rId2"/>
          <a:srcRect r="47255" b="23478"/>
          <a:stretch>
            <a:fillRect/>
          </a:stretch>
        </p:blipFill>
        <p:spPr>
          <a:xfrm>
            <a:off x="5158409" y="-23311"/>
            <a:ext cx="7033591" cy="5739933"/>
          </a:xfrm>
          <a:prstGeom prst="rect">
            <a:avLst/>
          </a:prstGeom>
        </p:spPr>
      </p:pic>
      <p:sp>
        <p:nvSpPr>
          <p:cNvPr id="2" name="Title 1">
            <a:extLst>
              <a:ext uri="{FF2B5EF4-FFF2-40B4-BE49-F238E27FC236}">
                <a16:creationId xmlns:a16="http://schemas.microsoft.com/office/drawing/2014/main" id="{9F79C5B6-6AFD-67F4-A4DF-BF790139426D}"/>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8" name="TextBox 7">
            <a:extLst>
              <a:ext uri="{FF2B5EF4-FFF2-40B4-BE49-F238E27FC236}">
                <a16:creationId xmlns:a16="http://schemas.microsoft.com/office/drawing/2014/main" id="{EF4B447F-9C81-D30B-5CE2-F97E6034F706}"/>
              </a:ext>
            </a:extLst>
          </p:cNvPr>
          <p:cNvSpPr txBox="1"/>
          <p:nvPr/>
        </p:nvSpPr>
        <p:spPr>
          <a:xfrm>
            <a:off x="0" y="1282149"/>
            <a:ext cx="4919870" cy="1964512"/>
          </a:xfrm>
          <a:prstGeom prst="rect">
            <a:avLst/>
          </a:prstGeom>
          <a:solidFill>
            <a:schemeClr val="bg1"/>
          </a:solidFill>
        </p:spPr>
        <p:txBody>
          <a:bodyPr wrap="square" rtlCol="0">
            <a:spAutoFit/>
          </a:bodyPr>
          <a:lstStyle/>
          <a:p>
            <a:pPr>
              <a:lnSpc>
                <a:spcPct val="150000"/>
              </a:lnSpc>
            </a:pPr>
            <a:r>
              <a:rPr lang="en-US" sz="2800" dirty="0"/>
              <a:t>Now it will appear on the left under Explorer: </a:t>
            </a:r>
            <a:br>
              <a:rPr lang="en-US" sz="2800" dirty="0"/>
            </a:br>
            <a:r>
              <a:rPr lang="en-US" sz="2800" dirty="0">
                <a:highlight>
                  <a:srgbClr val="FFFF00"/>
                </a:highlight>
              </a:rPr>
              <a:t>Week 6 Lab Practice</a:t>
            </a:r>
          </a:p>
        </p:txBody>
      </p:sp>
      <p:sp>
        <p:nvSpPr>
          <p:cNvPr id="5" name="Rectangle: Rounded Corners 4">
            <a:extLst>
              <a:ext uri="{FF2B5EF4-FFF2-40B4-BE49-F238E27FC236}">
                <a16:creationId xmlns:a16="http://schemas.microsoft.com/office/drawing/2014/main" id="{E42D3B50-BE20-3410-A533-88350EC1E01D}"/>
              </a:ext>
            </a:extLst>
          </p:cNvPr>
          <p:cNvSpPr/>
          <p:nvPr/>
        </p:nvSpPr>
        <p:spPr>
          <a:xfrm>
            <a:off x="5903845" y="1789045"/>
            <a:ext cx="2554356" cy="29817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6212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AD6A1-9156-1236-717F-1EC2D58B57A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085A7D3-D4F9-E821-FFEB-41B78BDFDA21}"/>
              </a:ext>
            </a:extLst>
          </p:cNvPr>
          <p:cNvSpPr txBox="1"/>
          <p:nvPr/>
        </p:nvSpPr>
        <p:spPr>
          <a:xfrm>
            <a:off x="0" y="477407"/>
            <a:ext cx="12192000" cy="6380593"/>
          </a:xfrm>
          <a:prstGeom prst="rect">
            <a:avLst/>
          </a:prstGeom>
          <a:solidFill>
            <a:schemeClr val="bg1"/>
          </a:solidFill>
        </p:spPr>
        <p:txBody>
          <a:bodyPr wrap="square">
            <a:spAutoFit/>
          </a:bodyPr>
          <a:lstStyle/>
          <a:p>
            <a:pPr>
              <a:lnSpc>
                <a:spcPct val="150000"/>
              </a:lnSpc>
              <a:buNone/>
            </a:pPr>
            <a:r>
              <a:rPr lang="en-US" sz="2500" b="1" dirty="0"/>
              <a:t>Project goal</a:t>
            </a:r>
          </a:p>
          <a:p>
            <a:pPr>
              <a:lnSpc>
                <a:spcPct val="150000"/>
              </a:lnSpc>
              <a:buNone/>
            </a:pPr>
            <a:r>
              <a:rPr lang="en-US" sz="2500" dirty="0"/>
              <a:t>Create a horizontal navigation bar with:</a:t>
            </a:r>
          </a:p>
          <a:p>
            <a:pPr marL="342900" indent="-342900">
              <a:lnSpc>
                <a:spcPct val="150000"/>
              </a:lnSpc>
              <a:buFont typeface="Arial" panose="020B0604020202020204" pitchFamily="34" charset="0"/>
              <a:buChar char="•"/>
            </a:pPr>
            <a:r>
              <a:rPr lang="en-US" sz="2500" dirty="0"/>
              <a:t>Home </a:t>
            </a:r>
          </a:p>
          <a:p>
            <a:pPr marL="342900" indent="-342900">
              <a:lnSpc>
                <a:spcPct val="150000"/>
              </a:lnSpc>
              <a:buFont typeface="Arial" panose="020B0604020202020204" pitchFamily="34" charset="0"/>
              <a:buChar char="•"/>
            </a:pPr>
            <a:r>
              <a:rPr lang="en-US" sz="2500" dirty="0"/>
              <a:t>News </a:t>
            </a:r>
          </a:p>
          <a:p>
            <a:pPr marL="342900" indent="-342900">
              <a:lnSpc>
                <a:spcPct val="150000"/>
              </a:lnSpc>
              <a:buFont typeface="Arial" panose="020B0604020202020204" pitchFamily="34" charset="0"/>
              <a:buChar char="•"/>
            </a:pPr>
            <a:r>
              <a:rPr lang="en-US" sz="2500" dirty="0"/>
              <a:t>Dropdown </a:t>
            </a:r>
          </a:p>
          <a:p>
            <a:pPr marL="342900" indent="-342900">
              <a:lnSpc>
                <a:spcPct val="150000"/>
              </a:lnSpc>
              <a:buFont typeface="Arial" panose="020B0604020202020204" pitchFamily="34" charset="0"/>
              <a:buChar char="•"/>
            </a:pPr>
            <a:r>
              <a:rPr lang="en-US" sz="2500" dirty="0"/>
              <a:t>a drop-down menu showing: </a:t>
            </a:r>
          </a:p>
          <a:p>
            <a:pPr marL="742950" lvl="1" indent="-285750">
              <a:lnSpc>
                <a:spcPct val="150000"/>
              </a:lnSpc>
              <a:buFont typeface="Arial" panose="020B0604020202020204" pitchFamily="34" charset="0"/>
              <a:buChar char="•"/>
            </a:pPr>
            <a:r>
              <a:rPr lang="en-US" sz="2500" dirty="0"/>
              <a:t>Link 1 </a:t>
            </a:r>
          </a:p>
          <a:p>
            <a:pPr marL="742950" lvl="1" indent="-285750">
              <a:lnSpc>
                <a:spcPct val="150000"/>
              </a:lnSpc>
              <a:buFont typeface="Arial" panose="020B0604020202020204" pitchFamily="34" charset="0"/>
              <a:buChar char="•"/>
            </a:pPr>
            <a:r>
              <a:rPr lang="en-US" sz="2500" dirty="0"/>
              <a:t>Link 2 </a:t>
            </a:r>
          </a:p>
          <a:p>
            <a:pPr marL="742950" lvl="1" indent="-285750">
              <a:lnSpc>
                <a:spcPct val="150000"/>
              </a:lnSpc>
              <a:buFont typeface="Arial" panose="020B0604020202020204" pitchFamily="34" charset="0"/>
              <a:buChar char="•"/>
            </a:pPr>
            <a:r>
              <a:rPr lang="en-US" sz="2500" dirty="0"/>
              <a:t>Link 3 </a:t>
            </a:r>
          </a:p>
          <a:p>
            <a:pPr>
              <a:lnSpc>
                <a:spcPct val="150000"/>
              </a:lnSpc>
              <a:buNone/>
            </a:pPr>
            <a:r>
              <a:rPr lang="en-US" sz="2500" dirty="0"/>
              <a:t>The red part is the active dropdown button, and the links appear when the mouse is placed over it.</a:t>
            </a:r>
          </a:p>
        </p:txBody>
      </p:sp>
      <p:sp>
        <p:nvSpPr>
          <p:cNvPr id="2" name="Title 1">
            <a:extLst>
              <a:ext uri="{FF2B5EF4-FFF2-40B4-BE49-F238E27FC236}">
                <a16:creationId xmlns:a16="http://schemas.microsoft.com/office/drawing/2014/main" id="{044EB0FF-07A1-F616-6CD0-9F711DE17555}"/>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Tree>
    <p:extLst>
      <p:ext uri="{BB962C8B-B14F-4D97-AF65-F5344CB8AC3E}">
        <p14:creationId xmlns:p14="http://schemas.microsoft.com/office/powerpoint/2010/main" val="2626229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2860D-573C-59C1-3E02-8A755CE2956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1ACEC86-BDB1-8591-3E48-B83679132B65}"/>
              </a:ext>
            </a:extLst>
          </p:cNvPr>
          <p:cNvSpPr txBox="1"/>
          <p:nvPr/>
        </p:nvSpPr>
        <p:spPr>
          <a:xfrm>
            <a:off x="0" y="669018"/>
            <a:ext cx="12192000" cy="3257174"/>
          </a:xfrm>
          <a:prstGeom prst="rect">
            <a:avLst/>
          </a:prstGeom>
          <a:solidFill>
            <a:schemeClr val="bg1"/>
          </a:solidFill>
        </p:spPr>
        <p:txBody>
          <a:bodyPr wrap="square">
            <a:spAutoFit/>
          </a:bodyPr>
          <a:lstStyle/>
          <a:p>
            <a:pPr>
              <a:lnSpc>
                <a:spcPct val="150000"/>
              </a:lnSpc>
            </a:pPr>
            <a:r>
              <a:rPr lang="en-US" sz="2800" b="1" dirty="0"/>
              <a:t>Step 1: Create the project folder</a:t>
            </a:r>
          </a:p>
          <a:p>
            <a:pPr>
              <a:lnSpc>
                <a:spcPct val="150000"/>
              </a:lnSpc>
            </a:pPr>
            <a:r>
              <a:rPr lang="en-US" sz="2800" dirty="0"/>
              <a:t>In Visual Studio Code:</a:t>
            </a:r>
          </a:p>
          <a:p>
            <a:pPr marL="514350" indent="-514350">
              <a:lnSpc>
                <a:spcPct val="150000"/>
              </a:lnSpc>
              <a:buFont typeface="+mj-lt"/>
              <a:buAutoNum type="arabicPeriod"/>
            </a:pPr>
            <a:r>
              <a:rPr lang="en-US" sz="2800" dirty="0"/>
              <a:t>Inside that folder, create a new file named: </a:t>
            </a:r>
          </a:p>
          <a:p>
            <a:pPr>
              <a:lnSpc>
                <a:spcPct val="150000"/>
              </a:lnSpc>
            </a:pPr>
            <a:r>
              <a:rPr lang="en-US" sz="2800" dirty="0">
                <a:highlight>
                  <a:srgbClr val="FFFF00"/>
                </a:highlight>
              </a:rPr>
              <a:t>Week6_index.html</a:t>
            </a:r>
          </a:p>
          <a:p>
            <a:pPr>
              <a:lnSpc>
                <a:spcPct val="150000"/>
              </a:lnSpc>
            </a:pPr>
            <a:r>
              <a:rPr lang="en-US" sz="2800" dirty="0"/>
              <a:t>You can keep everything in one file for this task.</a:t>
            </a:r>
          </a:p>
        </p:txBody>
      </p:sp>
      <p:sp>
        <p:nvSpPr>
          <p:cNvPr id="2" name="Title 1">
            <a:extLst>
              <a:ext uri="{FF2B5EF4-FFF2-40B4-BE49-F238E27FC236}">
                <a16:creationId xmlns:a16="http://schemas.microsoft.com/office/drawing/2014/main" id="{CCA2DF26-F92B-3AE8-7660-01E882402038}"/>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pic>
        <p:nvPicPr>
          <p:cNvPr id="4" name="Picture 3">
            <a:extLst>
              <a:ext uri="{FF2B5EF4-FFF2-40B4-BE49-F238E27FC236}">
                <a16:creationId xmlns:a16="http://schemas.microsoft.com/office/drawing/2014/main" id="{C04336A0-D84D-D0E3-7CCD-53FEE4CFC5D2}"/>
              </a:ext>
            </a:extLst>
          </p:cNvPr>
          <p:cNvPicPr>
            <a:picLocks noChangeAspect="1"/>
          </p:cNvPicPr>
          <p:nvPr/>
        </p:nvPicPr>
        <p:blipFill>
          <a:blip r:embed="rId2"/>
          <a:srcRect r="69589" b="48310"/>
          <a:stretch>
            <a:fillRect/>
          </a:stretch>
        </p:blipFill>
        <p:spPr>
          <a:xfrm>
            <a:off x="7195930" y="0"/>
            <a:ext cx="4996070" cy="4776648"/>
          </a:xfrm>
          <a:prstGeom prst="rect">
            <a:avLst/>
          </a:prstGeom>
          <a:ln>
            <a:solidFill>
              <a:srgbClr val="FF0000"/>
            </a:solidFill>
          </a:ln>
        </p:spPr>
      </p:pic>
      <p:sp>
        <p:nvSpPr>
          <p:cNvPr id="5" name="Rectangle: Rounded Corners 4">
            <a:extLst>
              <a:ext uri="{FF2B5EF4-FFF2-40B4-BE49-F238E27FC236}">
                <a16:creationId xmlns:a16="http://schemas.microsoft.com/office/drawing/2014/main" id="{B13F1F8B-79D0-B90E-172B-70D3BC788742}"/>
              </a:ext>
            </a:extLst>
          </p:cNvPr>
          <p:cNvSpPr/>
          <p:nvPr/>
        </p:nvSpPr>
        <p:spPr>
          <a:xfrm>
            <a:off x="10227365" y="2146852"/>
            <a:ext cx="447261" cy="49695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2113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8AF9A-3466-0CB5-A948-6116A6D0D5F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1BEA2A3-DBE2-870A-6AC6-E283C34356D1}"/>
              </a:ext>
            </a:extLst>
          </p:cNvPr>
          <p:cNvSpPr txBox="1"/>
          <p:nvPr/>
        </p:nvSpPr>
        <p:spPr>
          <a:xfrm>
            <a:off x="0" y="669018"/>
            <a:ext cx="12192000" cy="3903504"/>
          </a:xfrm>
          <a:prstGeom prst="rect">
            <a:avLst/>
          </a:prstGeom>
          <a:solidFill>
            <a:schemeClr val="bg1"/>
          </a:solidFill>
        </p:spPr>
        <p:txBody>
          <a:bodyPr wrap="square">
            <a:spAutoFit/>
          </a:bodyPr>
          <a:lstStyle/>
          <a:p>
            <a:pPr>
              <a:lnSpc>
                <a:spcPct val="150000"/>
              </a:lnSpc>
            </a:pPr>
            <a:r>
              <a:rPr lang="en-US" sz="2800" b="1" dirty="0"/>
              <a:t>Step 1: Create the project folder</a:t>
            </a:r>
          </a:p>
          <a:p>
            <a:pPr>
              <a:lnSpc>
                <a:spcPct val="150000"/>
              </a:lnSpc>
            </a:pPr>
            <a:r>
              <a:rPr lang="en-US" sz="2800" dirty="0"/>
              <a:t>In Visual Studio Code:</a:t>
            </a:r>
          </a:p>
          <a:p>
            <a:pPr marL="514350" indent="-514350">
              <a:lnSpc>
                <a:spcPct val="150000"/>
              </a:lnSpc>
              <a:buFont typeface="+mj-lt"/>
              <a:buAutoNum type="arabicPeriod"/>
            </a:pPr>
            <a:r>
              <a:rPr lang="en-US" sz="2800" dirty="0"/>
              <a:t>Inside that folder, create a </a:t>
            </a:r>
            <a:br>
              <a:rPr lang="en-US" sz="2800" dirty="0"/>
            </a:br>
            <a:r>
              <a:rPr lang="en-US" sz="2800" dirty="0"/>
              <a:t>new file named: </a:t>
            </a:r>
          </a:p>
          <a:p>
            <a:pPr>
              <a:lnSpc>
                <a:spcPct val="150000"/>
              </a:lnSpc>
            </a:pPr>
            <a:r>
              <a:rPr lang="en-US" sz="2800" dirty="0">
                <a:highlight>
                  <a:srgbClr val="FFFF00"/>
                </a:highlight>
              </a:rPr>
              <a:t>Week6_index.html</a:t>
            </a:r>
          </a:p>
          <a:p>
            <a:pPr>
              <a:lnSpc>
                <a:spcPct val="150000"/>
              </a:lnSpc>
            </a:pPr>
            <a:r>
              <a:rPr lang="en-US" sz="2800" dirty="0"/>
              <a:t>You can keep everything in one file for this task.</a:t>
            </a:r>
          </a:p>
        </p:txBody>
      </p:sp>
      <p:sp>
        <p:nvSpPr>
          <p:cNvPr id="2" name="Title 1">
            <a:extLst>
              <a:ext uri="{FF2B5EF4-FFF2-40B4-BE49-F238E27FC236}">
                <a16:creationId xmlns:a16="http://schemas.microsoft.com/office/drawing/2014/main" id="{0F9AAE68-188C-5762-0F79-5CA236165AF7}"/>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pic>
        <p:nvPicPr>
          <p:cNvPr id="7" name="Picture 6">
            <a:extLst>
              <a:ext uri="{FF2B5EF4-FFF2-40B4-BE49-F238E27FC236}">
                <a16:creationId xmlns:a16="http://schemas.microsoft.com/office/drawing/2014/main" id="{71F28AAC-F326-4E88-A4F9-D390BCC18BFD}"/>
              </a:ext>
            </a:extLst>
          </p:cNvPr>
          <p:cNvPicPr>
            <a:picLocks noChangeAspect="1"/>
          </p:cNvPicPr>
          <p:nvPr/>
        </p:nvPicPr>
        <p:blipFill>
          <a:blip r:embed="rId2"/>
          <a:srcRect r="36168" b="58841"/>
          <a:stretch>
            <a:fillRect/>
          </a:stretch>
        </p:blipFill>
        <p:spPr>
          <a:xfrm>
            <a:off x="4902908" y="16132"/>
            <a:ext cx="7289092" cy="2643808"/>
          </a:xfrm>
          <a:prstGeom prst="rect">
            <a:avLst/>
          </a:prstGeom>
        </p:spPr>
      </p:pic>
      <p:sp>
        <p:nvSpPr>
          <p:cNvPr id="5" name="Rectangle: Rounded Corners 4">
            <a:extLst>
              <a:ext uri="{FF2B5EF4-FFF2-40B4-BE49-F238E27FC236}">
                <a16:creationId xmlns:a16="http://schemas.microsoft.com/office/drawing/2014/main" id="{086E439E-39E9-460C-7F93-4DD942B93331}"/>
              </a:ext>
            </a:extLst>
          </p:cNvPr>
          <p:cNvSpPr/>
          <p:nvPr/>
        </p:nvSpPr>
        <p:spPr>
          <a:xfrm>
            <a:off x="8567332" y="919043"/>
            <a:ext cx="2067538" cy="33328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1795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DD5D1-B045-0424-6DD2-038E27B7626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38F1A09-748E-E8D4-21A2-0AD4F96B2B15}"/>
              </a:ext>
            </a:extLst>
          </p:cNvPr>
          <p:cNvSpPr txBox="1"/>
          <p:nvPr/>
        </p:nvSpPr>
        <p:spPr>
          <a:xfrm>
            <a:off x="0" y="669018"/>
            <a:ext cx="12192000" cy="1318181"/>
          </a:xfrm>
          <a:prstGeom prst="rect">
            <a:avLst/>
          </a:prstGeom>
          <a:solidFill>
            <a:schemeClr val="bg1"/>
          </a:solidFill>
        </p:spPr>
        <p:txBody>
          <a:bodyPr wrap="square">
            <a:spAutoFit/>
          </a:bodyPr>
          <a:lstStyle/>
          <a:p>
            <a:pPr>
              <a:lnSpc>
                <a:spcPct val="150000"/>
              </a:lnSpc>
            </a:pPr>
            <a:r>
              <a:rPr lang="en-US" sz="2800" b="1" dirty="0"/>
              <a:t>Step 2: Write the HTML structure</a:t>
            </a:r>
          </a:p>
          <a:p>
            <a:pPr>
              <a:lnSpc>
                <a:spcPct val="150000"/>
              </a:lnSpc>
            </a:pPr>
            <a:r>
              <a:rPr lang="en-US" sz="2800" dirty="0"/>
              <a:t>Write this code first:</a:t>
            </a:r>
          </a:p>
        </p:txBody>
      </p:sp>
      <p:sp>
        <p:nvSpPr>
          <p:cNvPr id="2" name="Title 1">
            <a:extLst>
              <a:ext uri="{FF2B5EF4-FFF2-40B4-BE49-F238E27FC236}">
                <a16:creationId xmlns:a16="http://schemas.microsoft.com/office/drawing/2014/main" id="{F9C4D54A-A4BC-27FB-2274-5ED47CF39F51}"/>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4" name="TextBox 3">
            <a:extLst>
              <a:ext uri="{FF2B5EF4-FFF2-40B4-BE49-F238E27FC236}">
                <a16:creationId xmlns:a16="http://schemas.microsoft.com/office/drawing/2014/main" id="{61A7D4F5-0DB2-0F60-4F48-F3AF92DC5F0A}"/>
              </a:ext>
            </a:extLst>
          </p:cNvPr>
          <p:cNvSpPr txBox="1"/>
          <p:nvPr/>
        </p:nvSpPr>
        <p:spPr>
          <a:xfrm>
            <a:off x="-1" y="1987199"/>
            <a:ext cx="12192000" cy="4324261"/>
          </a:xfrm>
          <a:prstGeom prst="rect">
            <a:avLst/>
          </a:prstGeom>
          <a:solidFill>
            <a:schemeClr val="tx1"/>
          </a:solidFill>
        </p:spPr>
        <p:txBody>
          <a:bodyPr wrap="square">
            <a:spAutoFit/>
          </a:bodyPr>
          <a:lstStyle/>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DOCTYPE</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head</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title</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Dropdown Navigation Bar</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title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head</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9" name="TextBox 8">
            <a:extLst>
              <a:ext uri="{FF2B5EF4-FFF2-40B4-BE49-F238E27FC236}">
                <a16:creationId xmlns:a16="http://schemas.microsoft.com/office/drawing/2014/main" id="{1B92E4F3-4B3A-2F07-F634-8F15D3DB734C}"/>
              </a:ext>
            </a:extLst>
          </p:cNvPr>
          <p:cNvSpPr txBox="1"/>
          <p:nvPr/>
        </p:nvSpPr>
        <p:spPr>
          <a:xfrm>
            <a:off x="5006898" y="1997126"/>
            <a:ext cx="7185101" cy="671851"/>
          </a:xfrm>
          <a:prstGeom prst="rect">
            <a:avLst/>
          </a:prstGeom>
          <a:noFill/>
          <a:ln>
            <a:solidFill>
              <a:srgbClr val="FF0000"/>
            </a:solidFill>
          </a:ln>
        </p:spPr>
        <p:txBody>
          <a:bodyPr wrap="square">
            <a:spAutoFit/>
          </a:bodyPr>
          <a:lstStyle/>
          <a:p>
            <a:pPr>
              <a:lnSpc>
                <a:spcPct val="150000"/>
              </a:lnSpc>
            </a:pPr>
            <a:r>
              <a:rPr lang="en-US" sz="2800" dirty="0">
                <a:solidFill>
                  <a:schemeClr val="bg1"/>
                </a:solidFill>
              </a:rPr>
              <a:t>Tells the browser this is an </a:t>
            </a:r>
            <a:r>
              <a:rPr lang="en-US" sz="2800" b="1" dirty="0">
                <a:solidFill>
                  <a:schemeClr val="bg1"/>
                </a:solidFill>
              </a:rPr>
              <a:t>HTML5</a:t>
            </a:r>
            <a:r>
              <a:rPr lang="en-US" sz="2800" dirty="0">
                <a:solidFill>
                  <a:schemeClr val="bg1"/>
                </a:solidFill>
              </a:rPr>
              <a:t> document.</a:t>
            </a:r>
          </a:p>
        </p:txBody>
      </p:sp>
      <p:sp>
        <p:nvSpPr>
          <p:cNvPr id="10" name="Rectangle: Rounded Corners 9">
            <a:extLst>
              <a:ext uri="{FF2B5EF4-FFF2-40B4-BE49-F238E27FC236}">
                <a16:creationId xmlns:a16="http://schemas.microsoft.com/office/drawing/2014/main" id="{551B8CFE-812E-6B7B-8F32-8B7E38FCB996}"/>
              </a:ext>
            </a:extLst>
          </p:cNvPr>
          <p:cNvSpPr/>
          <p:nvPr/>
        </p:nvSpPr>
        <p:spPr>
          <a:xfrm>
            <a:off x="0" y="1987199"/>
            <a:ext cx="2810107" cy="43261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14589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67C71-6806-C0F9-55E8-3F4B9144270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BD906E6-9E6A-D563-72D0-6B95A69FF952}"/>
              </a:ext>
            </a:extLst>
          </p:cNvPr>
          <p:cNvSpPr txBox="1"/>
          <p:nvPr/>
        </p:nvSpPr>
        <p:spPr>
          <a:xfrm>
            <a:off x="0" y="669018"/>
            <a:ext cx="12192000" cy="1318181"/>
          </a:xfrm>
          <a:prstGeom prst="rect">
            <a:avLst/>
          </a:prstGeom>
          <a:solidFill>
            <a:schemeClr val="bg1"/>
          </a:solidFill>
        </p:spPr>
        <p:txBody>
          <a:bodyPr wrap="square">
            <a:spAutoFit/>
          </a:bodyPr>
          <a:lstStyle/>
          <a:p>
            <a:pPr>
              <a:lnSpc>
                <a:spcPct val="150000"/>
              </a:lnSpc>
            </a:pPr>
            <a:r>
              <a:rPr lang="en-US" sz="2800" b="1" dirty="0"/>
              <a:t>Step 2: Write the HTML structure</a:t>
            </a:r>
          </a:p>
          <a:p>
            <a:pPr>
              <a:lnSpc>
                <a:spcPct val="150000"/>
              </a:lnSpc>
            </a:pPr>
            <a:r>
              <a:rPr lang="en-US" sz="2800" dirty="0"/>
              <a:t>Write this code first:</a:t>
            </a:r>
          </a:p>
        </p:txBody>
      </p:sp>
      <p:sp>
        <p:nvSpPr>
          <p:cNvPr id="2" name="Title 1">
            <a:extLst>
              <a:ext uri="{FF2B5EF4-FFF2-40B4-BE49-F238E27FC236}">
                <a16:creationId xmlns:a16="http://schemas.microsoft.com/office/drawing/2014/main" id="{7892316F-26B3-068B-06C8-CB52032E15C8}"/>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4" name="TextBox 3">
            <a:extLst>
              <a:ext uri="{FF2B5EF4-FFF2-40B4-BE49-F238E27FC236}">
                <a16:creationId xmlns:a16="http://schemas.microsoft.com/office/drawing/2014/main" id="{A6E9384D-D711-136C-3204-C57D4D0098C9}"/>
              </a:ext>
            </a:extLst>
          </p:cNvPr>
          <p:cNvSpPr txBox="1"/>
          <p:nvPr/>
        </p:nvSpPr>
        <p:spPr>
          <a:xfrm>
            <a:off x="-1" y="1987199"/>
            <a:ext cx="12192000" cy="4324261"/>
          </a:xfrm>
          <a:prstGeom prst="rect">
            <a:avLst/>
          </a:prstGeom>
          <a:solidFill>
            <a:schemeClr val="tx1"/>
          </a:solidFill>
        </p:spPr>
        <p:txBody>
          <a:bodyPr wrap="square">
            <a:spAutoFit/>
          </a:bodyPr>
          <a:lstStyle/>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DOCTYPE</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head</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title</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Dropdown Navigation Bar</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title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head</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9" name="TextBox 8">
            <a:extLst>
              <a:ext uri="{FF2B5EF4-FFF2-40B4-BE49-F238E27FC236}">
                <a16:creationId xmlns:a16="http://schemas.microsoft.com/office/drawing/2014/main" id="{48835FA1-B625-AB61-0A80-513456F7185B}"/>
              </a:ext>
            </a:extLst>
          </p:cNvPr>
          <p:cNvSpPr txBox="1"/>
          <p:nvPr/>
        </p:nvSpPr>
        <p:spPr>
          <a:xfrm>
            <a:off x="5006898" y="1997126"/>
            <a:ext cx="7185101" cy="671851"/>
          </a:xfrm>
          <a:prstGeom prst="rect">
            <a:avLst/>
          </a:prstGeom>
          <a:noFill/>
          <a:ln>
            <a:solidFill>
              <a:srgbClr val="FF0000"/>
            </a:solidFill>
          </a:ln>
        </p:spPr>
        <p:txBody>
          <a:bodyPr wrap="square">
            <a:spAutoFit/>
          </a:bodyPr>
          <a:lstStyle/>
          <a:p>
            <a:pPr>
              <a:lnSpc>
                <a:spcPct val="150000"/>
              </a:lnSpc>
            </a:pPr>
            <a:r>
              <a:rPr lang="en-US" sz="2800" dirty="0">
                <a:solidFill>
                  <a:schemeClr val="bg1"/>
                </a:solidFill>
              </a:rPr>
              <a:t>Starts the HTML page.</a:t>
            </a:r>
          </a:p>
        </p:txBody>
      </p:sp>
      <p:sp>
        <p:nvSpPr>
          <p:cNvPr id="10" name="Rectangle: Rounded Corners 9">
            <a:extLst>
              <a:ext uri="{FF2B5EF4-FFF2-40B4-BE49-F238E27FC236}">
                <a16:creationId xmlns:a16="http://schemas.microsoft.com/office/drawing/2014/main" id="{709F55C1-5259-C4FB-A308-F19DFDB7A3FC}"/>
              </a:ext>
            </a:extLst>
          </p:cNvPr>
          <p:cNvSpPr/>
          <p:nvPr/>
        </p:nvSpPr>
        <p:spPr>
          <a:xfrm>
            <a:off x="-22303" y="2388643"/>
            <a:ext cx="2810107" cy="43261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7317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6AC31-1832-836E-0F3C-2121498B670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BC079C7-F148-EAD1-CA21-01F1777F4CAB}"/>
              </a:ext>
            </a:extLst>
          </p:cNvPr>
          <p:cNvSpPr txBox="1"/>
          <p:nvPr/>
        </p:nvSpPr>
        <p:spPr>
          <a:xfrm>
            <a:off x="0" y="669018"/>
            <a:ext cx="12192000" cy="1318181"/>
          </a:xfrm>
          <a:prstGeom prst="rect">
            <a:avLst/>
          </a:prstGeom>
          <a:solidFill>
            <a:schemeClr val="bg1"/>
          </a:solidFill>
        </p:spPr>
        <p:txBody>
          <a:bodyPr wrap="square">
            <a:spAutoFit/>
          </a:bodyPr>
          <a:lstStyle/>
          <a:p>
            <a:pPr>
              <a:lnSpc>
                <a:spcPct val="150000"/>
              </a:lnSpc>
            </a:pPr>
            <a:r>
              <a:rPr lang="en-US" sz="2800" b="1" dirty="0"/>
              <a:t>Step 2: Write the HTML structure</a:t>
            </a:r>
          </a:p>
          <a:p>
            <a:pPr>
              <a:lnSpc>
                <a:spcPct val="150000"/>
              </a:lnSpc>
            </a:pPr>
            <a:r>
              <a:rPr lang="en-US" sz="2800" dirty="0"/>
              <a:t>Write this code first:</a:t>
            </a:r>
          </a:p>
        </p:txBody>
      </p:sp>
      <p:sp>
        <p:nvSpPr>
          <p:cNvPr id="2" name="Title 1">
            <a:extLst>
              <a:ext uri="{FF2B5EF4-FFF2-40B4-BE49-F238E27FC236}">
                <a16:creationId xmlns:a16="http://schemas.microsoft.com/office/drawing/2014/main" id="{E7713671-D475-F234-3F93-04EC4BB573B1}"/>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4" name="TextBox 3">
            <a:extLst>
              <a:ext uri="{FF2B5EF4-FFF2-40B4-BE49-F238E27FC236}">
                <a16:creationId xmlns:a16="http://schemas.microsoft.com/office/drawing/2014/main" id="{02948D0C-F08F-E88D-F838-0099E579274E}"/>
              </a:ext>
            </a:extLst>
          </p:cNvPr>
          <p:cNvSpPr txBox="1"/>
          <p:nvPr/>
        </p:nvSpPr>
        <p:spPr>
          <a:xfrm>
            <a:off x="-1" y="1987199"/>
            <a:ext cx="12192000" cy="4324261"/>
          </a:xfrm>
          <a:prstGeom prst="rect">
            <a:avLst/>
          </a:prstGeom>
          <a:solidFill>
            <a:schemeClr val="tx1"/>
          </a:solidFill>
        </p:spPr>
        <p:txBody>
          <a:bodyPr wrap="square">
            <a:spAutoFit/>
          </a:bodyPr>
          <a:lstStyle/>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DOCTYPE</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head</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title</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Dropdown Navigation Bar</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title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head</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9" name="TextBox 8">
            <a:extLst>
              <a:ext uri="{FF2B5EF4-FFF2-40B4-BE49-F238E27FC236}">
                <a16:creationId xmlns:a16="http://schemas.microsoft.com/office/drawing/2014/main" id="{ADE3B054-5B54-369A-D107-7BDCC5481449}"/>
              </a:ext>
            </a:extLst>
          </p:cNvPr>
          <p:cNvSpPr txBox="1"/>
          <p:nvPr/>
        </p:nvSpPr>
        <p:spPr>
          <a:xfrm>
            <a:off x="3947532" y="1997126"/>
            <a:ext cx="8244467" cy="671851"/>
          </a:xfrm>
          <a:prstGeom prst="rect">
            <a:avLst/>
          </a:prstGeom>
          <a:noFill/>
          <a:ln>
            <a:solidFill>
              <a:srgbClr val="FF0000"/>
            </a:solidFill>
          </a:ln>
        </p:spPr>
        <p:txBody>
          <a:bodyPr wrap="square">
            <a:spAutoFit/>
          </a:bodyPr>
          <a:lstStyle/>
          <a:p>
            <a:pPr>
              <a:lnSpc>
                <a:spcPct val="150000"/>
              </a:lnSpc>
            </a:pPr>
            <a:r>
              <a:rPr lang="en-US" sz="2800" dirty="0">
                <a:solidFill>
                  <a:schemeClr val="bg1"/>
                </a:solidFill>
              </a:rPr>
              <a:t>Contains information about the page, like title and CSS.</a:t>
            </a:r>
          </a:p>
        </p:txBody>
      </p:sp>
      <p:sp>
        <p:nvSpPr>
          <p:cNvPr id="10" name="Rectangle: Rounded Corners 9">
            <a:extLst>
              <a:ext uri="{FF2B5EF4-FFF2-40B4-BE49-F238E27FC236}">
                <a16:creationId xmlns:a16="http://schemas.microsoft.com/office/drawing/2014/main" id="{3254278B-90AB-73C0-9989-695461894FF3}"/>
              </a:ext>
            </a:extLst>
          </p:cNvPr>
          <p:cNvSpPr/>
          <p:nvPr/>
        </p:nvSpPr>
        <p:spPr>
          <a:xfrm>
            <a:off x="22301" y="2801238"/>
            <a:ext cx="2810107" cy="43261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0663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05F17-7F91-BA33-599C-F1D9CBE1AFC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8DC428E-BAE0-DC05-3748-90D749FE3500}"/>
              </a:ext>
            </a:extLst>
          </p:cNvPr>
          <p:cNvSpPr txBox="1"/>
          <p:nvPr/>
        </p:nvSpPr>
        <p:spPr>
          <a:xfrm>
            <a:off x="0" y="669018"/>
            <a:ext cx="12192000" cy="1318181"/>
          </a:xfrm>
          <a:prstGeom prst="rect">
            <a:avLst/>
          </a:prstGeom>
          <a:solidFill>
            <a:schemeClr val="bg1"/>
          </a:solidFill>
        </p:spPr>
        <p:txBody>
          <a:bodyPr wrap="square">
            <a:spAutoFit/>
          </a:bodyPr>
          <a:lstStyle/>
          <a:p>
            <a:pPr>
              <a:lnSpc>
                <a:spcPct val="150000"/>
              </a:lnSpc>
            </a:pPr>
            <a:r>
              <a:rPr lang="en-US" sz="2800" b="1" dirty="0"/>
              <a:t>Step 2: Write the HTML structure</a:t>
            </a:r>
          </a:p>
          <a:p>
            <a:pPr>
              <a:lnSpc>
                <a:spcPct val="150000"/>
              </a:lnSpc>
            </a:pPr>
            <a:r>
              <a:rPr lang="en-US" sz="2800" dirty="0"/>
              <a:t>Write this code first:</a:t>
            </a:r>
          </a:p>
        </p:txBody>
      </p:sp>
      <p:sp>
        <p:nvSpPr>
          <p:cNvPr id="2" name="Title 1">
            <a:extLst>
              <a:ext uri="{FF2B5EF4-FFF2-40B4-BE49-F238E27FC236}">
                <a16:creationId xmlns:a16="http://schemas.microsoft.com/office/drawing/2014/main" id="{D07EB02C-3AB8-329D-348D-81824C056C35}"/>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4" name="TextBox 3">
            <a:extLst>
              <a:ext uri="{FF2B5EF4-FFF2-40B4-BE49-F238E27FC236}">
                <a16:creationId xmlns:a16="http://schemas.microsoft.com/office/drawing/2014/main" id="{03B42145-F191-EBDB-0FBD-32C7CB8FAA59}"/>
              </a:ext>
            </a:extLst>
          </p:cNvPr>
          <p:cNvSpPr txBox="1"/>
          <p:nvPr/>
        </p:nvSpPr>
        <p:spPr>
          <a:xfrm>
            <a:off x="-1" y="1987199"/>
            <a:ext cx="12192000" cy="4324261"/>
          </a:xfrm>
          <a:prstGeom prst="rect">
            <a:avLst/>
          </a:prstGeom>
          <a:solidFill>
            <a:schemeClr val="tx1"/>
          </a:solidFill>
        </p:spPr>
        <p:txBody>
          <a:bodyPr wrap="square">
            <a:spAutoFit/>
          </a:bodyPr>
          <a:lstStyle/>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DOCTYPE</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head</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title</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Dropdown Navigation Bar</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title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head</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9" name="TextBox 8">
            <a:extLst>
              <a:ext uri="{FF2B5EF4-FFF2-40B4-BE49-F238E27FC236}">
                <a16:creationId xmlns:a16="http://schemas.microsoft.com/office/drawing/2014/main" id="{678C39BB-D4AA-B625-D1BE-57E3C9545596}"/>
              </a:ext>
            </a:extLst>
          </p:cNvPr>
          <p:cNvSpPr txBox="1"/>
          <p:nvPr/>
        </p:nvSpPr>
        <p:spPr>
          <a:xfrm>
            <a:off x="5296829" y="1997126"/>
            <a:ext cx="6895170" cy="671851"/>
          </a:xfrm>
          <a:prstGeom prst="rect">
            <a:avLst/>
          </a:prstGeom>
          <a:noFill/>
          <a:ln>
            <a:solidFill>
              <a:srgbClr val="FF0000"/>
            </a:solidFill>
          </a:ln>
        </p:spPr>
        <p:txBody>
          <a:bodyPr wrap="square">
            <a:spAutoFit/>
          </a:bodyPr>
          <a:lstStyle/>
          <a:p>
            <a:pPr>
              <a:lnSpc>
                <a:spcPct val="150000"/>
              </a:lnSpc>
            </a:pPr>
            <a:r>
              <a:rPr lang="en-US" sz="2800" dirty="0">
                <a:solidFill>
                  <a:schemeClr val="bg1"/>
                </a:solidFill>
              </a:rPr>
              <a:t>Sets the page title shown on the browser tab.</a:t>
            </a:r>
          </a:p>
        </p:txBody>
      </p:sp>
      <p:sp>
        <p:nvSpPr>
          <p:cNvPr id="10" name="Rectangle: Rounded Corners 9">
            <a:extLst>
              <a:ext uri="{FF2B5EF4-FFF2-40B4-BE49-F238E27FC236}">
                <a16:creationId xmlns:a16="http://schemas.microsoft.com/office/drawing/2014/main" id="{FD0800E8-1B10-D8A8-80E8-6872A8172593}"/>
              </a:ext>
            </a:extLst>
          </p:cNvPr>
          <p:cNvSpPr/>
          <p:nvPr/>
        </p:nvSpPr>
        <p:spPr>
          <a:xfrm>
            <a:off x="0" y="3155796"/>
            <a:ext cx="7694341" cy="42374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442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B6A86-27CA-9D32-EBAF-1AD96B6392B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069ECEE-7FFF-95DC-37B7-F74EF940B34F}"/>
              </a:ext>
            </a:extLst>
          </p:cNvPr>
          <p:cNvSpPr txBox="1"/>
          <p:nvPr/>
        </p:nvSpPr>
        <p:spPr>
          <a:xfrm>
            <a:off x="0" y="669018"/>
            <a:ext cx="12192000" cy="1318181"/>
          </a:xfrm>
          <a:prstGeom prst="rect">
            <a:avLst/>
          </a:prstGeom>
          <a:solidFill>
            <a:schemeClr val="bg1"/>
          </a:solidFill>
        </p:spPr>
        <p:txBody>
          <a:bodyPr wrap="square">
            <a:spAutoFit/>
          </a:bodyPr>
          <a:lstStyle/>
          <a:p>
            <a:pPr>
              <a:lnSpc>
                <a:spcPct val="150000"/>
              </a:lnSpc>
            </a:pPr>
            <a:r>
              <a:rPr lang="en-US" sz="2800" b="1" dirty="0"/>
              <a:t>Step 2: Write the HTML structure</a:t>
            </a:r>
          </a:p>
          <a:p>
            <a:pPr>
              <a:lnSpc>
                <a:spcPct val="150000"/>
              </a:lnSpc>
            </a:pPr>
            <a:r>
              <a:rPr lang="en-US" sz="2800" dirty="0"/>
              <a:t>Write this code first:</a:t>
            </a:r>
          </a:p>
        </p:txBody>
      </p:sp>
      <p:sp>
        <p:nvSpPr>
          <p:cNvPr id="2" name="Title 1">
            <a:extLst>
              <a:ext uri="{FF2B5EF4-FFF2-40B4-BE49-F238E27FC236}">
                <a16:creationId xmlns:a16="http://schemas.microsoft.com/office/drawing/2014/main" id="{5855613F-BF38-3250-BDFC-2C0F7398D44F}"/>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4" name="TextBox 3">
            <a:extLst>
              <a:ext uri="{FF2B5EF4-FFF2-40B4-BE49-F238E27FC236}">
                <a16:creationId xmlns:a16="http://schemas.microsoft.com/office/drawing/2014/main" id="{81F32841-D22E-C0F5-9189-FAA375A6E6AE}"/>
              </a:ext>
            </a:extLst>
          </p:cNvPr>
          <p:cNvSpPr txBox="1"/>
          <p:nvPr/>
        </p:nvSpPr>
        <p:spPr>
          <a:xfrm>
            <a:off x="-1" y="1987199"/>
            <a:ext cx="12192000" cy="4324261"/>
          </a:xfrm>
          <a:prstGeom prst="rect">
            <a:avLst/>
          </a:prstGeom>
          <a:solidFill>
            <a:schemeClr val="tx1"/>
          </a:solidFill>
        </p:spPr>
        <p:txBody>
          <a:bodyPr wrap="square">
            <a:spAutoFit/>
          </a:bodyPr>
          <a:lstStyle/>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DOCTYPE</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head</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title</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Dropdown Navigation Bar</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title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head</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9" name="TextBox 8">
            <a:extLst>
              <a:ext uri="{FF2B5EF4-FFF2-40B4-BE49-F238E27FC236}">
                <a16:creationId xmlns:a16="http://schemas.microsoft.com/office/drawing/2014/main" id="{3B650B10-CBA6-EC26-9B4D-2AE4237A450A}"/>
              </a:ext>
            </a:extLst>
          </p:cNvPr>
          <p:cNvSpPr txBox="1"/>
          <p:nvPr/>
        </p:nvSpPr>
        <p:spPr>
          <a:xfrm>
            <a:off x="5296829" y="1997126"/>
            <a:ext cx="6895170" cy="671851"/>
          </a:xfrm>
          <a:prstGeom prst="rect">
            <a:avLst/>
          </a:prstGeom>
          <a:noFill/>
          <a:ln>
            <a:solidFill>
              <a:srgbClr val="FF0000"/>
            </a:solidFill>
          </a:ln>
        </p:spPr>
        <p:txBody>
          <a:bodyPr wrap="square">
            <a:spAutoFit/>
          </a:bodyPr>
          <a:lstStyle/>
          <a:p>
            <a:pPr>
              <a:lnSpc>
                <a:spcPct val="150000"/>
              </a:lnSpc>
            </a:pPr>
            <a:r>
              <a:rPr lang="en-US" sz="2800" dirty="0">
                <a:solidFill>
                  <a:schemeClr val="bg1"/>
                </a:solidFill>
              </a:rPr>
              <a:t>Sets the page title shown on the browser tab.</a:t>
            </a:r>
          </a:p>
        </p:txBody>
      </p:sp>
      <p:sp>
        <p:nvSpPr>
          <p:cNvPr id="10" name="Rectangle: Rounded Corners 9">
            <a:extLst>
              <a:ext uri="{FF2B5EF4-FFF2-40B4-BE49-F238E27FC236}">
                <a16:creationId xmlns:a16="http://schemas.microsoft.com/office/drawing/2014/main" id="{941B4E99-F743-1A71-AD60-D705DDD41571}"/>
              </a:ext>
            </a:extLst>
          </p:cNvPr>
          <p:cNvSpPr/>
          <p:nvPr/>
        </p:nvSpPr>
        <p:spPr>
          <a:xfrm>
            <a:off x="0" y="3155796"/>
            <a:ext cx="7694341" cy="42374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41022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E5D3B-2A09-0F9C-9C72-B1E2D623BE3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C0475AC-95B5-9EA3-4C02-3FBC31707C92}"/>
              </a:ext>
            </a:extLst>
          </p:cNvPr>
          <p:cNvSpPr txBox="1"/>
          <p:nvPr/>
        </p:nvSpPr>
        <p:spPr>
          <a:xfrm>
            <a:off x="0" y="669018"/>
            <a:ext cx="12192000" cy="1318181"/>
          </a:xfrm>
          <a:prstGeom prst="rect">
            <a:avLst/>
          </a:prstGeom>
          <a:solidFill>
            <a:schemeClr val="bg1"/>
          </a:solidFill>
        </p:spPr>
        <p:txBody>
          <a:bodyPr wrap="square">
            <a:spAutoFit/>
          </a:bodyPr>
          <a:lstStyle/>
          <a:p>
            <a:pPr>
              <a:lnSpc>
                <a:spcPct val="150000"/>
              </a:lnSpc>
            </a:pPr>
            <a:r>
              <a:rPr lang="en-US" sz="2800" b="1" dirty="0"/>
              <a:t>Step 2: Write the HTML structure</a:t>
            </a:r>
          </a:p>
          <a:p>
            <a:pPr>
              <a:lnSpc>
                <a:spcPct val="150000"/>
              </a:lnSpc>
            </a:pPr>
            <a:r>
              <a:rPr lang="en-US" sz="2800" dirty="0"/>
              <a:t>Write this code first:</a:t>
            </a:r>
          </a:p>
        </p:txBody>
      </p:sp>
      <p:sp>
        <p:nvSpPr>
          <p:cNvPr id="2" name="Title 1">
            <a:extLst>
              <a:ext uri="{FF2B5EF4-FFF2-40B4-BE49-F238E27FC236}">
                <a16:creationId xmlns:a16="http://schemas.microsoft.com/office/drawing/2014/main" id="{29EC3EEF-8B7C-63CF-502B-27F40A361EF8}"/>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4" name="TextBox 3">
            <a:extLst>
              <a:ext uri="{FF2B5EF4-FFF2-40B4-BE49-F238E27FC236}">
                <a16:creationId xmlns:a16="http://schemas.microsoft.com/office/drawing/2014/main" id="{0363127E-5870-094E-8C8A-89B99F308D44}"/>
              </a:ext>
            </a:extLst>
          </p:cNvPr>
          <p:cNvSpPr txBox="1"/>
          <p:nvPr/>
        </p:nvSpPr>
        <p:spPr>
          <a:xfrm>
            <a:off x="-1" y="1987199"/>
            <a:ext cx="12192000" cy="4324261"/>
          </a:xfrm>
          <a:prstGeom prst="rect">
            <a:avLst/>
          </a:prstGeom>
          <a:solidFill>
            <a:schemeClr val="tx1"/>
          </a:solidFill>
        </p:spPr>
        <p:txBody>
          <a:bodyPr wrap="square">
            <a:spAutoFit/>
          </a:bodyPr>
          <a:lstStyle/>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DOCTYPE</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head</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title</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Dropdown Navigation Bar</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title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head</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9" name="TextBox 8">
            <a:extLst>
              <a:ext uri="{FF2B5EF4-FFF2-40B4-BE49-F238E27FC236}">
                <a16:creationId xmlns:a16="http://schemas.microsoft.com/office/drawing/2014/main" id="{7C7721ED-9473-8481-DE88-58428F45BE1F}"/>
              </a:ext>
            </a:extLst>
          </p:cNvPr>
          <p:cNvSpPr txBox="1"/>
          <p:nvPr/>
        </p:nvSpPr>
        <p:spPr>
          <a:xfrm>
            <a:off x="6095999" y="1997126"/>
            <a:ext cx="6095999" cy="671851"/>
          </a:xfrm>
          <a:prstGeom prst="rect">
            <a:avLst/>
          </a:prstGeom>
          <a:noFill/>
          <a:ln>
            <a:solidFill>
              <a:srgbClr val="FF0000"/>
            </a:solidFill>
          </a:ln>
        </p:spPr>
        <p:txBody>
          <a:bodyPr wrap="square">
            <a:spAutoFit/>
          </a:bodyPr>
          <a:lstStyle/>
          <a:p>
            <a:pPr>
              <a:lnSpc>
                <a:spcPct val="150000"/>
              </a:lnSpc>
            </a:pPr>
            <a:r>
              <a:rPr lang="en-US" sz="2800" dirty="0">
                <a:solidFill>
                  <a:schemeClr val="bg1"/>
                </a:solidFill>
              </a:rPr>
              <a:t>This is where we will write the CSS code.</a:t>
            </a:r>
          </a:p>
        </p:txBody>
      </p:sp>
      <p:sp>
        <p:nvSpPr>
          <p:cNvPr id="10" name="Rectangle: Rounded Corners 9">
            <a:extLst>
              <a:ext uri="{FF2B5EF4-FFF2-40B4-BE49-F238E27FC236}">
                <a16:creationId xmlns:a16="http://schemas.microsoft.com/office/drawing/2014/main" id="{9A2AEA27-DABB-E87D-E0E6-A5D3003076E9}"/>
              </a:ext>
            </a:extLst>
          </p:cNvPr>
          <p:cNvSpPr/>
          <p:nvPr/>
        </p:nvSpPr>
        <p:spPr>
          <a:xfrm>
            <a:off x="0" y="3563411"/>
            <a:ext cx="7694341" cy="79671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49969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9DB4A-E3BD-9ABF-E491-C3CA8EB1517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375141D-B6D4-95A1-ED45-25BB3BE5261C}"/>
              </a:ext>
            </a:extLst>
          </p:cNvPr>
          <p:cNvSpPr txBox="1"/>
          <p:nvPr/>
        </p:nvSpPr>
        <p:spPr>
          <a:xfrm>
            <a:off x="0" y="669018"/>
            <a:ext cx="12192000" cy="1318181"/>
          </a:xfrm>
          <a:prstGeom prst="rect">
            <a:avLst/>
          </a:prstGeom>
          <a:solidFill>
            <a:schemeClr val="bg1"/>
          </a:solidFill>
        </p:spPr>
        <p:txBody>
          <a:bodyPr wrap="square">
            <a:spAutoFit/>
          </a:bodyPr>
          <a:lstStyle/>
          <a:p>
            <a:pPr>
              <a:lnSpc>
                <a:spcPct val="150000"/>
              </a:lnSpc>
            </a:pPr>
            <a:r>
              <a:rPr lang="en-US" sz="2800" b="1" dirty="0"/>
              <a:t>Step 2: Write the HTML structure</a:t>
            </a:r>
          </a:p>
          <a:p>
            <a:pPr>
              <a:lnSpc>
                <a:spcPct val="150000"/>
              </a:lnSpc>
            </a:pPr>
            <a:r>
              <a:rPr lang="en-US" sz="2800" dirty="0"/>
              <a:t>Write this code first:</a:t>
            </a:r>
          </a:p>
        </p:txBody>
      </p:sp>
      <p:sp>
        <p:nvSpPr>
          <p:cNvPr id="2" name="Title 1">
            <a:extLst>
              <a:ext uri="{FF2B5EF4-FFF2-40B4-BE49-F238E27FC236}">
                <a16:creationId xmlns:a16="http://schemas.microsoft.com/office/drawing/2014/main" id="{33BF52C9-D4AB-1696-CF7A-272261A90258}"/>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4" name="TextBox 3">
            <a:extLst>
              <a:ext uri="{FF2B5EF4-FFF2-40B4-BE49-F238E27FC236}">
                <a16:creationId xmlns:a16="http://schemas.microsoft.com/office/drawing/2014/main" id="{EACA191D-EAFB-D34F-1572-7466CC321055}"/>
              </a:ext>
            </a:extLst>
          </p:cNvPr>
          <p:cNvSpPr txBox="1"/>
          <p:nvPr/>
        </p:nvSpPr>
        <p:spPr>
          <a:xfrm>
            <a:off x="-1" y="1987199"/>
            <a:ext cx="12192000" cy="4324261"/>
          </a:xfrm>
          <a:prstGeom prst="rect">
            <a:avLst/>
          </a:prstGeom>
          <a:solidFill>
            <a:schemeClr val="tx1"/>
          </a:solidFill>
        </p:spPr>
        <p:txBody>
          <a:bodyPr wrap="square">
            <a:spAutoFit/>
          </a:bodyPr>
          <a:lstStyle/>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DOCTYPE</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head</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title</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Dropdown Navigation Bar</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title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head</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9" name="TextBox 8">
            <a:extLst>
              <a:ext uri="{FF2B5EF4-FFF2-40B4-BE49-F238E27FC236}">
                <a16:creationId xmlns:a16="http://schemas.microsoft.com/office/drawing/2014/main" id="{085C6569-7851-002F-28FD-B93629C8A70D}"/>
              </a:ext>
            </a:extLst>
          </p:cNvPr>
          <p:cNvSpPr txBox="1"/>
          <p:nvPr/>
        </p:nvSpPr>
        <p:spPr>
          <a:xfrm>
            <a:off x="8686800" y="1997126"/>
            <a:ext cx="3505198" cy="671851"/>
          </a:xfrm>
          <a:prstGeom prst="rect">
            <a:avLst/>
          </a:prstGeom>
          <a:noFill/>
          <a:ln>
            <a:solidFill>
              <a:srgbClr val="FF0000"/>
            </a:solidFill>
          </a:ln>
        </p:spPr>
        <p:txBody>
          <a:bodyPr wrap="square">
            <a:spAutoFit/>
          </a:bodyPr>
          <a:lstStyle/>
          <a:p>
            <a:pPr>
              <a:lnSpc>
                <a:spcPct val="150000"/>
              </a:lnSpc>
            </a:pPr>
            <a:r>
              <a:rPr lang="en-US" sz="2800" dirty="0">
                <a:solidFill>
                  <a:schemeClr val="bg1"/>
                </a:solidFill>
              </a:rPr>
              <a:t>Ends the head section.</a:t>
            </a:r>
          </a:p>
        </p:txBody>
      </p:sp>
      <p:sp>
        <p:nvSpPr>
          <p:cNvPr id="10" name="Rectangle: Rounded Corners 9">
            <a:extLst>
              <a:ext uri="{FF2B5EF4-FFF2-40B4-BE49-F238E27FC236}">
                <a16:creationId xmlns:a16="http://schemas.microsoft.com/office/drawing/2014/main" id="{4A1D34B8-ADB2-E62D-333C-6C07F97038DE}"/>
              </a:ext>
            </a:extLst>
          </p:cNvPr>
          <p:cNvSpPr/>
          <p:nvPr/>
        </p:nvSpPr>
        <p:spPr>
          <a:xfrm>
            <a:off x="0" y="4315522"/>
            <a:ext cx="7694341" cy="46835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3236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7757C-7450-A613-F3D0-30CD823E4C2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B8A3155-2ACD-D782-D814-35C9594F4CB3}"/>
              </a:ext>
            </a:extLst>
          </p:cNvPr>
          <p:cNvSpPr txBox="1"/>
          <p:nvPr/>
        </p:nvSpPr>
        <p:spPr>
          <a:xfrm>
            <a:off x="0" y="669018"/>
            <a:ext cx="12192000" cy="1318181"/>
          </a:xfrm>
          <a:prstGeom prst="rect">
            <a:avLst/>
          </a:prstGeom>
          <a:solidFill>
            <a:schemeClr val="bg1"/>
          </a:solidFill>
        </p:spPr>
        <p:txBody>
          <a:bodyPr wrap="square">
            <a:spAutoFit/>
          </a:bodyPr>
          <a:lstStyle/>
          <a:p>
            <a:pPr>
              <a:lnSpc>
                <a:spcPct val="150000"/>
              </a:lnSpc>
            </a:pPr>
            <a:r>
              <a:rPr lang="en-US" sz="2800" b="1" dirty="0"/>
              <a:t>Step 2: Write the HTML structure</a:t>
            </a:r>
          </a:p>
          <a:p>
            <a:pPr>
              <a:lnSpc>
                <a:spcPct val="150000"/>
              </a:lnSpc>
            </a:pPr>
            <a:r>
              <a:rPr lang="en-US" sz="2800" dirty="0"/>
              <a:t>Write this code first:</a:t>
            </a:r>
          </a:p>
        </p:txBody>
      </p:sp>
      <p:sp>
        <p:nvSpPr>
          <p:cNvPr id="2" name="Title 1">
            <a:extLst>
              <a:ext uri="{FF2B5EF4-FFF2-40B4-BE49-F238E27FC236}">
                <a16:creationId xmlns:a16="http://schemas.microsoft.com/office/drawing/2014/main" id="{BEEABB67-952B-CA8F-D97E-7487DC13453D}"/>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4" name="TextBox 3">
            <a:extLst>
              <a:ext uri="{FF2B5EF4-FFF2-40B4-BE49-F238E27FC236}">
                <a16:creationId xmlns:a16="http://schemas.microsoft.com/office/drawing/2014/main" id="{958AD704-BDC9-6CD1-84E6-3DA6122D70AD}"/>
              </a:ext>
            </a:extLst>
          </p:cNvPr>
          <p:cNvSpPr txBox="1"/>
          <p:nvPr/>
        </p:nvSpPr>
        <p:spPr>
          <a:xfrm>
            <a:off x="-1" y="1987199"/>
            <a:ext cx="12192000" cy="4324261"/>
          </a:xfrm>
          <a:prstGeom prst="rect">
            <a:avLst/>
          </a:prstGeom>
          <a:solidFill>
            <a:schemeClr val="tx1"/>
          </a:solidFill>
        </p:spPr>
        <p:txBody>
          <a:bodyPr wrap="square">
            <a:spAutoFit/>
          </a:bodyPr>
          <a:lstStyle/>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DOCTYPE</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head</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title</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Dropdown Navigation Bar</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title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head</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9" name="TextBox 8">
            <a:extLst>
              <a:ext uri="{FF2B5EF4-FFF2-40B4-BE49-F238E27FC236}">
                <a16:creationId xmlns:a16="http://schemas.microsoft.com/office/drawing/2014/main" id="{58682EE0-9A53-BAEE-C472-20E6F4A285EB}"/>
              </a:ext>
            </a:extLst>
          </p:cNvPr>
          <p:cNvSpPr txBox="1"/>
          <p:nvPr/>
        </p:nvSpPr>
        <p:spPr>
          <a:xfrm>
            <a:off x="6389649" y="1997126"/>
            <a:ext cx="5802349" cy="671851"/>
          </a:xfrm>
          <a:prstGeom prst="rect">
            <a:avLst/>
          </a:prstGeom>
          <a:noFill/>
          <a:ln>
            <a:solidFill>
              <a:srgbClr val="FF0000"/>
            </a:solidFill>
          </a:ln>
        </p:spPr>
        <p:txBody>
          <a:bodyPr wrap="square">
            <a:spAutoFit/>
          </a:bodyPr>
          <a:lstStyle/>
          <a:p>
            <a:pPr>
              <a:lnSpc>
                <a:spcPct val="150000"/>
              </a:lnSpc>
            </a:pPr>
            <a:r>
              <a:rPr lang="en-US" sz="2800" dirty="0">
                <a:solidFill>
                  <a:schemeClr val="bg1"/>
                </a:solidFill>
              </a:rPr>
              <a:t>Starts the visible part of the web page.</a:t>
            </a:r>
          </a:p>
        </p:txBody>
      </p:sp>
      <p:sp>
        <p:nvSpPr>
          <p:cNvPr id="10" name="Rectangle: Rounded Corners 9">
            <a:extLst>
              <a:ext uri="{FF2B5EF4-FFF2-40B4-BE49-F238E27FC236}">
                <a16:creationId xmlns:a16="http://schemas.microsoft.com/office/drawing/2014/main" id="{027DD0ED-21A2-6590-643A-EE7EFB09DC74}"/>
              </a:ext>
            </a:extLst>
          </p:cNvPr>
          <p:cNvSpPr/>
          <p:nvPr/>
        </p:nvSpPr>
        <p:spPr>
          <a:xfrm>
            <a:off x="11152" y="4694663"/>
            <a:ext cx="7694341" cy="46835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25176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81D60-2875-8833-37CA-D9B48D8C78A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FF7920A-49B7-4778-9D02-DF0951576E2E}"/>
              </a:ext>
            </a:extLst>
          </p:cNvPr>
          <p:cNvSpPr txBox="1"/>
          <p:nvPr/>
        </p:nvSpPr>
        <p:spPr>
          <a:xfrm>
            <a:off x="0" y="669018"/>
            <a:ext cx="12192000" cy="1318181"/>
          </a:xfrm>
          <a:prstGeom prst="rect">
            <a:avLst/>
          </a:prstGeom>
          <a:solidFill>
            <a:schemeClr val="bg1"/>
          </a:solidFill>
        </p:spPr>
        <p:txBody>
          <a:bodyPr wrap="square">
            <a:spAutoFit/>
          </a:bodyPr>
          <a:lstStyle/>
          <a:p>
            <a:pPr>
              <a:lnSpc>
                <a:spcPct val="150000"/>
              </a:lnSpc>
            </a:pPr>
            <a:r>
              <a:rPr lang="en-US" sz="2800" b="1" dirty="0"/>
              <a:t>Step 2: Write the HTML structure</a:t>
            </a:r>
          </a:p>
          <a:p>
            <a:pPr>
              <a:lnSpc>
                <a:spcPct val="150000"/>
              </a:lnSpc>
            </a:pPr>
            <a:r>
              <a:rPr lang="en-US" sz="2800" dirty="0"/>
              <a:t>Write this code first:</a:t>
            </a:r>
          </a:p>
        </p:txBody>
      </p:sp>
      <p:sp>
        <p:nvSpPr>
          <p:cNvPr id="2" name="Title 1">
            <a:extLst>
              <a:ext uri="{FF2B5EF4-FFF2-40B4-BE49-F238E27FC236}">
                <a16:creationId xmlns:a16="http://schemas.microsoft.com/office/drawing/2014/main" id="{604E2748-F256-DEA7-DD43-1059971B33BC}"/>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4" name="TextBox 3">
            <a:extLst>
              <a:ext uri="{FF2B5EF4-FFF2-40B4-BE49-F238E27FC236}">
                <a16:creationId xmlns:a16="http://schemas.microsoft.com/office/drawing/2014/main" id="{2E4194B2-2BBC-0FED-F1B3-7B3E535E51E4}"/>
              </a:ext>
            </a:extLst>
          </p:cNvPr>
          <p:cNvSpPr txBox="1"/>
          <p:nvPr/>
        </p:nvSpPr>
        <p:spPr>
          <a:xfrm>
            <a:off x="-1" y="1987199"/>
            <a:ext cx="12192000" cy="4324261"/>
          </a:xfrm>
          <a:prstGeom prst="rect">
            <a:avLst/>
          </a:prstGeom>
          <a:solidFill>
            <a:schemeClr val="tx1"/>
          </a:solidFill>
        </p:spPr>
        <p:txBody>
          <a:bodyPr wrap="square">
            <a:spAutoFit/>
          </a:bodyPr>
          <a:lstStyle/>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DOCTYPE</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head</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title</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Dropdown Navigation Bar</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title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head</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9" name="TextBox 8">
            <a:extLst>
              <a:ext uri="{FF2B5EF4-FFF2-40B4-BE49-F238E27FC236}">
                <a16:creationId xmlns:a16="http://schemas.microsoft.com/office/drawing/2014/main" id="{EC522D69-C444-7782-BAC1-C804C6259F5E}"/>
              </a:ext>
            </a:extLst>
          </p:cNvPr>
          <p:cNvSpPr txBox="1"/>
          <p:nvPr/>
        </p:nvSpPr>
        <p:spPr>
          <a:xfrm>
            <a:off x="8965580" y="1997126"/>
            <a:ext cx="3226418" cy="671851"/>
          </a:xfrm>
          <a:prstGeom prst="rect">
            <a:avLst/>
          </a:prstGeom>
          <a:noFill/>
          <a:ln>
            <a:solidFill>
              <a:srgbClr val="FF0000"/>
            </a:solidFill>
          </a:ln>
        </p:spPr>
        <p:txBody>
          <a:bodyPr wrap="square">
            <a:spAutoFit/>
          </a:bodyPr>
          <a:lstStyle/>
          <a:p>
            <a:pPr>
              <a:lnSpc>
                <a:spcPct val="150000"/>
              </a:lnSpc>
            </a:pPr>
            <a:r>
              <a:rPr lang="en-US" sz="2800" dirty="0">
                <a:solidFill>
                  <a:schemeClr val="bg1"/>
                </a:solidFill>
              </a:rPr>
              <a:t>Ends the visible part.</a:t>
            </a:r>
          </a:p>
        </p:txBody>
      </p:sp>
      <p:sp>
        <p:nvSpPr>
          <p:cNvPr id="10" name="Rectangle: Rounded Corners 9">
            <a:extLst>
              <a:ext uri="{FF2B5EF4-FFF2-40B4-BE49-F238E27FC236}">
                <a16:creationId xmlns:a16="http://schemas.microsoft.com/office/drawing/2014/main" id="{55C9D5E4-915A-8DB6-6546-F080C853CF49}"/>
              </a:ext>
            </a:extLst>
          </p:cNvPr>
          <p:cNvSpPr/>
          <p:nvPr/>
        </p:nvSpPr>
        <p:spPr>
          <a:xfrm>
            <a:off x="0" y="5397190"/>
            <a:ext cx="7694341" cy="46835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30127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91FB9-F576-E168-4AD2-04FBD1861ED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D878749-FC1F-55A0-2A16-00C609A9CE75}"/>
              </a:ext>
            </a:extLst>
          </p:cNvPr>
          <p:cNvSpPr txBox="1"/>
          <p:nvPr/>
        </p:nvSpPr>
        <p:spPr>
          <a:xfrm>
            <a:off x="0" y="669018"/>
            <a:ext cx="12192000" cy="1318181"/>
          </a:xfrm>
          <a:prstGeom prst="rect">
            <a:avLst/>
          </a:prstGeom>
          <a:solidFill>
            <a:schemeClr val="bg1"/>
          </a:solidFill>
        </p:spPr>
        <p:txBody>
          <a:bodyPr wrap="square">
            <a:spAutoFit/>
          </a:bodyPr>
          <a:lstStyle/>
          <a:p>
            <a:pPr>
              <a:lnSpc>
                <a:spcPct val="150000"/>
              </a:lnSpc>
            </a:pPr>
            <a:r>
              <a:rPr lang="en-US" sz="2800" b="1" dirty="0"/>
              <a:t>Step 2: Write the HTML structure</a:t>
            </a:r>
          </a:p>
          <a:p>
            <a:pPr>
              <a:lnSpc>
                <a:spcPct val="150000"/>
              </a:lnSpc>
            </a:pPr>
            <a:r>
              <a:rPr lang="en-US" sz="2800" dirty="0"/>
              <a:t>Write this code first:</a:t>
            </a:r>
          </a:p>
        </p:txBody>
      </p:sp>
      <p:sp>
        <p:nvSpPr>
          <p:cNvPr id="2" name="Title 1">
            <a:extLst>
              <a:ext uri="{FF2B5EF4-FFF2-40B4-BE49-F238E27FC236}">
                <a16:creationId xmlns:a16="http://schemas.microsoft.com/office/drawing/2014/main" id="{4B05D670-3803-21AE-3A4B-3943190F879B}"/>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4" name="TextBox 3">
            <a:extLst>
              <a:ext uri="{FF2B5EF4-FFF2-40B4-BE49-F238E27FC236}">
                <a16:creationId xmlns:a16="http://schemas.microsoft.com/office/drawing/2014/main" id="{270BC800-11BF-F12F-9DDC-D88FDBFAD321}"/>
              </a:ext>
            </a:extLst>
          </p:cNvPr>
          <p:cNvSpPr txBox="1"/>
          <p:nvPr/>
        </p:nvSpPr>
        <p:spPr>
          <a:xfrm>
            <a:off x="-1" y="1987199"/>
            <a:ext cx="12192000" cy="4324261"/>
          </a:xfrm>
          <a:prstGeom prst="rect">
            <a:avLst/>
          </a:prstGeom>
          <a:solidFill>
            <a:schemeClr val="tx1"/>
          </a:solidFill>
        </p:spPr>
        <p:txBody>
          <a:bodyPr wrap="square">
            <a:spAutoFit/>
          </a:bodyPr>
          <a:lstStyle/>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DOCTYPE</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head</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title</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Dropdown Navigation Bar</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title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head</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html</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9" name="TextBox 8">
            <a:extLst>
              <a:ext uri="{FF2B5EF4-FFF2-40B4-BE49-F238E27FC236}">
                <a16:creationId xmlns:a16="http://schemas.microsoft.com/office/drawing/2014/main" id="{643BDB1B-1771-4ED2-C002-2D61C980ED59}"/>
              </a:ext>
            </a:extLst>
          </p:cNvPr>
          <p:cNvSpPr txBox="1"/>
          <p:nvPr/>
        </p:nvSpPr>
        <p:spPr>
          <a:xfrm>
            <a:off x="8965580" y="1997126"/>
            <a:ext cx="3226418" cy="671851"/>
          </a:xfrm>
          <a:prstGeom prst="rect">
            <a:avLst/>
          </a:prstGeom>
          <a:noFill/>
          <a:ln>
            <a:solidFill>
              <a:srgbClr val="FF0000"/>
            </a:solidFill>
          </a:ln>
        </p:spPr>
        <p:txBody>
          <a:bodyPr wrap="square">
            <a:spAutoFit/>
          </a:bodyPr>
          <a:lstStyle/>
          <a:p>
            <a:pPr>
              <a:lnSpc>
                <a:spcPct val="150000"/>
              </a:lnSpc>
            </a:pPr>
            <a:r>
              <a:rPr lang="en-US" sz="2800" dirty="0">
                <a:solidFill>
                  <a:schemeClr val="bg1"/>
                </a:solidFill>
              </a:rPr>
              <a:t>Ends the HTML file.</a:t>
            </a:r>
          </a:p>
        </p:txBody>
      </p:sp>
      <p:sp>
        <p:nvSpPr>
          <p:cNvPr id="10" name="Rectangle: Rounded Corners 9">
            <a:extLst>
              <a:ext uri="{FF2B5EF4-FFF2-40B4-BE49-F238E27FC236}">
                <a16:creationId xmlns:a16="http://schemas.microsoft.com/office/drawing/2014/main" id="{C6B22307-F723-D25A-894A-F7E74FBA53E9}"/>
              </a:ext>
            </a:extLst>
          </p:cNvPr>
          <p:cNvSpPr/>
          <p:nvPr/>
        </p:nvSpPr>
        <p:spPr>
          <a:xfrm>
            <a:off x="0" y="5843109"/>
            <a:ext cx="7694341" cy="46835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8592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23E4F-BDA4-61D8-C2F3-AE3818A91E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A1EE7B-8855-228E-F529-D58DCFD2F980}"/>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5" name="TextBox 4">
            <a:extLst>
              <a:ext uri="{FF2B5EF4-FFF2-40B4-BE49-F238E27FC236}">
                <a16:creationId xmlns:a16="http://schemas.microsoft.com/office/drawing/2014/main" id="{D2FC90AB-5863-A3F7-A487-24CAAD436043}"/>
              </a:ext>
            </a:extLst>
          </p:cNvPr>
          <p:cNvSpPr txBox="1"/>
          <p:nvPr/>
        </p:nvSpPr>
        <p:spPr>
          <a:xfrm>
            <a:off x="0" y="587889"/>
            <a:ext cx="9079880" cy="6247864"/>
          </a:xfrm>
          <a:prstGeom prst="rect">
            <a:avLst/>
          </a:prstGeom>
          <a:solidFill>
            <a:schemeClr val="tx1"/>
          </a:solidFill>
        </p:spPr>
        <p:txBody>
          <a:bodyPr wrap="square">
            <a:spAutoFit/>
          </a:bodyPr>
          <a:lstStyle/>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"navbar"</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Home</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News</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"dropdown"</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button</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err="1">
                <a:solidFill>
                  <a:srgbClr val="CE9178"/>
                </a:solidFill>
                <a:effectLst/>
                <a:latin typeface="Consolas" panose="020B0609020204030204" pitchFamily="49" charset="0"/>
              </a:rPr>
              <a:t>dropbtn</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Dropdown</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button</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"dropdown-content"</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1</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2</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3</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6" name="TextBox 5">
            <a:extLst>
              <a:ext uri="{FF2B5EF4-FFF2-40B4-BE49-F238E27FC236}">
                <a16:creationId xmlns:a16="http://schemas.microsoft.com/office/drawing/2014/main" id="{3F48073D-B959-08BA-9E0D-F5C90EBD0877}"/>
              </a:ext>
            </a:extLst>
          </p:cNvPr>
          <p:cNvSpPr txBox="1"/>
          <p:nvPr/>
        </p:nvSpPr>
        <p:spPr>
          <a:xfrm>
            <a:off x="5140712" y="22247"/>
            <a:ext cx="7051288" cy="1318181"/>
          </a:xfrm>
          <a:prstGeom prst="rect">
            <a:avLst/>
          </a:prstGeom>
          <a:solidFill>
            <a:schemeClr val="bg1"/>
          </a:solidFill>
          <a:ln>
            <a:solidFill>
              <a:srgbClr val="FF0000"/>
            </a:solidFill>
          </a:ln>
        </p:spPr>
        <p:txBody>
          <a:bodyPr wrap="square">
            <a:spAutoFit/>
          </a:bodyPr>
          <a:lstStyle/>
          <a:p>
            <a:pPr>
              <a:lnSpc>
                <a:spcPct val="150000"/>
              </a:lnSpc>
            </a:pPr>
            <a:r>
              <a:rPr lang="en-US" sz="2800" b="1" dirty="0"/>
              <a:t>Step 3: Add the navigation bar HTML</a:t>
            </a:r>
          </a:p>
          <a:p>
            <a:pPr>
              <a:lnSpc>
                <a:spcPct val="150000"/>
              </a:lnSpc>
            </a:pPr>
            <a:r>
              <a:rPr lang="en-US" sz="2800" dirty="0"/>
              <a:t>Now place this code inside the &lt;body&gt; section:</a:t>
            </a:r>
          </a:p>
        </p:txBody>
      </p:sp>
    </p:spTree>
    <p:extLst>
      <p:ext uri="{BB962C8B-B14F-4D97-AF65-F5344CB8AC3E}">
        <p14:creationId xmlns:p14="http://schemas.microsoft.com/office/powerpoint/2010/main" val="1546466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4834E-113D-3220-C26E-00B292C2A1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E81362-6926-B1D6-F5A1-DEAD18ECA4F0}"/>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5" name="TextBox 4">
            <a:extLst>
              <a:ext uri="{FF2B5EF4-FFF2-40B4-BE49-F238E27FC236}">
                <a16:creationId xmlns:a16="http://schemas.microsoft.com/office/drawing/2014/main" id="{FFAE14A7-54F1-4B14-F421-18D0BE5B7EE4}"/>
              </a:ext>
            </a:extLst>
          </p:cNvPr>
          <p:cNvSpPr txBox="1"/>
          <p:nvPr/>
        </p:nvSpPr>
        <p:spPr>
          <a:xfrm>
            <a:off x="0" y="587889"/>
            <a:ext cx="9079880" cy="6247864"/>
          </a:xfrm>
          <a:prstGeom prst="rect">
            <a:avLst/>
          </a:prstGeom>
          <a:solidFill>
            <a:schemeClr val="tx1"/>
          </a:solidFill>
        </p:spPr>
        <p:txBody>
          <a:bodyPr wrap="square">
            <a:spAutoFit/>
          </a:bodyPr>
          <a:lstStyle/>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"navbar"</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Home</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News</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"dropdown"</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button</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err="1">
                <a:solidFill>
                  <a:srgbClr val="CE9178"/>
                </a:solidFill>
                <a:effectLst/>
                <a:latin typeface="Consolas" panose="020B0609020204030204" pitchFamily="49" charset="0"/>
              </a:rPr>
              <a:t>dropbtn</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Dropdown</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button</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"dropdown-content"</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1</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2</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3</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6" name="TextBox 5">
            <a:extLst>
              <a:ext uri="{FF2B5EF4-FFF2-40B4-BE49-F238E27FC236}">
                <a16:creationId xmlns:a16="http://schemas.microsoft.com/office/drawing/2014/main" id="{19B06707-D162-5D08-A651-2D2AE60B4EF9}"/>
              </a:ext>
            </a:extLst>
          </p:cNvPr>
          <p:cNvSpPr txBox="1"/>
          <p:nvPr/>
        </p:nvSpPr>
        <p:spPr>
          <a:xfrm>
            <a:off x="5140712" y="22247"/>
            <a:ext cx="7051288" cy="1318181"/>
          </a:xfrm>
          <a:prstGeom prst="rect">
            <a:avLst/>
          </a:prstGeom>
          <a:solidFill>
            <a:schemeClr val="bg1"/>
          </a:solidFill>
          <a:ln>
            <a:solidFill>
              <a:srgbClr val="FF0000"/>
            </a:solidFill>
          </a:ln>
        </p:spPr>
        <p:txBody>
          <a:bodyPr wrap="square">
            <a:spAutoFit/>
          </a:bodyPr>
          <a:lstStyle/>
          <a:p>
            <a:pPr>
              <a:lnSpc>
                <a:spcPct val="150000"/>
              </a:lnSpc>
            </a:pPr>
            <a:r>
              <a:rPr lang="en-US" sz="2800" b="1" dirty="0"/>
              <a:t>Navigation bar container:</a:t>
            </a:r>
          </a:p>
          <a:p>
            <a:pPr>
              <a:lnSpc>
                <a:spcPct val="150000"/>
              </a:lnSpc>
            </a:pPr>
            <a:r>
              <a:rPr lang="en-US" sz="2800" dirty="0"/>
              <a:t>Creates a main box for the navigation bar.</a:t>
            </a:r>
          </a:p>
        </p:txBody>
      </p:sp>
      <p:sp>
        <p:nvSpPr>
          <p:cNvPr id="3" name="Rectangle: Rounded Corners 2">
            <a:extLst>
              <a:ext uri="{FF2B5EF4-FFF2-40B4-BE49-F238E27FC236}">
                <a16:creationId xmlns:a16="http://schemas.microsoft.com/office/drawing/2014/main" id="{BA0469F1-18AE-2A97-5AE4-6881D1AB601E}"/>
              </a:ext>
            </a:extLst>
          </p:cNvPr>
          <p:cNvSpPr/>
          <p:nvPr/>
        </p:nvSpPr>
        <p:spPr>
          <a:xfrm>
            <a:off x="0" y="1014761"/>
            <a:ext cx="4371278" cy="42374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18375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7FD76-C900-2416-2E65-093F0C21DA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F13290-6A63-BBD7-9A78-BAB6B628221E}"/>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5" name="TextBox 4">
            <a:extLst>
              <a:ext uri="{FF2B5EF4-FFF2-40B4-BE49-F238E27FC236}">
                <a16:creationId xmlns:a16="http://schemas.microsoft.com/office/drawing/2014/main" id="{06E7F92E-37A1-AC78-40D5-6F2775D7A6D3}"/>
              </a:ext>
            </a:extLst>
          </p:cNvPr>
          <p:cNvSpPr txBox="1"/>
          <p:nvPr/>
        </p:nvSpPr>
        <p:spPr>
          <a:xfrm>
            <a:off x="0" y="587889"/>
            <a:ext cx="9079880" cy="6247864"/>
          </a:xfrm>
          <a:prstGeom prst="rect">
            <a:avLst/>
          </a:prstGeom>
          <a:solidFill>
            <a:schemeClr val="tx1"/>
          </a:solidFill>
        </p:spPr>
        <p:txBody>
          <a:bodyPr wrap="square">
            <a:spAutoFit/>
          </a:bodyPr>
          <a:lstStyle/>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"navbar"</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Home</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News</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"dropdown"</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button</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err="1">
                <a:solidFill>
                  <a:srgbClr val="CE9178"/>
                </a:solidFill>
                <a:effectLst/>
                <a:latin typeface="Consolas" panose="020B0609020204030204" pitchFamily="49" charset="0"/>
              </a:rPr>
              <a:t>dropbtn</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Dropdown</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button</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"dropdown-content"</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1</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2</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3</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6" name="TextBox 5">
            <a:extLst>
              <a:ext uri="{FF2B5EF4-FFF2-40B4-BE49-F238E27FC236}">
                <a16:creationId xmlns:a16="http://schemas.microsoft.com/office/drawing/2014/main" id="{95590754-0649-CD2B-BB8C-AD0A23588F91}"/>
              </a:ext>
            </a:extLst>
          </p:cNvPr>
          <p:cNvSpPr txBox="1"/>
          <p:nvPr/>
        </p:nvSpPr>
        <p:spPr>
          <a:xfrm>
            <a:off x="5140712" y="22247"/>
            <a:ext cx="7051288" cy="2610843"/>
          </a:xfrm>
          <a:prstGeom prst="rect">
            <a:avLst/>
          </a:prstGeom>
          <a:solidFill>
            <a:schemeClr val="bg1"/>
          </a:solidFill>
          <a:ln>
            <a:solidFill>
              <a:srgbClr val="FF0000"/>
            </a:solidFill>
          </a:ln>
        </p:spPr>
        <p:txBody>
          <a:bodyPr wrap="square">
            <a:spAutoFit/>
          </a:bodyPr>
          <a:lstStyle/>
          <a:p>
            <a:pPr>
              <a:lnSpc>
                <a:spcPct val="150000"/>
              </a:lnSpc>
            </a:pPr>
            <a:r>
              <a:rPr lang="en-US" sz="2800" b="1" dirty="0"/>
              <a:t>Navigation bar container:</a:t>
            </a:r>
          </a:p>
          <a:p>
            <a:pPr>
              <a:lnSpc>
                <a:spcPct val="150000"/>
              </a:lnSpc>
            </a:pPr>
            <a:r>
              <a:rPr lang="en-US" sz="2800" dirty="0"/>
              <a:t>Creates the Home link.</a:t>
            </a:r>
            <a:br>
              <a:rPr lang="en-US" sz="2800" dirty="0"/>
            </a:br>
            <a:r>
              <a:rPr lang="en-US" sz="2800" dirty="0" err="1">
                <a:highlight>
                  <a:srgbClr val="FFFF00"/>
                </a:highlight>
              </a:rPr>
              <a:t>href</a:t>
            </a:r>
            <a:r>
              <a:rPr lang="en-US" sz="2800" dirty="0">
                <a:highlight>
                  <a:srgbClr val="FFFF00"/>
                </a:highlight>
              </a:rPr>
              <a:t>="#" </a:t>
            </a:r>
            <a:r>
              <a:rPr lang="en-US" sz="2800" dirty="0"/>
              <a:t>means it does not go to another page yet.</a:t>
            </a:r>
          </a:p>
        </p:txBody>
      </p:sp>
      <p:sp>
        <p:nvSpPr>
          <p:cNvPr id="3" name="Rectangle: Rounded Corners 2">
            <a:extLst>
              <a:ext uri="{FF2B5EF4-FFF2-40B4-BE49-F238E27FC236}">
                <a16:creationId xmlns:a16="http://schemas.microsoft.com/office/drawing/2014/main" id="{6B79464F-EA6F-C041-34D8-D7BBB12345C6}"/>
              </a:ext>
            </a:extLst>
          </p:cNvPr>
          <p:cNvSpPr/>
          <p:nvPr/>
        </p:nvSpPr>
        <p:spPr>
          <a:xfrm>
            <a:off x="0" y="1405053"/>
            <a:ext cx="4371278" cy="42374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40238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28FC3-930C-A9C1-5534-3CB7B3DD26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9AC77C-980B-C44A-97EF-31F653F92B87}"/>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5" name="TextBox 4">
            <a:extLst>
              <a:ext uri="{FF2B5EF4-FFF2-40B4-BE49-F238E27FC236}">
                <a16:creationId xmlns:a16="http://schemas.microsoft.com/office/drawing/2014/main" id="{0A7E922F-243E-514A-B2F3-683E12B09487}"/>
              </a:ext>
            </a:extLst>
          </p:cNvPr>
          <p:cNvSpPr txBox="1"/>
          <p:nvPr/>
        </p:nvSpPr>
        <p:spPr>
          <a:xfrm>
            <a:off x="0" y="587889"/>
            <a:ext cx="9079880" cy="6247864"/>
          </a:xfrm>
          <a:prstGeom prst="rect">
            <a:avLst/>
          </a:prstGeom>
          <a:solidFill>
            <a:schemeClr val="tx1"/>
          </a:solidFill>
        </p:spPr>
        <p:txBody>
          <a:bodyPr wrap="square">
            <a:spAutoFit/>
          </a:bodyPr>
          <a:lstStyle/>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"navbar"</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Home</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News</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"dropdown"</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button</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err="1">
                <a:solidFill>
                  <a:srgbClr val="CE9178"/>
                </a:solidFill>
                <a:effectLst/>
                <a:latin typeface="Consolas" panose="020B0609020204030204" pitchFamily="49" charset="0"/>
              </a:rPr>
              <a:t>dropbtn</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Dropdown</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button</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"dropdown-content"</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1</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2</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3</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6" name="TextBox 5">
            <a:extLst>
              <a:ext uri="{FF2B5EF4-FFF2-40B4-BE49-F238E27FC236}">
                <a16:creationId xmlns:a16="http://schemas.microsoft.com/office/drawing/2014/main" id="{BC417984-4092-3EBA-8E2F-91132EA9A039}"/>
              </a:ext>
            </a:extLst>
          </p:cNvPr>
          <p:cNvSpPr txBox="1"/>
          <p:nvPr/>
        </p:nvSpPr>
        <p:spPr>
          <a:xfrm>
            <a:off x="5140712" y="22247"/>
            <a:ext cx="7051288" cy="1318181"/>
          </a:xfrm>
          <a:prstGeom prst="rect">
            <a:avLst/>
          </a:prstGeom>
          <a:solidFill>
            <a:schemeClr val="bg1"/>
          </a:solidFill>
          <a:ln>
            <a:solidFill>
              <a:srgbClr val="FF0000"/>
            </a:solidFill>
          </a:ln>
        </p:spPr>
        <p:txBody>
          <a:bodyPr wrap="square">
            <a:spAutoFit/>
          </a:bodyPr>
          <a:lstStyle/>
          <a:p>
            <a:pPr>
              <a:lnSpc>
                <a:spcPct val="150000"/>
              </a:lnSpc>
            </a:pPr>
            <a:r>
              <a:rPr lang="en-US" sz="2800" b="1" dirty="0"/>
              <a:t>Navigation bar container:</a:t>
            </a:r>
          </a:p>
          <a:p>
            <a:pPr>
              <a:lnSpc>
                <a:spcPct val="150000"/>
              </a:lnSpc>
            </a:pPr>
            <a:r>
              <a:rPr lang="en-US" sz="2800" dirty="0"/>
              <a:t>Creates the News link.</a:t>
            </a:r>
          </a:p>
        </p:txBody>
      </p:sp>
      <p:sp>
        <p:nvSpPr>
          <p:cNvPr id="3" name="Rectangle: Rounded Corners 2">
            <a:extLst>
              <a:ext uri="{FF2B5EF4-FFF2-40B4-BE49-F238E27FC236}">
                <a16:creationId xmlns:a16="http://schemas.microsoft.com/office/drawing/2014/main" id="{192E7288-B32D-3974-2E43-7B3EA9D79951}"/>
              </a:ext>
            </a:extLst>
          </p:cNvPr>
          <p:cNvSpPr/>
          <p:nvPr/>
        </p:nvSpPr>
        <p:spPr>
          <a:xfrm>
            <a:off x="0" y="1774886"/>
            <a:ext cx="4371278" cy="42374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75573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071EF-4392-0136-300A-C2EBFEE149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4BF382-CC04-AEEC-7276-0C9FFEB4707E}"/>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5" name="TextBox 4">
            <a:extLst>
              <a:ext uri="{FF2B5EF4-FFF2-40B4-BE49-F238E27FC236}">
                <a16:creationId xmlns:a16="http://schemas.microsoft.com/office/drawing/2014/main" id="{B28E4B58-BE3F-E399-F9A9-5089A9260557}"/>
              </a:ext>
            </a:extLst>
          </p:cNvPr>
          <p:cNvSpPr txBox="1"/>
          <p:nvPr/>
        </p:nvSpPr>
        <p:spPr>
          <a:xfrm>
            <a:off x="0" y="587889"/>
            <a:ext cx="9079880" cy="6247864"/>
          </a:xfrm>
          <a:prstGeom prst="rect">
            <a:avLst/>
          </a:prstGeom>
          <a:solidFill>
            <a:schemeClr val="tx1"/>
          </a:solidFill>
        </p:spPr>
        <p:txBody>
          <a:bodyPr wrap="square">
            <a:spAutoFit/>
          </a:bodyPr>
          <a:lstStyle/>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"navbar"</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Home</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News</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"dropdown"</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button</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err="1">
                <a:solidFill>
                  <a:srgbClr val="CE9178"/>
                </a:solidFill>
                <a:effectLst/>
                <a:latin typeface="Consolas" panose="020B0609020204030204" pitchFamily="49" charset="0"/>
              </a:rPr>
              <a:t>dropbtn</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Dropdown</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button</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"dropdown-content"</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1</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2</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3</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6" name="TextBox 5">
            <a:extLst>
              <a:ext uri="{FF2B5EF4-FFF2-40B4-BE49-F238E27FC236}">
                <a16:creationId xmlns:a16="http://schemas.microsoft.com/office/drawing/2014/main" id="{99A81B1A-6427-6BA5-6C1B-067EAC54D155}"/>
              </a:ext>
            </a:extLst>
          </p:cNvPr>
          <p:cNvSpPr txBox="1"/>
          <p:nvPr/>
        </p:nvSpPr>
        <p:spPr>
          <a:xfrm>
            <a:off x="5140712" y="22247"/>
            <a:ext cx="7051288" cy="1964512"/>
          </a:xfrm>
          <a:prstGeom prst="rect">
            <a:avLst/>
          </a:prstGeom>
          <a:solidFill>
            <a:schemeClr val="bg1"/>
          </a:solidFill>
          <a:ln>
            <a:solidFill>
              <a:srgbClr val="FF0000"/>
            </a:solidFill>
          </a:ln>
        </p:spPr>
        <p:txBody>
          <a:bodyPr wrap="square">
            <a:spAutoFit/>
          </a:bodyPr>
          <a:lstStyle/>
          <a:p>
            <a:pPr>
              <a:lnSpc>
                <a:spcPct val="150000"/>
              </a:lnSpc>
            </a:pPr>
            <a:r>
              <a:rPr lang="en-US" sz="2800" b="1" dirty="0"/>
              <a:t>Dropdown section:</a:t>
            </a:r>
          </a:p>
          <a:p>
            <a:pPr>
              <a:lnSpc>
                <a:spcPct val="150000"/>
              </a:lnSpc>
            </a:pPr>
            <a:r>
              <a:rPr lang="en-US" sz="2800" dirty="0"/>
              <a:t>Creates a separate section for the dropdown menu.</a:t>
            </a:r>
          </a:p>
        </p:txBody>
      </p:sp>
      <p:sp>
        <p:nvSpPr>
          <p:cNvPr id="3" name="Rectangle: Rounded Corners 2">
            <a:extLst>
              <a:ext uri="{FF2B5EF4-FFF2-40B4-BE49-F238E27FC236}">
                <a16:creationId xmlns:a16="http://schemas.microsoft.com/office/drawing/2014/main" id="{AF14303F-B258-2A62-037C-0009BD8258BF}"/>
              </a:ext>
            </a:extLst>
          </p:cNvPr>
          <p:cNvSpPr/>
          <p:nvPr/>
        </p:nvSpPr>
        <p:spPr>
          <a:xfrm>
            <a:off x="0" y="2888165"/>
            <a:ext cx="4806176" cy="41443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43419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D4F7F-FE71-8DCA-BC67-1B96122678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60F166-B48F-2462-627F-A68E88D708A5}"/>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5" name="TextBox 4">
            <a:extLst>
              <a:ext uri="{FF2B5EF4-FFF2-40B4-BE49-F238E27FC236}">
                <a16:creationId xmlns:a16="http://schemas.microsoft.com/office/drawing/2014/main" id="{78D1403A-CD01-F2EB-AB4B-DDA3008F73B0}"/>
              </a:ext>
            </a:extLst>
          </p:cNvPr>
          <p:cNvSpPr txBox="1"/>
          <p:nvPr/>
        </p:nvSpPr>
        <p:spPr>
          <a:xfrm>
            <a:off x="0" y="587889"/>
            <a:ext cx="9079880" cy="6247864"/>
          </a:xfrm>
          <a:prstGeom prst="rect">
            <a:avLst/>
          </a:prstGeom>
          <a:solidFill>
            <a:schemeClr val="tx1"/>
          </a:solidFill>
        </p:spPr>
        <p:txBody>
          <a:bodyPr wrap="square">
            <a:spAutoFit/>
          </a:bodyPr>
          <a:lstStyle/>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"navbar"</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Home</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News</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"dropdown"</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button</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err="1">
                <a:solidFill>
                  <a:srgbClr val="CE9178"/>
                </a:solidFill>
                <a:effectLst/>
                <a:latin typeface="Consolas" panose="020B0609020204030204" pitchFamily="49" charset="0"/>
              </a:rPr>
              <a:t>dropbtn</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Dropdown</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button</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"dropdown-content"</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1</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2</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3</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6" name="TextBox 5">
            <a:extLst>
              <a:ext uri="{FF2B5EF4-FFF2-40B4-BE49-F238E27FC236}">
                <a16:creationId xmlns:a16="http://schemas.microsoft.com/office/drawing/2014/main" id="{73A68271-97F7-7E76-5061-38010F7B5EFB}"/>
              </a:ext>
            </a:extLst>
          </p:cNvPr>
          <p:cNvSpPr txBox="1"/>
          <p:nvPr/>
        </p:nvSpPr>
        <p:spPr>
          <a:xfrm>
            <a:off x="5140712" y="22247"/>
            <a:ext cx="7051288" cy="1318181"/>
          </a:xfrm>
          <a:prstGeom prst="rect">
            <a:avLst/>
          </a:prstGeom>
          <a:solidFill>
            <a:schemeClr val="bg1"/>
          </a:solidFill>
          <a:ln>
            <a:solidFill>
              <a:srgbClr val="FF0000"/>
            </a:solidFill>
          </a:ln>
        </p:spPr>
        <p:txBody>
          <a:bodyPr wrap="square">
            <a:spAutoFit/>
          </a:bodyPr>
          <a:lstStyle/>
          <a:p>
            <a:pPr>
              <a:lnSpc>
                <a:spcPct val="150000"/>
              </a:lnSpc>
            </a:pPr>
            <a:r>
              <a:rPr lang="en-US" sz="2800" b="1" dirty="0"/>
              <a:t>Dropdown section:</a:t>
            </a:r>
          </a:p>
          <a:p>
            <a:pPr>
              <a:lnSpc>
                <a:spcPct val="150000"/>
              </a:lnSpc>
            </a:pPr>
            <a:r>
              <a:rPr lang="en-US" sz="2800" dirty="0"/>
              <a:t>Creates the button named Dropdown.</a:t>
            </a:r>
          </a:p>
        </p:txBody>
      </p:sp>
      <p:sp>
        <p:nvSpPr>
          <p:cNvPr id="3" name="Rectangle: Rounded Corners 2">
            <a:extLst>
              <a:ext uri="{FF2B5EF4-FFF2-40B4-BE49-F238E27FC236}">
                <a16:creationId xmlns:a16="http://schemas.microsoft.com/office/drawing/2014/main" id="{F67AD54B-FC09-F2D6-AB19-16D65B88BAF9}"/>
              </a:ext>
            </a:extLst>
          </p:cNvPr>
          <p:cNvSpPr/>
          <p:nvPr/>
        </p:nvSpPr>
        <p:spPr>
          <a:xfrm>
            <a:off x="-1" y="3267306"/>
            <a:ext cx="8898673" cy="45720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51823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2A887-60FF-4C95-F8CC-D49BA32C66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2C3782-C1C7-4C77-2DAB-05DAB31F07DD}"/>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5" name="TextBox 4">
            <a:extLst>
              <a:ext uri="{FF2B5EF4-FFF2-40B4-BE49-F238E27FC236}">
                <a16:creationId xmlns:a16="http://schemas.microsoft.com/office/drawing/2014/main" id="{CB1312C1-2BD8-0512-5A44-9E2521B547CF}"/>
              </a:ext>
            </a:extLst>
          </p:cNvPr>
          <p:cNvSpPr txBox="1"/>
          <p:nvPr/>
        </p:nvSpPr>
        <p:spPr>
          <a:xfrm>
            <a:off x="0" y="587889"/>
            <a:ext cx="9079880" cy="6247864"/>
          </a:xfrm>
          <a:prstGeom prst="rect">
            <a:avLst/>
          </a:prstGeom>
          <a:solidFill>
            <a:schemeClr val="tx1"/>
          </a:solidFill>
        </p:spPr>
        <p:txBody>
          <a:bodyPr wrap="square">
            <a:spAutoFit/>
          </a:bodyPr>
          <a:lstStyle/>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"navbar"</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Home</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News</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"dropdown"</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button</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err="1">
                <a:solidFill>
                  <a:srgbClr val="CE9178"/>
                </a:solidFill>
                <a:effectLst/>
                <a:latin typeface="Consolas" panose="020B0609020204030204" pitchFamily="49" charset="0"/>
              </a:rPr>
              <a:t>dropbtn</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Dropdown</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button</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"dropdown-content"</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1</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2</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3</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6" name="TextBox 5">
            <a:extLst>
              <a:ext uri="{FF2B5EF4-FFF2-40B4-BE49-F238E27FC236}">
                <a16:creationId xmlns:a16="http://schemas.microsoft.com/office/drawing/2014/main" id="{58635605-BE86-FA44-10C0-51C43A26A794}"/>
              </a:ext>
            </a:extLst>
          </p:cNvPr>
          <p:cNvSpPr txBox="1"/>
          <p:nvPr/>
        </p:nvSpPr>
        <p:spPr>
          <a:xfrm>
            <a:off x="5140712" y="22247"/>
            <a:ext cx="7051288" cy="1964512"/>
          </a:xfrm>
          <a:prstGeom prst="rect">
            <a:avLst/>
          </a:prstGeom>
          <a:solidFill>
            <a:schemeClr val="bg1"/>
          </a:solidFill>
          <a:ln>
            <a:solidFill>
              <a:srgbClr val="FF0000"/>
            </a:solidFill>
          </a:ln>
        </p:spPr>
        <p:txBody>
          <a:bodyPr wrap="square">
            <a:spAutoFit/>
          </a:bodyPr>
          <a:lstStyle/>
          <a:p>
            <a:pPr>
              <a:lnSpc>
                <a:spcPct val="150000"/>
              </a:lnSpc>
            </a:pPr>
            <a:r>
              <a:rPr lang="en-US" sz="2800" b="1" dirty="0"/>
              <a:t>Dropdown section:</a:t>
            </a:r>
          </a:p>
          <a:p>
            <a:pPr>
              <a:lnSpc>
                <a:spcPct val="150000"/>
              </a:lnSpc>
            </a:pPr>
            <a:r>
              <a:rPr lang="en-US" sz="2800" dirty="0"/>
              <a:t>Creates a hidden box that will contain the dropdown links.</a:t>
            </a:r>
          </a:p>
        </p:txBody>
      </p:sp>
      <p:sp>
        <p:nvSpPr>
          <p:cNvPr id="3" name="Rectangle: Rounded Corners 2">
            <a:extLst>
              <a:ext uri="{FF2B5EF4-FFF2-40B4-BE49-F238E27FC236}">
                <a16:creationId xmlns:a16="http://schemas.microsoft.com/office/drawing/2014/main" id="{E4D89273-68A3-4FAF-B786-D80CC18E55FD}"/>
              </a:ext>
            </a:extLst>
          </p:cNvPr>
          <p:cNvSpPr/>
          <p:nvPr/>
        </p:nvSpPr>
        <p:spPr>
          <a:xfrm>
            <a:off x="-1" y="3702204"/>
            <a:ext cx="8898673" cy="45720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85484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FA6E0-57AD-6FBE-E135-35BE8F7392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330573-F394-24D8-EFB6-70C809CFA7A4}"/>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5" name="TextBox 4">
            <a:extLst>
              <a:ext uri="{FF2B5EF4-FFF2-40B4-BE49-F238E27FC236}">
                <a16:creationId xmlns:a16="http://schemas.microsoft.com/office/drawing/2014/main" id="{CC2A3BD3-DB80-F75C-6428-1BD49DCF8A80}"/>
              </a:ext>
            </a:extLst>
          </p:cNvPr>
          <p:cNvSpPr txBox="1"/>
          <p:nvPr/>
        </p:nvSpPr>
        <p:spPr>
          <a:xfrm>
            <a:off x="0" y="587889"/>
            <a:ext cx="9079880" cy="6247864"/>
          </a:xfrm>
          <a:prstGeom prst="rect">
            <a:avLst/>
          </a:prstGeom>
          <a:solidFill>
            <a:schemeClr val="tx1"/>
          </a:solidFill>
        </p:spPr>
        <p:txBody>
          <a:bodyPr wrap="square">
            <a:spAutoFit/>
          </a:bodyPr>
          <a:lstStyle/>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"navbar"</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Home</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News</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"dropdown"</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button</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err="1">
                <a:solidFill>
                  <a:srgbClr val="CE9178"/>
                </a:solidFill>
                <a:effectLst/>
                <a:latin typeface="Consolas" panose="020B0609020204030204" pitchFamily="49" charset="0"/>
              </a:rPr>
              <a:t>dropbtn</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Dropdown</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button</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"dropdown-content"</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1</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2</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3</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6" name="TextBox 5">
            <a:extLst>
              <a:ext uri="{FF2B5EF4-FFF2-40B4-BE49-F238E27FC236}">
                <a16:creationId xmlns:a16="http://schemas.microsoft.com/office/drawing/2014/main" id="{C51EE003-D3FF-CF08-8DC3-B8BD4A5A3C86}"/>
              </a:ext>
            </a:extLst>
          </p:cNvPr>
          <p:cNvSpPr txBox="1"/>
          <p:nvPr/>
        </p:nvSpPr>
        <p:spPr>
          <a:xfrm>
            <a:off x="5140712" y="22247"/>
            <a:ext cx="7051288" cy="1964512"/>
          </a:xfrm>
          <a:prstGeom prst="rect">
            <a:avLst/>
          </a:prstGeom>
          <a:solidFill>
            <a:schemeClr val="bg1"/>
          </a:solidFill>
          <a:ln>
            <a:solidFill>
              <a:srgbClr val="FF0000"/>
            </a:solidFill>
          </a:ln>
        </p:spPr>
        <p:txBody>
          <a:bodyPr wrap="square">
            <a:spAutoFit/>
          </a:bodyPr>
          <a:lstStyle/>
          <a:p>
            <a:pPr>
              <a:lnSpc>
                <a:spcPct val="150000"/>
              </a:lnSpc>
            </a:pPr>
            <a:r>
              <a:rPr lang="en-US" sz="2800" b="1" dirty="0"/>
              <a:t>Dropdown section:</a:t>
            </a:r>
          </a:p>
          <a:p>
            <a:pPr>
              <a:lnSpc>
                <a:spcPct val="150000"/>
              </a:lnSpc>
            </a:pPr>
            <a:r>
              <a:rPr lang="en-US" sz="2800" dirty="0"/>
              <a:t>These are the links that will appear when the user moves the mouse over the dropdown.</a:t>
            </a:r>
          </a:p>
        </p:txBody>
      </p:sp>
      <p:sp>
        <p:nvSpPr>
          <p:cNvPr id="3" name="Rectangle: Rounded Corners 2">
            <a:extLst>
              <a:ext uri="{FF2B5EF4-FFF2-40B4-BE49-F238E27FC236}">
                <a16:creationId xmlns:a16="http://schemas.microsoft.com/office/drawing/2014/main" id="{5DBB24B6-ED3E-2ABF-2F8A-5762E9B26F36}"/>
              </a:ext>
            </a:extLst>
          </p:cNvPr>
          <p:cNvSpPr/>
          <p:nvPr/>
        </p:nvSpPr>
        <p:spPr>
          <a:xfrm>
            <a:off x="0" y="4092497"/>
            <a:ext cx="8898673" cy="110397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524114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131EC-1CC3-5CEF-F084-AD81DA25F5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71974D-5EE8-D4B8-3B60-87DA75CEC066}"/>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5" name="TextBox 4">
            <a:extLst>
              <a:ext uri="{FF2B5EF4-FFF2-40B4-BE49-F238E27FC236}">
                <a16:creationId xmlns:a16="http://schemas.microsoft.com/office/drawing/2014/main" id="{F75EB633-AE1D-1C41-73E8-A95DF07609BB}"/>
              </a:ext>
            </a:extLst>
          </p:cNvPr>
          <p:cNvSpPr txBox="1"/>
          <p:nvPr/>
        </p:nvSpPr>
        <p:spPr>
          <a:xfrm>
            <a:off x="0" y="587889"/>
            <a:ext cx="9079880" cy="6247864"/>
          </a:xfrm>
          <a:prstGeom prst="rect">
            <a:avLst/>
          </a:prstGeom>
          <a:solidFill>
            <a:schemeClr val="tx1"/>
          </a:solidFill>
        </p:spPr>
        <p:txBody>
          <a:bodyPr wrap="square">
            <a:spAutoFit/>
          </a:bodyPr>
          <a:lstStyle/>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"navbar"</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Home</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News</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"dropdown"</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button</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err="1">
                <a:solidFill>
                  <a:srgbClr val="CE9178"/>
                </a:solidFill>
                <a:effectLst/>
                <a:latin typeface="Consolas" panose="020B0609020204030204" pitchFamily="49" charset="0"/>
              </a:rPr>
              <a:t>dropbtn</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Dropdown</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button</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"dropdown-content"</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1</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2</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3</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6" name="TextBox 5">
            <a:extLst>
              <a:ext uri="{FF2B5EF4-FFF2-40B4-BE49-F238E27FC236}">
                <a16:creationId xmlns:a16="http://schemas.microsoft.com/office/drawing/2014/main" id="{EFCA3DC4-FED5-160A-FBE3-233AE0D17E23}"/>
              </a:ext>
            </a:extLst>
          </p:cNvPr>
          <p:cNvSpPr txBox="1"/>
          <p:nvPr/>
        </p:nvSpPr>
        <p:spPr>
          <a:xfrm>
            <a:off x="5140712" y="22247"/>
            <a:ext cx="7051288" cy="1318181"/>
          </a:xfrm>
          <a:prstGeom prst="rect">
            <a:avLst/>
          </a:prstGeom>
          <a:solidFill>
            <a:schemeClr val="bg1"/>
          </a:solidFill>
          <a:ln>
            <a:solidFill>
              <a:srgbClr val="FF0000"/>
            </a:solidFill>
          </a:ln>
        </p:spPr>
        <p:txBody>
          <a:bodyPr wrap="square">
            <a:spAutoFit/>
          </a:bodyPr>
          <a:lstStyle/>
          <a:p>
            <a:pPr>
              <a:lnSpc>
                <a:spcPct val="150000"/>
              </a:lnSpc>
            </a:pPr>
            <a:r>
              <a:rPr lang="en-US" sz="2800" b="1" dirty="0"/>
              <a:t>Dropdown section:</a:t>
            </a:r>
          </a:p>
          <a:p>
            <a:pPr>
              <a:lnSpc>
                <a:spcPct val="150000"/>
              </a:lnSpc>
            </a:pPr>
            <a:r>
              <a:rPr lang="en-US" sz="2800" dirty="0"/>
              <a:t>Ends the dropdown content box.</a:t>
            </a:r>
          </a:p>
        </p:txBody>
      </p:sp>
      <p:sp>
        <p:nvSpPr>
          <p:cNvPr id="3" name="Rectangle: Rounded Corners 2">
            <a:extLst>
              <a:ext uri="{FF2B5EF4-FFF2-40B4-BE49-F238E27FC236}">
                <a16:creationId xmlns:a16="http://schemas.microsoft.com/office/drawing/2014/main" id="{7D3AE783-CC72-ED95-05C6-0541BB82E659}"/>
              </a:ext>
            </a:extLst>
          </p:cNvPr>
          <p:cNvSpPr/>
          <p:nvPr/>
        </p:nvSpPr>
        <p:spPr>
          <a:xfrm>
            <a:off x="0" y="5207620"/>
            <a:ext cx="8898673" cy="36799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85469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6DEDA-8CC6-53B7-BAAE-3A193ACF5D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5F0A98-E7F5-4819-B961-178F199E6DC0}"/>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5" name="TextBox 4">
            <a:extLst>
              <a:ext uri="{FF2B5EF4-FFF2-40B4-BE49-F238E27FC236}">
                <a16:creationId xmlns:a16="http://schemas.microsoft.com/office/drawing/2014/main" id="{75C657FD-BEE0-27E4-9C2D-60ADFA3A5CF7}"/>
              </a:ext>
            </a:extLst>
          </p:cNvPr>
          <p:cNvSpPr txBox="1"/>
          <p:nvPr/>
        </p:nvSpPr>
        <p:spPr>
          <a:xfrm>
            <a:off x="0" y="587889"/>
            <a:ext cx="9079880" cy="6247864"/>
          </a:xfrm>
          <a:prstGeom prst="rect">
            <a:avLst/>
          </a:prstGeom>
          <a:solidFill>
            <a:schemeClr val="tx1"/>
          </a:solidFill>
        </p:spPr>
        <p:txBody>
          <a:bodyPr wrap="square">
            <a:spAutoFit/>
          </a:bodyPr>
          <a:lstStyle/>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"navbar"</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Home</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News</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"dropdown"</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button</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err="1">
                <a:solidFill>
                  <a:srgbClr val="CE9178"/>
                </a:solidFill>
                <a:effectLst/>
                <a:latin typeface="Consolas" panose="020B0609020204030204" pitchFamily="49" charset="0"/>
              </a:rPr>
              <a:t>dropbtn</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Dropdown</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button</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"dropdown-content"</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1</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2</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3</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6" name="TextBox 5">
            <a:extLst>
              <a:ext uri="{FF2B5EF4-FFF2-40B4-BE49-F238E27FC236}">
                <a16:creationId xmlns:a16="http://schemas.microsoft.com/office/drawing/2014/main" id="{16E7C216-1D3F-F582-BD51-D8154370B1DD}"/>
              </a:ext>
            </a:extLst>
          </p:cNvPr>
          <p:cNvSpPr txBox="1"/>
          <p:nvPr/>
        </p:nvSpPr>
        <p:spPr>
          <a:xfrm>
            <a:off x="5140712" y="22247"/>
            <a:ext cx="7051288" cy="1318181"/>
          </a:xfrm>
          <a:prstGeom prst="rect">
            <a:avLst/>
          </a:prstGeom>
          <a:solidFill>
            <a:schemeClr val="bg1"/>
          </a:solidFill>
          <a:ln>
            <a:solidFill>
              <a:srgbClr val="FF0000"/>
            </a:solidFill>
          </a:ln>
        </p:spPr>
        <p:txBody>
          <a:bodyPr wrap="square">
            <a:spAutoFit/>
          </a:bodyPr>
          <a:lstStyle/>
          <a:p>
            <a:pPr>
              <a:lnSpc>
                <a:spcPct val="150000"/>
              </a:lnSpc>
            </a:pPr>
            <a:r>
              <a:rPr lang="en-US" sz="2800" b="1" dirty="0"/>
              <a:t>Dropdown section:</a:t>
            </a:r>
          </a:p>
          <a:p>
            <a:pPr>
              <a:lnSpc>
                <a:spcPct val="150000"/>
              </a:lnSpc>
            </a:pPr>
            <a:r>
              <a:rPr lang="en-US" sz="2800" dirty="0"/>
              <a:t>Ends the dropdown section.</a:t>
            </a:r>
          </a:p>
        </p:txBody>
      </p:sp>
      <p:sp>
        <p:nvSpPr>
          <p:cNvPr id="3" name="Rectangle: Rounded Corners 2">
            <a:extLst>
              <a:ext uri="{FF2B5EF4-FFF2-40B4-BE49-F238E27FC236}">
                <a16:creationId xmlns:a16="http://schemas.microsoft.com/office/drawing/2014/main" id="{70375F48-C06E-EEE0-C60C-B58879AA9D44}"/>
              </a:ext>
            </a:extLst>
          </p:cNvPr>
          <p:cNvSpPr/>
          <p:nvPr/>
        </p:nvSpPr>
        <p:spPr>
          <a:xfrm>
            <a:off x="0" y="5586761"/>
            <a:ext cx="8898673" cy="36799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22769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C44CE-8CB7-F6E3-E271-4956120F5D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8A3BF1-6AAC-7817-8F1C-B91A388FD100}"/>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5" name="TextBox 4">
            <a:extLst>
              <a:ext uri="{FF2B5EF4-FFF2-40B4-BE49-F238E27FC236}">
                <a16:creationId xmlns:a16="http://schemas.microsoft.com/office/drawing/2014/main" id="{AA7F1733-F9BC-8327-6CC9-90CC73ED286C}"/>
              </a:ext>
            </a:extLst>
          </p:cNvPr>
          <p:cNvSpPr txBox="1"/>
          <p:nvPr/>
        </p:nvSpPr>
        <p:spPr>
          <a:xfrm>
            <a:off x="0" y="587889"/>
            <a:ext cx="9079880" cy="6247864"/>
          </a:xfrm>
          <a:prstGeom prst="rect">
            <a:avLst/>
          </a:prstGeom>
          <a:solidFill>
            <a:schemeClr val="tx1"/>
          </a:solidFill>
        </p:spPr>
        <p:txBody>
          <a:bodyPr wrap="square">
            <a:spAutoFit/>
          </a:bodyPr>
          <a:lstStyle/>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"navbar"</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Home</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News</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"dropdown"</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button</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err="1">
                <a:solidFill>
                  <a:srgbClr val="CE9178"/>
                </a:solidFill>
                <a:effectLst/>
                <a:latin typeface="Consolas" panose="020B0609020204030204" pitchFamily="49" charset="0"/>
              </a:rPr>
              <a:t>dropbtn</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Dropdown</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button</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CCCCCC"/>
                </a:solidFill>
                <a:effectLst/>
                <a:latin typeface="Consolas" panose="020B0609020204030204" pitchFamily="49" charset="0"/>
              </a:rPr>
              <a:t> </a:t>
            </a:r>
            <a:r>
              <a:rPr lang="en-US" sz="2500" b="0" dirty="0">
                <a:solidFill>
                  <a:srgbClr val="9CDCFE"/>
                </a:solidFill>
                <a:effectLst/>
                <a:latin typeface="Consolas" panose="020B0609020204030204" pitchFamily="49" charset="0"/>
              </a:rPr>
              <a:t>class</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"dropdown-content"</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1</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2</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CCCCCC"/>
                </a:solidFill>
                <a:effectLst/>
                <a:latin typeface="Consolas" panose="020B0609020204030204" pitchFamily="49" charset="0"/>
              </a:rPr>
              <a:t> </a:t>
            </a:r>
            <a:r>
              <a:rPr lang="en-US" sz="2500" b="0" dirty="0" err="1">
                <a:solidFill>
                  <a:srgbClr val="9CDCFE"/>
                </a:solidFill>
                <a:effectLst/>
                <a:latin typeface="Consolas" panose="020B0609020204030204" pitchFamily="49" charset="0"/>
              </a:rPr>
              <a:t>href</a:t>
            </a:r>
            <a:r>
              <a:rPr lang="en-US" sz="2500" b="0" dirty="0">
                <a:solidFill>
                  <a:srgbClr val="CCCCCC"/>
                </a:solidFill>
                <a:effectLst/>
                <a:latin typeface="Consolas" panose="020B0609020204030204" pitchFamily="49" charset="0"/>
              </a:rPr>
              <a:t>=</a:t>
            </a:r>
            <a:r>
              <a:rPr lang="en-US" sz="2500" b="0" dirty="0">
                <a:solidFill>
                  <a:srgbClr val="CE9178"/>
                </a:solidFill>
                <a:effectLst/>
                <a:latin typeface="Consolas" panose="020B0609020204030204" pitchFamily="49" charset="0"/>
              </a:rPr>
              <a:t>"#"</a:t>
            </a:r>
            <a:r>
              <a:rPr lang="en-US" sz="2500" b="0" dirty="0">
                <a:solidFill>
                  <a:srgbClr val="808080"/>
                </a:solidFill>
                <a:effectLst/>
                <a:latin typeface="Consolas" panose="020B0609020204030204" pitchFamily="49" charset="0"/>
              </a:rPr>
              <a:t>&gt;</a:t>
            </a:r>
            <a:r>
              <a:rPr lang="en-US" sz="2500" b="0" dirty="0">
                <a:solidFill>
                  <a:srgbClr val="CCCCCC"/>
                </a:solidFill>
                <a:effectLst/>
                <a:latin typeface="Consolas" panose="020B0609020204030204" pitchFamily="49" charset="0"/>
              </a:rPr>
              <a:t>Link 3</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a</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div</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a:p>
            <a:pPr>
              <a:buNone/>
            </a:pP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body</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6" name="TextBox 5">
            <a:extLst>
              <a:ext uri="{FF2B5EF4-FFF2-40B4-BE49-F238E27FC236}">
                <a16:creationId xmlns:a16="http://schemas.microsoft.com/office/drawing/2014/main" id="{24B594CF-B7AC-0FE2-601E-AA14F2878773}"/>
              </a:ext>
            </a:extLst>
          </p:cNvPr>
          <p:cNvSpPr txBox="1"/>
          <p:nvPr/>
        </p:nvSpPr>
        <p:spPr>
          <a:xfrm>
            <a:off x="5140712" y="22247"/>
            <a:ext cx="7051288" cy="1318181"/>
          </a:xfrm>
          <a:prstGeom prst="rect">
            <a:avLst/>
          </a:prstGeom>
          <a:solidFill>
            <a:schemeClr val="bg1"/>
          </a:solidFill>
          <a:ln>
            <a:solidFill>
              <a:srgbClr val="FF0000"/>
            </a:solidFill>
          </a:ln>
        </p:spPr>
        <p:txBody>
          <a:bodyPr wrap="square">
            <a:spAutoFit/>
          </a:bodyPr>
          <a:lstStyle/>
          <a:p>
            <a:pPr>
              <a:lnSpc>
                <a:spcPct val="150000"/>
              </a:lnSpc>
            </a:pPr>
            <a:r>
              <a:rPr lang="en-US" sz="2800" b="1" dirty="0"/>
              <a:t>Dropdown section:</a:t>
            </a:r>
          </a:p>
          <a:p>
            <a:pPr>
              <a:lnSpc>
                <a:spcPct val="150000"/>
              </a:lnSpc>
            </a:pPr>
            <a:r>
              <a:rPr lang="en-US" sz="2800" dirty="0"/>
              <a:t>Ends the navigation bar.</a:t>
            </a:r>
          </a:p>
        </p:txBody>
      </p:sp>
      <p:sp>
        <p:nvSpPr>
          <p:cNvPr id="3" name="Rectangle: Rounded Corners 2">
            <a:extLst>
              <a:ext uri="{FF2B5EF4-FFF2-40B4-BE49-F238E27FC236}">
                <a16:creationId xmlns:a16="http://schemas.microsoft.com/office/drawing/2014/main" id="{C8CF4779-E90C-79AF-A961-488227A8057C}"/>
              </a:ext>
            </a:extLst>
          </p:cNvPr>
          <p:cNvSpPr/>
          <p:nvPr/>
        </p:nvSpPr>
        <p:spPr>
          <a:xfrm>
            <a:off x="-22303" y="5977054"/>
            <a:ext cx="8898673" cy="36799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15169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1DAFE-D9DC-5645-F3B7-19959EE818E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019CCA9-A36C-E5D8-4812-EE5FDA0270FD}"/>
              </a:ext>
            </a:extLst>
          </p:cNvPr>
          <p:cNvSpPr txBox="1"/>
          <p:nvPr/>
        </p:nvSpPr>
        <p:spPr>
          <a:xfrm>
            <a:off x="0" y="568712"/>
            <a:ext cx="12192000" cy="29715827"/>
          </a:xfrm>
          <a:prstGeom prst="rect">
            <a:avLst/>
          </a:prstGeom>
          <a:solidFill>
            <a:schemeClr val="tx1"/>
          </a:solidFill>
        </p:spPr>
        <p:txBody>
          <a:bodyPr wrap="square">
            <a:spAutoFit/>
          </a:bodyPr>
          <a:lstStyle/>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body</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margin</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font-family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Arial</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sans-serif</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.navbar</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overflow</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hidden</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#333</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.navbar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float</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left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font-size</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18px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text-align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center</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14px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20px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text-decoration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float</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left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overflow</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hidden</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dropbtn</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font-size</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18px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border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outline</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14px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20px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red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font-family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inherit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margin</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cursor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pointer</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.navbar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dropbtn</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red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position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absolute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min-width</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box-shadow</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8px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err="1">
                <a:solidFill>
                  <a:srgbClr val="DCDCAA"/>
                </a:solidFill>
                <a:effectLst/>
                <a:latin typeface="Consolas" panose="020B0609020204030204" pitchFamily="49" charset="0"/>
              </a:rPr>
              <a:t>rgba</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0.2</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z-index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float</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black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12px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text-decoration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text-align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left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#ddd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2" name="Title 1">
            <a:extLst>
              <a:ext uri="{FF2B5EF4-FFF2-40B4-BE49-F238E27FC236}">
                <a16:creationId xmlns:a16="http://schemas.microsoft.com/office/drawing/2014/main" id="{3250FA23-045F-33D9-D7FD-D4DD0C70AD41}"/>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6" name="TextBox 5">
            <a:extLst>
              <a:ext uri="{FF2B5EF4-FFF2-40B4-BE49-F238E27FC236}">
                <a16:creationId xmlns:a16="http://schemas.microsoft.com/office/drawing/2014/main" id="{B6AD671E-071B-4026-A384-AB076B80EB17}"/>
              </a:ext>
            </a:extLst>
          </p:cNvPr>
          <p:cNvSpPr txBox="1"/>
          <p:nvPr/>
        </p:nvSpPr>
        <p:spPr>
          <a:xfrm>
            <a:off x="5140712" y="22247"/>
            <a:ext cx="7051288" cy="1318181"/>
          </a:xfrm>
          <a:prstGeom prst="rect">
            <a:avLst/>
          </a:prstGeom>
          <a:solidFill>
            <a:schemeClr val="bg1"/>
          </a:solidFill>
          <a:ln>
            <a:solidFill>
              <a:srgbClr val="FF0000"/>
            </a:solidFill>
          </a:ln>
        </p:spPr>
        <p:txBody>
          <a:bodyPr wrap="square">
            <a:spAutoFit/>
          </a:bodyPr>
          <a:lstStyle/>
          <a:p>
            <a:pPr>
              <a:lnSpc>
                <a:spcPct val="150000"/>
              </a:lnSpc>
            </a:pPr>
            <a:r>
              <a:rPr lang="en-US" sz="2800" b="1" dirty="0"/>
              <a:t>Step 5: Add the CSS styling</a:t>
            </a:r>
          </a:p>
          <a:p>
            <a:pPr>
              <a:lnSpc>
                <a:spcPct val="150000"/>
              </a:lnSpc>
            </a:pPr>
            <a:r>
              <a:rPr lang="en-US" sz="2800" dirty="0"/>
              <a:t>Now use this code inside the &lt;style&gt; section:</a:t>
            </a:r>
          </a:p>
        </p:txBody>
      </p:sp>
      <p:sp>
        <p:nvSpPr>
          <p:cNvPr id="10" name="TextBox 9">
            <a:extLst>
              <a:ext uri="{FF2B5EF4-FFF2-40B4-BE49-F238E27FC236}">
                <a16:creationId xmlns:a16="http://schemas.microsoft.com/office/drawing/2014/main" id="{E2D48150-529B-97E7-8D1F-B399BAF2EF7C}"/>
              </a:ext>
            </a:extLst>
          </p:cNvPr>
          <p:cNvSpPr txBox="1"/>
          <p:nvPr/>
        </p:nvSpPr>
        <p:spPr>
          <a:xfrm>
            <a:off x="5555166" y="2300749"/>
            <a:ext cx="6636834" cy="6488828"/>
          </a:xfrm>
          <a:prstGeom prst="rect">
            <a:avLst/>
          </a:prstGeom>
          <a:noFill/>
          <a:ln>
            <a:solidFill>
              <a:srgbClr val="FF0000"/>
            </a:solidFill>
          </a:ln>
        </p:spPr>
        <p:txBody>
          <a:bodyPr wrap="square">
            <a:spAutoFit/>
          </a:bodyPr>
          <a:lstStyle/>
          <a:p>
            <a:pPr>
              <a:lnSpc>
                <a:spcPct val="150000"/>
              </a:lnSpc>
              <a:buNone/>
            </a:pPr>
            <a:r>
              <a:rPr lang="en-US" sz="2800" b="1" dirty="0">
                <a:solidFill>
                  <a:schemeClr val="bg1"/>
                </a:solidFill>
              </a:rPr>
              <a:t>Style for the whole page</a:t>
            </a:r>
          </a:p>
          <a:p>
            <a:pPr rtl="0">
              <a:lnSpc>
                <a:spcPct val="150000"/>
              </a:lnSpc>
              <a:buNone/>
            </a:pPr>
            <a:r>
              <a:rPr lang="en-US" sz="2800" dirty="0">
                <a:solidFill>
                  <a:schemeClr val="bg1"/>
                </a:solidFill>
              </a:rPr>
              <a:t>body {</a:t>
            </a:r>
          </a:p>
          <a:p>
            <a:pPr>
              <a:lnSpc>
                <a:spcPct val="150000"/>
              </a:lnSpc>
              <a:buNone/>
            </a:pPr>
            <a:r>
              <a:rPr lang="en-US" sz="2800" dirty="0">
                <a:solidFill>
                  <a:schemeClr val="bg1"/>
                </a:solidFill>
              </a:rPr>
              <a:t>Applies style to the whole page.</a:t>
            </a:r>
          </a:p>
          <a:p>
            <a:pPr rtl="0">
              <a:lnSpc>
                <a:spcPct val="150000"/>
              </a:lnSpc>
              <a:buNone/>
            </a:pPr>
            <a:r>
              <a:rPr lang="en-US" sz="2800" dirty="0">
                <a:solidFill>
                  <a:schemeClr val="bg1"/>
                </a:solidFill>
              </a:rPr>
              <a:t>    margin: 0;</a:t>
            </a:r>
          </a:p>
          <a:p>
            <a:pPr>
              <a:lnSpc>
                <a:spcPct val="150000"/>
              </a:lnSpc>
              <a:buNone/>
            </a:pPr>
            <a:r>
              <a:rPr lang="en-US" sz="2800" dirty="0">
                <a:solidFill>
                  <a:schemeClr val="bg1"/>
                </a:solidFill>
              </a:rPr>
              <a:t>Removes extra empty space around the page.</a:t>
            </a:r>
          </a:p>
          <a:p>
            <a:pPr rtl="0">
              <a:lnSpc>
                <a:spcPct val="150000"/>
              </a:lnSpc>
              <a:buNone/>
            </a:pPr>
            <a:r>
              <a:rPr lang="en-US" sz="2800" dirty="0">
                <a:solidFill>
                  <a:schemeClr val="bg1"/>
                </a:solidFill>
              </a:rPr>
              <a:t>    font-family: Arial, sans-serif;</a:t>
            </a:r>
          </a:p>
          <a:p>
            <a:pPr>
              <a:lnSpc>
                <a:spcPct val="150000"/>
              </a:lnSpc>
            </a:pPr>
            <a:r>
              <a:rPr lang="en-US" sz="2800" dirty="0">
                <a:solidFill>
                  <a:schemeClr val="bg1"/>
                </a:solidFill>
              </a:rPr>
              <a:t>Sets the text style to Arial.</a:t>
            </a:r>
          </a:p>
          <a:p>
            <a:pPr>
              <a:lnSpc>
                <a:spcPct val="150000"/>
              </a:lnSpc>
            </a:pPr>
            <a:r>
              <a:rPr lang="en-US" sz="2800" dirty="0">
                <a:solidFill>
                  <a:schemeClr val="bg1"/>
                </a:solidFill>
              </a:rPr>
              <a:t>}</a:t>
            </a:r>
          </a:p>
          <a:p>
            <a:pPr>
              <a:lnSpc>
                <a:spcPct val="150000"/>
              </a:lnSpc>
            </a:pPr>
            <a:r>
              <a:rPr lang="en-US" sz="2800" dirty="0">
                <a:solidFill>
                  <a:schemeClr val="bg1"/>
                </a:solidFill>
              </a:rPr>
              <a:t>Ends the body style.</a:t>
            </a:r>
          </a:p>
        </p:txBody>
      </p:sp>
    </p:spTree>
    <p:extLst>
      <p:ext uri="{BB962C8B-B14F-4D97-AF65-F5344CB8AC3E}">
        <p14:creationId xmlns:p14="http://schemas.microsoft.com/office/powerpoint/2010/main" val="34016343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8ACD9-D779-119B-FE63-B517547A999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2234C89-7D31-7F58-8B5F-6D861FA99A45}"/>
              </a:ext>
            </a:extLst>
          </p:cNvPr>
          <p:cNvSpPr txBox="1"/>
          <p:nvPr/>
        </p:nvSpPr>
        <p:spPr>
          <a:xfrm>
            <a:off x="0" y="568712"/>
            <a:ext cx="12192000" cy="29715827"/>
          </a:xfrm>
          <a:prstGeom prst="rect">
            <a:avLst/>
          </a:prstGeom>
          <a:solidFill>
            <a:schemeClr val="tx1"/>
          </a:solidFill>
        </p:spPr>
        <p:txBody>
          <a:bodyPr wrap="square">
            <a:spAutoFit/>
          </a:bodyPr>
          <a:lstStyle/>
          <a:p>
            <a:pPr>
              <a:buNone/>
            </a:pPr>
            <a:r>
              <a:rPr lang="en-US" sz="2500" b="0" dirty="0">
                <a:solidFill>
                  <a:srgbClr val="CCCCCC"/>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body</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margin</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font-family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Arial</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sans-serif</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.navbar</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overflow</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hidden</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#333</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.navbar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float</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left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font-size</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18px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text-align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center</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14px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20px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text-decoration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float</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left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overflow</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hidden</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dropbtn</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font-size</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18px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border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outline</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14px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20px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red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font-family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inherit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margin</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cursor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pointer</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.navbar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dropbtn</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red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position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absolute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min-width</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box-shadow</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8px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err="1">
                <a:solidFill>
                  <a:srgbClr val="DCDCAA"/>
                </a:solidFill>
                <a:effectLst/>
                <a:latin typeface="Consolas" panose="020B0609020204030204" pitchFamily="49" charset="0"/>
              </a:rPr>
              <a:t>rgba</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0.2</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z-index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float</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black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12px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text-decoration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text-align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left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#ddd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2" name="Title 1">
            <a:extLst>
              <a:ext uri="{FF2B5EF4-FFF2-40B4-BE49-F238E27FC236}">
                <a16:creationId xmlns:a16="http://schemas.microsoft.com/office/drawing/2014/main" id="{2D393DEF-2A8C-5E76-EBA9-52F2C06CD123}"/>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10" name="TextBox 9">
            <a:extLst>
              <a:ext uri="{FF2B5EF4-FFF2-40B4-BE49-F238E27FC236}">
                <a16:creationId xmlns:a16="http://schemas.microsoft.com/office/drawing/2014/main" id="{8C87CC79-D6DA-E5DD-AA77-5ED8E767837C}"/>
              </a:ext>
            </a:extLst>
          </p:cNvPr>
          <p:cNvSpPr txBox="1"/>
          <p:nvPr/>
        </p:nvSpPr>
        <p:spPr>
          <a:xfrm>
            <a:off x="5555166" y="2300749"/>
            <a:ext cx="6636834" cy="5842497"/>
          </a:xfrm>
          <a:prstGeom prst="rect">
            <a:avLst/>
          </a:prstGeom>
          <a:noFill/>
          <a:ln>
            <a:solidFill>
              <a:srgbClr val="FF0000"/>
            </a:solidFill>
          </a:ln>
        </p:spPr>
        <p:txBody>
          <a:bodyPr wrap="square">
            <a:spAutoFit/>
          </a:bodyPr>
          <a:lstStyle/>
          <a:p>
            <a:pPr>
              <a:lnSpc>
                <a:spcPct val="150000"/>
              </a:lnSpc>
            </a:pPr>
            <a:r>
              <a:rPr lang="en-US" sz="2800" b="1" dirty="0">
                <a:solidFill>
                  <a:schemeClr val="bg1"/>
                </a:solidFill>
              </a:rPr>
              <a:t>Style for the navigation bar</a:t>
            </a:r>
          </a:p>
          <a:p>
            <a:pPr>
              <a:lnSpc>
                <a:spcPct val="150000"/>
              </a:lnSpc>
            </a:pPr>
            <a:r>
              <a:rPr lang="en-US" sz="2800" dirty="0">
                <a:solidFill>
                  <a:schemeClr val="bg1"/>
                </a:solidFill>
              </a:rPr>
              <a:t>.navbar {</a:t>
            </a:r>
          </a:p>
          <a:p>
            <a:pPr>
              <a:lnSpc>
                <a:spcPct val="150000"/>
              </a:lnSpc>
            </a:pPr>
            <a:r>
              <a:rPr lang="en-US" sz="2800" dirty="0">
                <a:solidFill>
                  <a:schemeClr val="bg1"/>
                </a:solidFill>
              </a:rPr>
              <a:t>Selects the main navigation bar.</a:t>
            </a:r>
          </a:p>
          <a:p>
            <a:pPr>
              <a:lnSpc>
                <a:spcPct val="150000"/>
              </a:lnSpc>
            </a:pPr>
            <a:r>
              <a:rPr lang="en-US" sz="2800" dirty="0">
                <a:solidFill>
                  <a:schemeClr val="bg1"/>
                </a:solidFill>
              </a:rPr>
              <a:t>    overflow: hidden;</a:t>
            </a:r>
          </a:p>
          <a:p>
            <a:pPr>
              <a:lnSpc>
                <a:spcPct val="150000"/>
              </a:lnSpc>
            </a:pPr>
            <a:r>
              <a:rPr lang="en-US" sz="2800" dirty="0">
                <a:solidFill>
                  <a:schemeClr val="bg1"/>
                </a:solidFill>
              </a:rPr>
              <a:t>Keeps content inside the navbar neatly.</a:t>
            </a:r>
          </a:p>
          <a:p>
            <a:pPr>
              <a:lnSpc>
                <a:spcPct val="150000"/>
              </a:lnSpc>
            </a:pPr>
            <a:r>
              <a:rPr lang="en-US" sz="2800" dirty="0">
                <a:solidFill>
                  <a:schemeClr val="bg1"/>
                </a:solidFill>
              </a:rPr>
              <a:t>    background-color: #333;</a:t>
            </a:r>
          </a:p>
          <a:p>
            <a:pPr>
              <a:lnSpc>
                <a:spcPct val="150000"/>
              </a:lnSpc>
            </a:pPr>
            <a:r>
              <a:rPr lang="en-US" sz="2800" dirty="0">
                <a:solidFill>
                  <a:schemeClr val="bg1"/>
                </a:solidFill>
              </a:rPr>
              <a:t>Gives the navbar a dark grey background.</a:t>
            </a:r>
          </a:p>
          <a:p>
            <a:pPr>
              <a:lnSpc>
                <a:spcPct val="150000"/>
              </a:lnSpc>
            </a:pPr>
            <a:r>
              <a:rPr lang="en-US" sz="2800" dirty="0">
                <a:solidFill>
                  <a:schemeClr val="bg1"/>
                </a:solidFill>
              </a:rPr>
              <a:t>}</a:t>
            </a:r>
          </a:p>
          <a:p>
            <a:pPr>
              <a:lnSpc>
                <a:spcPct val="150000"/>
              </a:lnSpc>
            </a:pPr>
            <a:r>
              <a:rPr lang="en-US" sz="2800" dirty="0">
                <a:solidFill>
                  <a:schemeClr val="bg1"/>
                </a:solidFill>
              </a:rPr>
              <a:t>Ends navbar style.</a:t>
            </a:r>
          </a:p>
        </p:txBody>
      </p:sp>
    </p:spTree>
    <p:extLst>
      <p:ext uri="{BB962C8B-B14F-4D97-AF65-F5344CB8AC3E}">
        <p14:creationId xmlns:p14="http://schemas.microsoft.com/office/powerpoint/2010/main" val="5557625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B965A-1896-560B-BFD3-0C3AE9B5B6E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C655A93-B206-8236-A085-A5B8B2CD73D7}"/>
              </a:ext>
            </a:extLst>
          </p:cNvPr>
          <p:cNvSpPr txBox="1"/>
          <p:nvPr/>
        </p:nvSpPr>
        <p:spPr>
          <a:xfrm>
            <a:off x="0" y="568712"/>
            <a:ext cx="12192000" cy="24714458"/>
          </a:xfrm>
          <a:prstGeom prst="rect">
            <a:avLst/>
          </a:prstGeom>
          <a:solidFill>
            <a:schemeClr val="tx1"/>
          </a:solidFill>
        </p:spPr>
        <p:txBody>
          <a:bodyPr wrap="square">
            <a:spAutoFit/>
          </a:bodyPr>
          <a:lstStyle/>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.navbar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float</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left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font-size</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18px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text-align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center</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14px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20px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text-decoration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float</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left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overflow</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hidden</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dropbtn</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font-size</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18px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border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outline</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14px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20px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red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font-family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inherit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margin</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cursor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pointer</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.navbar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dropbtn</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red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position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absolute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min-width</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box-shadow</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8px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err="1">
                <a:solidFill>
                  <a:srgbClr val="DCDCAA"/>
                </a:solidFill>
                <a:effectLst/>
                <a:latin typeface="Consolas" panose="020B0609020204030204" pitchFamily="49" charset="0"/>
              </a:rPr>
              <a:t>rgba</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0.2</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z-index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float</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black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12px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text-decoration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text-align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left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#ddd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2" name="Title 1">
            <a:extLst>
              <a:ext uri="{FF2B5EF4-FFF2-40B4-BE49-F238E27FC236}">
                <a16:creationId xmlns:a16="http://schemas.microsoft.com/office/drawing/2014/main" id="{9F8E09BF-F159-E684-52B8-9D75086487A2}"/>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10" name="TextBox 9">
            <a:extLst>
              <a:ext uri="{FF2B5EF4-FFF2-40B4-BE49-F238E27FC236}">
                <a16:creationId xmlns:a16="http://schemas.microsoft.com/office/drawing/2014/main" id="{0177D2F4-B230-5752-C518-A2F0E4887DFC}"/>
              </a:ext>
            </a:extLst>
          </p:cNvPr>
          <p:cNvSpPr txBox="1"/>
          <p:nvPr/>
        </p:nvSpPr>
        <p:spPr>
          <a:xfrm>
            <a:off x="5555166" y="0"/>
            <a:ext cx="6636834" cy="5196166"/>
          </a:xfrm>
          <a:prstGeom prst="rect">
            <a:avLst/>
          </a:prstGeom>
          <a:solidFill>
            <a:schemeClr val="tx1"/>
          </a:solidFill>
          <a:ln>
            <a:solidFill>
              <a:srgbClr val="FF0000"/>
            </a:solidFill>
          </a:ln>
        </p:spPr>
        <p:txBody>
          <a:bodyPr wrap="square">
            <a:spAutoFit/>
          </a:bodyPr>
          <a:lstStyle/>
          <a:p>
            <a:pPr>
              <a:lnSpc>
                <a:spcPct val="150000"/>
              </a:lnSpc>
            </a:pPr>
            <a:r>
              <a:rPr lang="en-US" sz="2800" b="1" dirty="0">
                <a:solidFill>
                  <a:schemeClr val="bg1"/>
                </a:solidFill>
              </a:rPr>
              <a:t>Style for navbar links</a:t>
            </a:r>
          </a:p>
          <a:p>
            <a:pPr>
              <a:lnSpc>
                <a:spcPct val="150000"/>
              </a:lnSpc>
            </a:pPr>
            <a:r>
              <a:rPr lang="en-US" sz="2800" dirty="0">
                <a:solidFill>
                  <a:schemeClr val="bg1"/>
                </a:solidFill>
              </a:rPr>
              <a:t>.navbar a {</a:t>
            </a:r>
          </a:p>
          <a:p>
            <a:pPr>
              <a:lnSpc>
                <a:spcPct val="150000"/>
              </a:lnSpc>
            </a:pPr>
            <a:r>
              <a:rPr lang="en-US" sz="2800" dirty="0">
                <a:solidFill>
                  <a:schemeClr val="bg1"/>
                </a:solidFill>
              </a:rPr>
              <a:t>Selects all links inside the navbar.</a:t>
            </a:r>
          </a:p>
          <a:p>
            <a:pPr>
              <a:lnSpc>
                <a:spcPct val="150000"/>
              </a:lnSpc>
            </a:pPr>
            <a:r>
              <a:rPr lang="en-US" sz="2800" dirty="0">
                <a:solidFill>
                  <a:schemeClr val="bg1"/>
                </a:solidFill>
              </a:rPr>
              <a:t>    float: left;</a:t>
            </a:r>
          </a:p>
          <a:p>
            <a:pPr>
              <a:lnSpc>
                <a:spcPct val="150000"/>
              </a:lnSpc>
            </a:pPr>
            <a:r>
              <a:rPr lang="en-US" sz="2800" dirty="0">
                <a:solidFill>
                  <a:schemeClr val="bg1"/>
                </a:solidFill>
              </a:rPr>
              <a:t>Places links side by side from left to right.</a:t>
            </a:r>
          </a:p>
          <a:p>
            <a:pPr>
              <a:lnSpc>
                <a:spcPct val="150000"/>
              </a:lnSpc>
            </a:pPr>
            <a:r>
              <a:rPr lang="en-US" sz="2800" dirty="0">
                <a:solidFill>
                  <a:schemeClr val="bg1"/>
                </a:solidFill>
              </a:rPr>
              <a:t>    font-size: 18px;</a:t>
            </a:r>
          </a:p>
          <a:p>
            <a:pPr>
              <a:lnSpc>
                <a:spcPct val="150000"/>
              </a:lnSpc>
            </a:pPr>
            <a:r>
              <a:rPr lang="en-US" sz="2800" dirty="0">
                <a:solidFill>
                  <a:schemeClr val="bg1"/>
                </a:solidFill>
              </a:rPr>
              <a:t>Makes the text size 18 pixels.</a:t>
            </a:r>
          </a:p>
          <a:p>
            <a:pPr>
              <a:lnSpc>
                <a:spcPct val="150000"/>
              </a:lnSpc>
            </a:pPr>
            <a:r>
              <a:rPr lang="en-US" sz="2800" dirty="0">
                <a:solidFill>
                  <a:schemeClr val="bg1"/>
                </a:solidFill>
              </a:rPr>
              <a:t>    color: white;</a:t>
            </a:r>
          </a:p>
        </p:txBody>
      </p:sp>
    </p:spTree>
    <p:extLst>
      <p:ext uri="{BB962C8B-B14F-4D97-AF65-F5344CB8AC3E}">
        <p14:creationId xmlns:p14="http://schemas.microsoft.com/office/powerpoint/2010/main" val="29433378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8CA0A-E166-6604-496E-7E868DFB8EE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B6F1178-CA7D-7350-3E63-3F5320F978ED}"/>
              </a:ext>
            </a:extLst>
          </p:cNvPr>
          <p:cNvSpPr txBox="1"/>
          <p:nvPr/>
        </p:nvSpPr>
        <p:spPr>
          <a:xfrm>
            <a:off x="0" y="568712"/>
            <a:ext cx="12192000" cy="24714458"/>
          </a:xfrm>
          <a:prstGeom prst="rect">
            <a:avLst/>
          </a:prstGeom>
          <a:solidFill>
            <a:schemeClr val="tx1"/>
          </a:solidFill>
        </p:spPr>
        <p:txBody>
          <a:bodyPr wrap="square">
            <a:spAutoFit/>
          </a:bodyPr>
          <a:lstStyle/>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.navbar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float</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left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font-size</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18px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text-align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center</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14px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20px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text-decoration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float</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left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overflow</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hidden</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dropbtn</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font-size</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18px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border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outline</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14px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20px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red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font-family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inherit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margin</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cursor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pointer</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.navbar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dropbtn</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red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position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absolute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min-width</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box-shadow</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8px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err="1">
                <a:solidFill>
                  <a:srgbClr val="DCDCAA"/>
                </a:solidFill>
                <a:effectLst/>
                <a:latin typeface="Consolas" panose="020B0609020204030204" pitchFamily="49" charset="0"/>
              </a:rPr>
              <a:t>rgba</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0.2</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z-index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float</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black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12px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text-decoration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text-align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left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#ddd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2" name="Title 1">
            <a:extLst>
              <a:ext uri="{FF2B5EF4-FFF2-40B4-BE49-F238E27FC236}">
                <a16:creationId xmlns:a16="http://schemas.microsoft.com/office/drawing/2014/main" id="{89BC5BD0-947A-A928-A3D4-65DF9ED92185}"/>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10" name="TextBox 9">
            <a:extLst>
              <a:ext uri="{FF2B5EF4-FFF2-40B4-BE49-F238E27FC236}">
                <a16:creationId xmlns:a16="http://schemas.microsoft.com/office/drawing/2014/main" id="{EA554019-5205-5397-39AF-CFA48B4F03A6}"/>
              </a:ext>
            </a:extLst>
          </p:cNvPr>
          <p:cNvSpPr txBox="1"/>
          <p:nvPr/>
        </p:nvSpPr>
        <p:spPr>
          <a:xfrm>
            <a:off x="5555166" y="0"/>
            <a:ext cx="6636834" cy="6488828"/>
          </a:xfrm>
          <a:prstGeom prst="rect">
            <a:avLst/>
          </a:prstGeom>
          <a:solidFill>
            <a:schemeClr val="tx1"/>
          </a:solidFill>
          <a:ln>
            <a:solidFill>
              <a:srgbClr val="FF0000"/>
            </a:solidFill>
          </a:ln>
        </p:spPr>
        <p:txBody>
          <a:bodyPr wrap="square">
            <a:spAutoFit/>
          </a:bodyPr>
          <a:lstStyle/>
          <a:p>
            <a:pPr>
              <a:lnSpc>
                <a:spcPct val="150000"/>
              </a:lnSpc>
            </a:pPr>
            <a:r>
              <a:rPr lang="en-US" sz="2800" dirty="0">
                <a:solidFill>
                  <a:schemeClr val="bg1"/>
                </a:solidFill>
              </a:rPr>
              <a:t>Makes the text color white.</a:t>
            </a:r>
          </a:p>
          <a:p>
            <a:pPr>
              <a:lnSpc>
                <a:spcPct val="150000"/>
              </a:lnSpc>
            </a:pPr>
            <a:r>
              <a:rPr lang="en-US" sz="2800" dirty="0">
                <a:solidFill>
                  <a:schemeClr val="bg1"/>
                </a:solidFill>
              </a:rPr>
              <a:t>    text-align: center;</a:t>
            </a:r>
          </a:p>
          <a:p>
            <a:pPr>
              <a:lnSpc>
                <a:spcPct val="150000"/>
              </a:lnSpc>
            </a:pPr>
            <a:r>
              <a:rPr lang="en-US" sz="2800" dirty="0">
                <a:solidFill>
                  <a:schemeClr val="bg1"/>
                </a:solidFill>
              </a:rPr>
              <a:t>Centers the text inside each link box.</a:t>
            </a:r>
          </a:p>
          <a:p>
            <a:pPr>
              <a:lnSpc>
                <a:spcPct val="150000"/>
              </a:lnSpc>
            </a:pPr>
            <a:r>
              <a:rPr lang="en-US" sz="2800" dirty="0">
                <a:solidFill>
                  <a:schemeClr val="bg1"/>
                </a:solidFill>
              </a:rPr>
              <a:t>    padding: 14px 20px;</a:t>
            </a:r>
          </a:p>
          <a:p>
            <a:pPr>
              <a:lnSpc>
                <a:spcPct val="150000"/>
              </a:lnSpc>
            </a:pPr>
            <a:r>
              <a:rPr lang="en-US" sz="2800" dirty="0">
                <a:solidFill>
                  <a:schemeClr val="bg1"/>
                </a:solidFill>
              </a:rPr>
              <a:t>Adds space inside the links to make them bigger.</a:t>
            </a:r>
          </a:p>
          <a:p>
            <a:pPr>
              <a:lnSpc>
                <a:spcPct val="150000"/>
              </a:lnSpc>
            </a:pPr>
            <a:r>
              <a:rPr lang="en-US" sz="2800" dirty="0">
                <a:solidFill>
                  <a:schemeClr val="bg1"/>
                </a:solidFill>
              </a:rPr>
              <a:t>    text-decoration: none;</a:t>
            </a:r>
          </a:p>
          <a:p>
            <a:pPr>
              <a:lnSpc>
                <a:spcPct val="150000"/>
              </a:lnSpc>
            </a:pPr>
            <a:r>
              <a:rPr lang="en-US" sz="2800" dirty="0">
                <a:solidFill>
                  <a:schemeClr val="bg1"/>
                </a:solidFill>
              </a:rPr>
              <a:t>Removes the underline from links.</a:t>
            </a:r>
          </a:p>
          <a:p>
            <a:pPr>
              <a:lnSpc>
                <a:spcPct val="150000"/>
              </a:lnSpc>
            </a:pPr>
            <a:r>
              <a:rPr lang="en-US" sz="2800" dirty="0">
                <a:solidFill>
                  <a:schemeClr val="bg1"/>
                </a:solidFill>
              </a:rPr>
              <a:t>}</a:t>
            </a:r>
          </a:p>
          <a:p>
            <a:pPr>
              <a:lnSpc>
                <a:spcPct val="150000"/>
              </a:lnSpc>
            </a:pPr>
            <a:r>
              <a:rPr lang="en-US" sz="2800" dirty="0">
                <a:solidFill>
                  <a:schemeClr val="bg1"/>
                </a:solidFill>
              </a:rPr>
              <a:t>Ends link style.</a:t>
            </a:r>
          </a:p>
        </p:txBody>
      </p:sp>
    </p:spTree>
    <p:extLst>
      <p:ext uri="{BB962C8B-B14F-4D97-AF65-F5344CB8AC3E}">
        <p14:creationId xmlns:p14="http://schemas.microsoft.com/office/powerpoint/2010/main" val="28701324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96A0-24C4-A8A3-F47E-9A06621C6C9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F12B925-21C2-D439-0057-ADBED69CD9CD}"/>
              </a:ext>
            </a:extLst>
          </p:cNvPr>
          <p:cNvSpPr txBox="1"/>
          <p:nvPr/>
        </p:nvSpPr>
        <p:spPr>
          <a:xfrm>
            <a:off x="0" y="568712"/>
            <a:ext cx="12192000" cy="20867251"/>
          </a:xfrm>
          <a:prstGeom prst="rect">
            <a:avLst/>
          </a:prstGeom>
          <a:solidFill>
            <a:schemeClr val="tx1"/>
          </a:solidFill>
        </p:spPr>
        <p:txBody>
          <a:bodyPr wrap="square">
            <a:spAutoFit/>
          </a:bodyPr>
          <a:lstStyle/>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float</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left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overflow</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hidden</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dropbtn</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font-size</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18px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border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outline</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14px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20px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red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font-family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inherit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margin</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cursor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pointer</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.navbar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dropbtn</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red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position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absolute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min-width</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box-shadow</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8px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err="1">
                <a:solidFill>
                  <a:srgbClr val="DCDCAA"/>
                </a:solidFill>
                <a:effectLst/>
                <a:latin typeface="Consolas" panose="020B0609020204030204" pitchFamily="49" charset="0"/>
              </a:rPr>
              <a:t>rgba</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0.2</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z-index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float</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black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12px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text-decoration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text-align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left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#ddd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2" name="Title 1">
            <a:extLst>
              <a:ext uri="{FF2B5EF4-FFF2-40B4-BE49-F238E27FC236}">
                <a16:creationId xmlns:a16="http://schemas.microsoft.com/office/drawing/2014/main" id="{78103FED-FC57-4908-AC2F-6C4E53E2FC79}"/>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10" name="TextBox 9">
            <a:extLst>
              <a:ext uri="{FF2B5EF4-FFF2-40B4-BE49-F238E27FC236}">
                <a16:creationId xmlns:a16="http://schemas.microsoft.com/office/drawing/2014/main" id="{ABCCADE8-6F54-E5E6-9426-A02AAD6F6F1A}"/>
              </a:ext>
            </a:extLst>
          </p:cNvPr>
          <p:cNvSpPr txBox="1"/>
          <p:nvPr/>
        </p:nvSpPr>
        <p:spPr>
          <a:xfrm>
            <a:off x="5555166" y="0"/>
            <a:ext cx="6636834" cy="5842497"/>
          </a:xfrm>
          <a:prstGeom prst="rect">
            <a:avLst/>
          </a:prstGeom>
          <a:solidFill>
            <a:schemeClr val="tx1"/>
          </a:solidFill>
          <a:ln>
            <a:solidFill>
              <a:srgbClr val="FF0000"/>
            </a:solidFill>
          </a:ln>
        </p:spPr>
        <p:txBody>
          <a:bodyPr wrap="square">
            <a:spAutoFit/>
          </a:bodyPr>
          <a:lstStyle/>
          <a:p>
            <a:pPr>
              <a:lnSpc>
                <a:spcPct val="150000"/>
              </a:lnSpc>
            </a:pPr>
            <a:r>
              <a:rPr lang="en-US" sz="2800" b="1" dirty="0">
                <a:solidFill>
                  <a:schemeClr val="bg1"/>
                </a:solidFill>
              </a:rPr>
              <a:t>Style for dropdown container</a:t>
            </a:r>
          </a:p>
          <a:p>
            <a:pPr>
              <a:lnSpc>
                <a:spcPct val="150000"/>
              </a:lnSpc>
            </a:pPr>
            <a:r>
              <a:rPr lang="en-US" sz="2800" dirty="0">
                <a:solidFill>
                  <a:schemeClr val="bg1"/>
                </a:solidFill>
              </a:rPr>
              <a:t>.dropdown {</a:t>
            </a:r>
          </a:p>
          <a:p>
            <a:pPr>
              <a:lnSpc>
                <a:spcPct val="150000"/>
              </a:lnSpc>
            </a:pPr>
            <a:r>
              <a:rPr lang="en-US" sz="2800" dirty="0">
                <a:solidFill>
                  <a:schemeClr val="bg1"/>
                </a:solidFill>
              </a:rPr>
              <a:t>Selects the dropdown section.</a:t>
            </a:r>
          </a:p>
          <a:p>
            <a:pPr>
              <a:lnSpc>
                <a:spcPct val="150000"/>
              </a:lnSpc>
            </a:pPr>
            <a:r>
              <a:rPr lang="en-US" sz="2800" dirty="0">
                <a:solidFill>
                  <a:schemeClr val="bg1"/>
                </a:solidFill>
              </a:rPr>
              <a:t>    float: left;</a:t>
            </a:r>
          </a:p>
          <a:p>
            <a:pPr>
              <a:lnSpc>
                <a:spcPct val="150000"/>
              </a:lnSpc>
            </a:pPr>
            <a:r>
              <a:rPr lang="en-US" sz="2800" dirty="0">
                <a:solidFill>
                  <a:schemeClr val="bg1"/>
                </a:solidFill>
              </a:rPr>
              <a:t>Places it next to Home and News.</a:t>
            </a:r>
          </a:p>
          <a:p>
            <a:pPr>
              <a:lnSpc>
                <a:spcPct val="150000"/>
              </a:lnSpc>
            </a:pPr>
            <a:r>
              <a:rPr lang="en-US" sz="2800" dirty="0">
                <a:solidFill>
                  <a:schemeClr val="bg1"/>
                </a:solidFill>
              </a:rPr>
              <a:t>    overflow: hidden;</a:t>
            </a:r>
          </a:p>
          <a:p>
            <a:pPr>
              <a:lnSpc>
                <a:spcPct val="150000"/>
              </a:lnSpc>
            </a:pPr>
            <a:r>
              <a:rPr lang="en-US" sz="2800" dirty="0">
                <a:solidFill>
                  <a:schemeClr val="bg1"/>
                </a:solidFill>
              </a:rPr>
              <a:t>Keeps the content inside properly.</a:t>
            </a:r>
          </a:p>
          <a:p>
            <a:pPr>
              <a:lnSpc>
                <a:spcPct val="150000"/>
              </a:lnSpc>
            </a:pPr>
            <a:r>
              <a:rPr lang="en-US" sz="2800" dirty="0">
                <a:solidFill>
                  <a:schemeClr val="bg1"/>
                </a:solidFill>
              </a:rPr>
              <a:t>}</a:t>
            </a:r>
          </a:p>
          <a:p>
            <a:pPr>
              <a:lnSpc>
                <a:spcPct val="150000"/>
              </a:lnSpc>
            </a:pPr>
            <a:r>
              <a:rPr lang="en-US" sz="2800" dirty="0">
                <a:solidFill>
                  <a:schemeClr val="bg1"/>
                </a:solidFill>
              </a:rPr>
              <a:t>Ends dropdown container style.</a:t>
            </a:r>
          </a:p>
        </p:txBody>
      </p:sp>
    </p:spTree>
    <p:extLst>
      <p:ext uri="{BB962C8B-B14F-4D97-AF65-F5344CB8AC3E}">
        <p14:creationId xmlns:p14="http://schemas.microsoft.com/office/powerpoint/2010/main" val="14709872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5FDD0-3332-732C-6D53-A65B386A5B7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FF873D6-1625-181C-777F-3677E7DF57CA}"/>
              </a:ext>
            </a:extLst>
          </p:cNvPr>
          <p:cNvSpPr txBox="1"/>
          <p:nvPr/>
        </p:nvSpPr>
        <p:spPr>
          <a:xfrm>
            <a:off x="0" y="568712"/>
            <a:ext cx="12192000" cy="18558927"/>
          </a:xfrm>
          <a:prstGeom prst="rect">
            <a:avLst/>
          </a:prstGeom>
          <a:solidFill>
            <a:schemeClr val="tx1"/>
          </a:solidFill>
        </p:spPr>
        <p:txBody>
          <a:bodyPr wrap="square">
            <a:spAutoFit/>
          </a:bodyPr>
          <a:lstStyle/>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dropbtn</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font-size</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18px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border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outline</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14px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20px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red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font-family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inherit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margin</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cursor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pointer</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.navbar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dropbtn</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red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position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absolute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min-width</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box-shadow</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8px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err="1">
                <a:solidFill>
                  <a:srgbClr val="DCDCAA"/>
                </a:solidFill>
                <a:effectLst/>
                <a:latin typeface="Consolas" panose="020B0609020204030204" pitchFamily="49" charset="0"/>
              </a:rPr>
              <a:t>rgba</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0.2</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z-index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float</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black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12px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text-decoration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text-align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left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#ddd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2" name="Title 1">
            <a:extLst>
              <a:ext uri="{FF2B5EF4-FFF2-40B4-BE49-F238E27FC236}">
                <a16:creationId xmlns:a16="http://schemas.microsoft.com/office/drawing/2014/main" id="{811F1212-BE23-C1D9-88AE-68B4FA977CF2}"/>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10" name="TextBox 9">
            <a:extLst>
              <a:ext uri="{FF2B5EF4-FFF2-40B4-BE49-F238E27FC236}">
                <a16:creationId xmlns:a16="http://schemas.microsoft.com/office/drawing/2014/main" id="{8C384360-BDAC-B9BE-4186-F927FC4199D1}"/>
              </a:ext>
            </a:extLst>
          </p:cNvPr>
          <p:cNvSpPr txBox="1"/>
          <p:nvPr/>
        </p:nvSpPr>
        <p:spPr>
          <a:xfrm>
            <a:off x="5555166" y="0"/>
            <a:ext cx="6636834" cy="7135158"/>
          </a:xfrm>
          <a:prstGeom prst="rect">
            <a:avLst/>
          </a:prstGeom>
          <a:solidFill>
            <a:schemeClr val="tx1"/>
          </a:solidFill>
          <a:ln>
            <a:solidFill>
              <a:srgbClr val="FF0000"/>
            </a:solidFill>
          </a:ln>
        </p:spPr>
        <p:txBody>
          <a:bodyPr wrap="square">
            <a:spAutoFit/>
          </a:bodyPr>
          <a:lstStyle/>
          <a:p>
            <a:pPr>
              <a:lnSpc>
                <a:spcPct val="150000"/>
              </a:lnSpc>
            </a:pPr>
            <a:r>
              <a:rPr lang="en-US" sz="2700" b="1" dirty="0">
                <a:solidFill>
                  <a:schemeClr val="bg1"/>
                </a:solidFill>
              </a:rPr>
              <a:t>Style for dropdown button</a:t>
            </a:r>
          </a:p>
          <a:p>
            <a:pPr>
              <a:lnSpc>
                <a:spcPct val="150000"/>
              </a:lnSpc>
            </a:pPr>
            <a:r>
              <a:rPr lang="en-US" sz="2700" dirty="0">
                <a:solidFill>
                  <a:schemeClr val="bg1"/>
                </a:solidFill>
              </a:rPr>
              <a:t>.dropdown .</a:t>
            </a:r>
            <a:r>
              <a:rPr lang="en-US" sz="2700" dirty="0" err="1">
                <a:solidFill>
                  <a:schemeClr val="bg1"/>
                </a:solidFill>
              </a:rPr>
              <a:t>dropbtn</a:t>
            </a:r>
            <a:r>
              <a:rPr lang="en-US" sz="2700" dirty="0">
                <a:solidFill>
                  <a:schemeClr val="bg1"/>
                </a:solidFill>
              </a:rPr>
              <a:t> {</a:t>
            </a:r>
          </a:p>
          <a:p>
            <a:pPr>
              <a:lnSpc>
                <a:spcPct val="150000"/>
              </a:lnSpc>
            </a:pPr>
            <a:r>
              <a:rPr lang="en-US" sz="2700" dirty="0">
                <a:solidFill>
                  <a:schemeClr val="bg1"/>
                </a:solidFill>
              </a:rPr>
              <a:t>Selects the button inside the dropdown.</a:t>
            </a:r>
          </a:p>
          <a:p>
            <a:pPr>
              <a:lnSpc>
                <a:spcPct val="150000"/>
              </a:lnSpc>
            </a:pPr>
            <a:r>
              <a:rPr lang="en-US" sz="2700" dirty="0">
                <a:solidFill>
                  <a:schemeClr val="bg1"/>
                </a:solidFill>
              </a:rPr>
              <a:t>    font-size: 18px;</a:t>
            </a:r>
          </a:p>
          <a:p>
            <a:pPr>
              <a:lnSpc>
                <a:spcPct val="150000"/>
              </a:lnSpc>
            </a:pPr>
            <a:r>
              <a:rPr lang="en-US" sz="2700" dirty="0">
                <a:solidFill>
                  <a:schemeClr val="bg1"/>
                </a:solidFill>
              </a:rPr>
              <a:t>Sets the text size.</a:t>
            </a:r>
          </a:p>
          <a:p>
            <a:pPr>
              <a:lnSpc>
                <a:spcPct val="150000"/>
              </a:lnSpc>
            </a:pPr>
            <a:r>
              <a:rPr lang="en-US" sz="2700" dirty="0">
                <a:solidFill>
                  <a:schemeClr val="bg1"/>
                </a:solidFill>
              </a:rPr>
              <a:t>    border: none;</a:t>
            </a:r>
          </a:p>
          <a:p>
            <a:pPr>
              <a:lnSpc>
                <a:spcPct val="150000"/>
              </a:lnSpc>
            </a:pPr>
            <a:r>
              <a:rPr lang="en-US" sz="2700" dirty="0">
                <a:solidFill>
                  <a:schemeClr val="bg1"/>
                </a:solidFill>
              </a:rPr>
              <a:t>Removes the button border.</a:t>
            </a:r>
          </a:p>
          <a:p>
            <a:pPr>
              <a:lnSpc>
                <a:spcPct val="150000"/>
              </a:lnSpc>
            </a:pPr>
            <a:r>
              <a:rPr lang="en-US" sz="2700" dirty="0">
                <a:solidFill>
                  <a:schemeClr val="bg1"/>
                </a:solidFill>
              </a:rPr>
              <a:t>    outline: none;</a:t>
            </a:r>
          </a:p>
          <a:p>
            <a:pPr>
              <a:lnSpc>
                <a:spcPct val="150000"/>
              </a:lnSpc>
            </a:pPr>
            <a:r>
              <a:rPr lang="en-US" sz="2700" dirty="0">
                <a:solidFill>
                  <a:schemeClr val="bg1"/>
                </a:solidFill>
              </a:rPr>
              <a:t>Removes the outline line around the button.</a:t>
            </a:r>
          </a:p>
          <a:p>
            <a:pPr>
              <a:lnSpc>
                <a:spcPct val="150000"/>
              </a:lnSpc>
            </a:pPr>
            <a:r>
              <a:rPr lang="en-US" sz="2700" dirty="0">
                <a:solidFill>
                  <a:schemeClr val="bg1"/>
                </a:solidFill>
              </a:rPr>
              <a:t>    color: white;</a:t>
            </a:r>
          </a:p>
          <a:p>
            <a:pPr>
              <a:lnSpc>
                <a:spcPct val="150000"/>
              </a:lnSpc>
            </a:pPr>
            <a:r>
              <a:rPr lang="en-US" sz="2700" dirty="0">
                <a:solidFill>
                  <a:schemeClr val="bg1"/>
                </a:solidFill>
              </a:rPr>
              <a:t>Makes button text white.</a:t>
            </a:r>
          </a:p>
        </p:txBody>
      </p:sp>
    </p:spTree>
    <p:extLst>
      <p:ext uri="{BB962C8B-B14F-4D97-AF65-F5344CB8AC3E}">
        <p14:creationId xmlns:p14="http://schemas.microsoft.com/office/powerpoint/2010/main" val="22572507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DF280-22F2-5B92-33D8-81D022D72E7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94FE957-451E-2641-E026-7A56C1D521AF}"/>
              </a:ext>
            </a:extLst>
          </p:cNvPr>
          <p:cNvSpPr txBox="1"/>
          <p:nvPr/>
        </p:nvSpPr>
        <p:spPr>
          <a:xfrm>
            <a:off x="0" y="568712"/>
            <a:ext cx="12192000" cy="18558927"/>
          </a:xfrm>
          <a:prstGeom prst="rect">
            <a:avLst/>
          </a:prstGeom>
          <a:solidFill>
            <a:schemeClr val="tx1"/>
          </a:solidFill>
        </p:spPr>
        <p:txBody>
          <a:bodyPr wrap="square">
            <a:spAutoFit/>
          </a:bodyPr>
          <a:lstStyle/>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dropbtn</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font-size</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18px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border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outline</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14px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20px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red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font-family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inherit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margin</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cursor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pointer</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.navbar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dropbtn</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red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position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absolute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min-width</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box-shadow</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8px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err="1">
                <a:solidFill>
                  <a:srgbClr val="DCDCAA"/>
                </a:solidFill>
                <a:effectLst/>
                <a:latin typeface="Consolas" panose="020B0609020204030204" pitchFamily="49" charset="0"/>
              </a:rPr>
              <a:t>rgba</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0.2</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z-index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float</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black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12px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text-decoration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text-align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left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#ddd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2" name="Title 1">
            <a:extLst>
              <a:ext uri="{FF2B5EF4-FFF2-40B4-BE49-F238E27FC236}">
                <a16:creationId xmlns:a16="http://schemas.microsoft.com/office/drawing/2014/main" id="{D0468832-B748-1B96-FCB7-5BA8434D2D7C}"/>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10" name="TextBox 9">
            <a:extLst>
              <a:ext uri="{FF2B5EF4-FFF2-40B4-BE49-F238E27FC236}">
                <a16:creationId xmlns:a16="http://schemas.microsoft.com/office/drawing/2014/main" id="{9F96B2D3-60E1-74B5-9DC5-A856028E25F8}"/>
              </a:ext>
            </a:extLst>
          </p:cNvPr>
          <p:cNvSpPr txBox="1"/>
          <p:nvPr/>
        </p:nvSpPr>
        <p:spPr>
          <a:xfrm>
            <a:off x="5555166" y="0"/>
            <a:ext cx="6636834" cy="5196166"/>
          </a:xfrm>
          <a:prstGeom prst="rect">
            <a:avLst/>
          </a:prstGeom>
          <a:solidFill>
            <a:schemeClr val="tx1"/>
          </a:solidFill>
          <a:ln>
            <a:solidFill>
              <a:srgbClr val="FF0000"/>
            </a:solidFill>
          </a:ln>
        </p:spPr>
        <p:txBody>
          <a:bodyPr wrap="square">
            <a:spAutoFit/>
          </a:bodyPr>
          <a:lstStyle/>
          <a:p>
            <a:pPr>
              <a:lnSpc>
                <a:spcPct val="150000"/>
              </a:lnSpc>
            </a:pPr>
            <a:r>
              <a:rPr lang="en-US" sz="2800" dirty="0">
                <a:solidFill>
                  <a:schemeClr val="bg1"/>
                </a:solidFill>
              </a:rPr>
              <a:t> padding: 14px 20px;</a:t>
            </a:r>
          </a:p>
          <a:p>
            <a:pPr>
              <a:lnSpc>
                <a:spcPct val="150000"/>
              </a:lnSpc>
            </a:pPr>
            <a:r>
              <a:rPr lang="en-US" sz="2800" dirty="0">
                <a:solidFill>
                  <a:schemeClr val="bg1"/>
                </a:solidFill>
              </a:rPr>
              <a:t>Adds space inside the button.</a:t>
            </a:r>
          </a:p>
          <a:p>
            <a:pPr>
              <a:lnSpc>
                <a:spcPct val="150000"/>
              </a:lnSpc>
            </a:pPr>
            <a:r>
              <a:rPr lang="en-US" sz="2800" dirty="0">
                <a:solidFill>
                  <a:schemeClr val="bg1"/>
                </a:solidFill>
              </a:rPr>
              <a:t>    background-color: red;</a:t>
            </a:r>
          </a:p>
          <a:p>
            <a:pPr>
              <a:lnSpc>
                <a:spcPct val="150000"/>
              </a:lnSpc>
            </a:pPr>
            <a:r>
              <a:rPr lang="en-US" sz="2800" dirty="0">
                <a:solidFill>
                  <a:schemeClr val="bg1"/>
                </a:solidFill>
              </a:rPr>
              <a:t>Makes the button red.</a:t>
            </a:r>
          </a:p>
          <a:p>
            <a:pPr>
              <a:lnSpc>
                <a:spcPct val="150000"/>
              </a:lnSpc>
            </a:pPr>
            <a:r>
              <a:rPr lang="en-US" sz="2800" dirty="0">
                <a:solidFill>
                  <a:schemeClr val="bg1"/>
                </a:solidFill>
              </a:rPr>
              <a:t>    font-family: inherit;</a:t>
            </a:r>
          </a:p>
          <a:p>
            <a:pPr>
              <a:lnSpc>
                <a:spcPct val="150000"/>
              </a:lnSpc>
            </a:pPr>
            <a:r>
              <a:rPr lang="en-US" sz="2800" dirty="0">
                <a:solidFill>
                  <a:schemeClr val="bg1"/>
                </a:solidFill>
              </a:rPr>
              <a:t>Uses the same font as the page.</a:t>
            </a:r>
          </a:p>
          <a:p>
            <a:pPr>
              <a:lnSpc>
                <a:spcPct val="150000"/>
              </a:lnSpc>
            </a:pPr>
            <a:r>
              <a:rPr lang="en-US" sz="2800" dirty="0">
                <a:solidFill>
                  <a:schemeClr val="bg1"/>
                </a:solidFill>
              </a:rPr>
              <a:t>    margin: 0;</a:t>
            </a:r>
          </a:p>
          <a:p>
            <a:pPr>
              <a:lnSpc>
                <a:spcPct val="150000"/>
              </a:lnSpc>
            </a:pPr>
            <a:r>
              <a:rPr lang="en-US" sz="2800" dirty="0">
                <a:solidFill>
                  <a:schemeClr val="bg1"/>
                </a:solidFill>
              </a:rPr>
              <a:t>Removes extra outside space.</a:t>
            </a:r>
          </a:p>
        </p:txBody>
      </p:sp>
    </p:spTree>
    <p:extLst>
      <p:ext uri="{BB962C8B-B14F-4D97-AF65-F5344CB8AC3E}">
        <p14:creationId xmlns:p14="http://schemas.microsoft.com/office/powerpoint/2010/main" val="40604951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0AE51-5C39-7617-96E8-735C8CE3761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D0CD895-A280-029B-7DD0-8B0B482CCF96}"/>
              </a:ext>
            </a:extLst>
          </p:cNvPr>
          <p:cNvSpPr txBox="1"/>
          <p:nvPr/>
        </p:nvSpPr>
        <p:spPr>
          <a:xfrm>
            <a:off x="0" y="568712"/>
            <a:ext cx="12192000" cy="18558927"/>
          </a:xfrm>
          <a:prstGeom prst="rect">
            <a:avLst/>
          </a:prstGeom>
          <a:solidFill>
            <a:schemeClr val="tx1"/>
          </a:solidFill>
        </p:spPr>
        <p:txBody>
          <a:bodyPr wrap="square">
            <a:spAutoFit/>
          </a:bodyPr>
          <a:lstStyle/>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dropbtn</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font-size</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18px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border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outline</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14px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20px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red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font-family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inherit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margin</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cursor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pointer</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.navbar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dropbtn</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red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position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absolute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min-width</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box-shadow</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8px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err="1">
                <a:solidFill>
                  <a:srgbClr val="DCDCAA"/>
                </a:solidFill>
                <a:effectLst/>
                <a:latin typeface="Consolas" panose="020B0609020204030204" pitchFamily="49" charset="0"/>
              </a:rPr>
              <a:t>rgba</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0.2</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z-index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float</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black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12px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text-decoration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text-align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left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#ddd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2" name="Title 1">
            <a:extLst>
              <a:ext uri="{FF2B5EF4-FFF2-40B4-BE49-F238E27FC236}">
                <a16:creationId xmlns:a16="http://schemas.microsoft.com/office/drawing/2014/main" id="{2FC23887-4FF2-F3E3-3D1C-B9A92C3767EA}"/>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10" name="TextBox 9">
            <a:extLst>
              <a:ext uri="{FF2B5EF4-FFF2-40B4-BE49-F238E27FC236}">
                <a16:creationId xmlns:a16="http://schemas.microsoft.com/office/drawing/2014/main" id="{B1315C67-C126-9B7C-D997-37C08D79E8B4}"/>
              </a:ext>
            </a:extLst>
          </p:cNvPr>
          <p:cNvSpPr txBox="1"/>
          <p:nvPr/>
        </p:nvSpPr>
        <p:spPr>
          <a:xfrm>
            <a:off x="5555166" y="0"/>
            <a:ext cx="6636834" cy="3257174"/>
          </a:xfrm>
          <a:prstGeom prst="rect">
            <a:avLst/>
          </a:prstGeom>
          <a:solidFill>
            <a:schemeClr val="tx1"/>
          </a:solidFill>
          <a:ln>
            <a:solidFill>
              <a:srgbClr val="FF0000"/>
            </a:solidFill>
          </a:ln>
        </p:spPr>
        <p:txBody>
          <a:bodyPr wrap="square">
            <a:spAutoFit/>
          </a:bodyPr>
          <a:lstStyle/>
          <a:p>
            <a:pPr>
              <a:lnSpc>
                <a:spcPct val="150000"/>
              </a:lnSpc>
            </a:pPr>
            <a:r>
              <a:rPr lang="en-US" sz="2800" dirty="0">
                <a:solidFill>
                  <a:schemeClr val="bg1"/>
                </a:solidFill>
              </a:rPr>
              <a:t> cursor: pointer;</a:t>
            </a:r>
          </a:p>
          <a:p>
            <a:pPr>
              <a:lnSpc>
                <a:spcPct val="150000"/>
              </a:lnSpc>
            </a:pPr>
            <a:r>
              <a:rPr lang="en-US" sz="2800" dirty="0">
                <a:solidFill>
                  <a:schemeClr val="bg1"/>
                </a:solidFill>
              </a:rPr>
              <a:t>Shows a hand sign when mouse moves over the button.</a:t>
            </a:r>
          </a:p>
          <a:p>
            <a:pPr>
              <a:lnSpc>
                <a:spcPct val="150000"/>
              </a:lnSpc>
            </a:pPr>
            <a:r>
              <a:rPr lang="en-US" sz="2800" dirty="0">
                <a:solidFill>
                  <a:schemeClr val="bg1"/>
                </a:solidFill>
              </a:rPr>
              <a:t>}</a:t>
            </a:r>
          </a:p>
          <a:p>
            <a:pPr>
              <a:lnSpc>
                <a:spcPct val="150000"/>
              </a:lnSpc>
            </a:pPr>
            <a:r>
              <a:rPr lang="en-US" sz="2800" dirty="0">
                <a:solidFill>
                  <a:schemeClr val="bg1"/>
                </a:solidFill>
              </a:rPr>
              <a:t>Ends dropdown button style.</a:t>
            </a:r>
          </a:p>
        </p:txBody>
      </p:sp>
    </p:spTree>
    <p:extLst>
      <p:ext uri="{BB962C8B-B14F-4D97-AF65-F5344CB8AC3E}">
        <p14:creationId xmlns:p14="http://schemas.microsoft.com/office/powerpoint/2010/main" val="28046299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CCF46-8FC1-B248-1D90-05D2359E0C0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2C79BB1-AD82-3F4C-CDB1-54BBDBFECF4F}"/>
              </a:ext>
            </a:extLst>
          </p:cNvPr>
          <p:cNvSpPr txBox="1"/>
          <p:nvPr/>
        </p:nvSpPr>
        <p:spPr>
          <a:xfrm>
            <a:off x="0" y="568712"/>
            <a:ext cx="12192000" cy="13557558"/>
          </a:xfrm>
          <a:prstGeom prst="rect">
            <a:avLst/>
          </a:prstGeom>
          <a:solidFill>
            <a:schemeClr val="tx1"/>
          </a:solidFill>
        </p:spPr>
        <p:txBody>
          <a:bodyPr wrap="square">
            <a:spAutoFit/>
          </a:bodyPr>
          <a:lstStyle/>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.navbar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dropbtn</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red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position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absolute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min-width</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box-shadow</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8px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err="1">
                <a:solidFill>
                  <a:srgbClr val="DCDCAA"/>
                </a:solidFill>
                <a:effectLst/>
                <a:latin typeface="Consolas" panose="020B0609020204030204" pitchFamily="49" charset="0"/>
              </a:rPr>
              <a:t>rgba</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0.2</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z-index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float</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black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12px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text-decoration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text-align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left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#ddd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2" name="Title 1">
            <a:extLst>
              <a:ext uri="{FF2B5EF4-FFF2-40B4-BE49-F238E27FC236}">
                <a16:creationId xmlns:a16="http://schemas.microsoft.com/office/drawing/2014/main" id="{86BE93A7-3D67-763C-C385-D268AFDC9479}"/>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10" name="TextBox 9">
            <a:extLst>
              <a:ext uri="{FF2B5EF4-FFF2-40B4-BE49-F238E27FC236}">
                <a16:creationId xmlns:a16="http://schemas.microsoft.com/office/drawing/2014/main" id="{C367F9C1-4753-985E-C534-DD2DF3E7F7B8}"/>
              </a:ext>
            </a:extLst>
          </p:cNvPr>
          <p:cNvSpPr txBox="1"/>
          <p:nvPr/>
        </p:nvSpPr>
        <p:spPr>
          <a:xfrm>
            <a:off x="5943600" y="0"/>
            <a:ext cx="6248400" cy="5842497"/>
          </a:xfrm>
          <a:prstGeom prst="rect">
            <a:avLst/>
          </a:prstGeom>
          <a:solidFill>
            <a:schemeClr val="tx1"/>
          </a:solidFill>
          <a:ln>
            <a:solidFill>
              <a:srgbClr val="FF0000"/>
            </a:solidFill>
          </a:ln>
        </p:spPr>
        <p:txBody>
          <a:bodyPr wrap="square">
            <a:spAutoFit/>
          </a:bodyPr>
          <a:lstStyle/>
          <a:p>
            <a:pPr>
              <a:lnSpc>
                <a:spcPct val="150000"/>
              </a:lnSpc>
            </a:pPr>
            <a:r>
              <a:rPr lang="en-US" sz="2800" b="1" dirty="0">
                <a:solidFill>
                  <a:schemeClr val="bg1"/>
                </a:solidFill>
              </a:rPr>
              <a:t>Hover effect</a:t>
            </a:r>
          </a:p>
          <a:p>
            <a:pPr>
              <a:lnSpc>
                <a:spcPct val="150000"/>
              </a:lnSpc>
            </a:pPr>
            <a:r>
              <a:rPr lang="en-US" sz="2800" dirty="0">
                <a:solidFill>
                  <a:schemeClr val="bg1"/>
                </a:solidFill>
              </a:rPr>
              <a:t>.navbar a:hover,</a:t>
            </a:r>
            <a:br>
              <a:rPr lang="en-US" sz="2800" dirty="0">
                <a:solidFill>
                  <a:schemeClr val="bg1"/>
                </a:solidFill>
              </a:rPr>
            </a:br>
            <a:r>
              <a:rPr lang="en-US" sz="2800" dirty="0">
                <a:solidFill>
                  <a:schemeClr val="bg1"/>
                </a:solidFill>
              </a:rPr>
              <a:t>.</a:t>
            </a:r>
            <a:r>
              <a:rPr lang="en-US" sz="2800" dirty="0" err="1">
                <a:solidFill>
                  <a:schemeClr val="bg1"/>
                </a:solidFill>
              </a:rPr>
              <a:t>dropdown:hover</a:t>
            </a:r>
            <a:r>
              <a:rPr lang="en-US" sz="2800" dirty="0">
                <a:solidFill>
                  <a:schemeClr val="bg1"/>
                </a:solidFill>
              </a:rPr>
              <a:t> .</a:t>
            </a:r>
            <a:r>
              <a:rPr lang="en-US" sz="2800" dirty="0" err="1">
                <a:solidFill>
                  <a:schemeClr val="bg1"/>
                </a:solidFill>
              </a:rPr>
              <a:t>dropbtn</a:t>
            </a:r>
            <a:r>
              <a:rPr lang="en-US" sz="2800" dirty="0">
                <a:solidFill>
                  <a:schemeClr val="bg1"/>
                </a:solidFill>
              </a:rPr>
              <a:t> {</a:t>
            </a:r>
          </a:p>
          <a:p>
            <a:pPr>
              <a:lnSpc>
                <a:spcPct val="150000"/>
              </a:lnSpc>
            </a:pPr>
            <a:r>
              <a:rPr lang="en-US" sz="2800" dirty="0">
                <a:solidFill>
                  <a:schemeClr val="bg1"/>
                </a:solidFill>
              </a:rPr>
              <a:t>Applies style when the mouse is over a link or the dropdown button.</a:t>
            </a:r>
          </a:p>
          <a:p>
            <a:pPr>
              <a:lnSpc>
                <a:spcPct val="150000"/>
              </a:lnSpc>
            </a:pPr>
            <a:r>
              <a:rPr lang="en-US" sz="2800" dirty="0">
                <a:solidFill>
                  <a:schemeClr val="bg1"/>
                </a:solidFill>
              </a:rPr>
              <a:t>    background-color: red;</a:t>
            </a:r>
          </a:p>
          <a:p>
            <a:pPr>
              <a:lnSpc>
                <a:spcPct val="150000"/>
              </a:lnSpc>
            </a:pPr>
            <a:r>
              <a:rPr lang="en-US" sz="2800" dirty="0">
                <a:solidFill>
                  <a:schemeClr val="bg1"/>
                </a:solidFill>
              </a:rPr>
              <a:t>Changes background color to red.</a:t>
            </a:r>
          </a:p>
          <a:p>
            <a:pPr>
              <a:lnSpc>
                <a:spcPct val="150000"/>
              </a:lnSpc>
            </a:pPr>
            <a:r>
              <a:rPr lang="en-US" sz="2800" dirty="0">
                <a:solidFill>
                  <a:schemeClr val="bg1"/>
                </a:solidFill>
              </a:rPr>
              <a:t>}</a:t>
            </a:r>
          </a:p>
          <a:p>
            <a:pPr>
              <a:lnSpc>
                <a:spcPct val="150000"/>
              </a:lnSpc>
            </a:pPr>
            <a:r>
              <a:rPr lang="en-US" sz="2800" dirty="0">
                <a:solidFill>
                  <a:schemeClr val="bg1"/>
                </a:solidFill>
              </a:rPr>
              <a:t>Ends hover style.</a:t>
            </a:r>
          </a:p>
        </p:txBody>
      </p:sp>
    </p:spTree>
    <p:extLst>
      <p:ext uri="{BB962C8B-B14F-4D97-AF65-F5344CB8AC3E}">
        <p14:creationId xmlns:p14="http://schemas.microsoft.com/office/powerpoint/2010/main" val="21862142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81B15-A195-6931-0341-E6AC630B6C9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EC3B1F5-BD35-3893-7F8D-D2549B836A6B}"/>
              </a:ext>
            </a:extLst>
          </p:cNvPr>
          <p:cNvSpPr txBox="1"/>
          <p:nvPr/>
        </p:nvSpPr>
        <p:spPr>
          <a:xfrm>
            <a:off x="0" y="568712"/>
            <a:ext cx="12192000" cy="11249233"/>
          </a:xfrm>
          <a:prstGeom prst="rect">
            <a:avLst/>
          </a:prstGeom>
          <a:solidFill>
            <a:schemeClr val="tx1"/>
          </a:solidFill>
        </p:spPr>
        <p:txBody>
          <a:bodyPr wrap="square">
            <a:spAutoFit/>
          </a:bodyPr>
          <a:lstStyle/>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position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absolute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min-width</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box-shadow</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8px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err="1">
                <a:solidFill>
                  <a:srgbClr val="DCDCAA"/>
                </a:solidFill>
                <a:effectLst/>
                <a:latin typeface="Consolas" panose="020B0609020204030204" pitchFamily="49" charset="0"/>
              </a:rPr>
              <a:t>rgba</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0.2</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z-index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float</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black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12px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text-decoration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text-align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left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#ddd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2" name="Title 1">
            <a:extLst>
              <a:ext uri="{FF2B5EF4-FFF2-40B4-BE49-F238E27FC236}">
                <a16:creationId xmlns:a16="http://schemas.microsoft.com/office/drawing/2014/main" id="{EDAD369D-7E73-9DE6-14ED-54248092F513}"/>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10" name="TextBox 9">
            <a:extLst>
              <a:ext uri="{FF2B5EF4-FFF2-40B4-BE49-F238E27FC236}">
                <a16:creationId xmlns:a16="http://schemas.microsoft.com/office/drawing/2014/main" id="{1B0F9C41-EDFC-2B54-3098-71ABAFC1F87E}"/>
              </a:ext>
            </a:extLst>
          </p:cNvPr>
          <p:cNvSpPr txBox="1"/>
          <p:nvPr/>
        </p:nvSpPr>
        <p:spPr>
          <a:xfrm>
            <a:off x="5589639" y="3008671"/>
            <a:ext cx="6602362" cy="3257174"/>
          </a:xfrm>
          <a:prstGeom prst="rect">
            <a:avLst/>
          </a:prstGeom>
          <a:solidFill>
            <a:schemeClr val="tx1"/>
          </a:solidFill>
          <a:ln>
            <a:solidFill>
              <a:srgbClr val="FF0000"/>
            </a:solidFill>
          </a:ln>
        </p:spPr>
        <p:txBody>
          <a:bodyPr wrap="square">
            <a:spAutoFit/>
          </a:bodyPr>
          <a:lstStyle/>
          <a:p>
            <a:pPr>
              <a:lnSpc>
                <a:spcPct val="150000"/>
              </a:lnSpc>
            </a:pPr>
            <a:r>
              <a:rPr lang="en-US" sz="2800" b="1" dirty="0">
                <a:solidFill>
                  <a:schemeClr val="bg1"/>
                </a:solidFill>
              </a:rPr>
              <a:t>Hidden dropdown menu box</a:t>
            </a:r>
          </a:p>
          <a:p>
            <a:pPr>
              <a:lnSpc>
                <a:spcPct val="150000"/>
              </a:lnSpc>
            </a:pPr>
            <a:r>
              <a:rPr lang="en-US" sz="2800" dirty="0">
                <a:solidFill>
                  <a:schemeClr val="bg1"/>
                </a:solidFill>
              </a:rPr>
              <a:t>.dropdown-content {</a:t>
            </a:r>
          </a:p>
          <a:p>
            <a:pPr>
              <a:lnSpc>
                <a:spcPct val="150000"/>
              </a:lnSpc>
            </a:pPr>
            <a:r>
              <a:rPr lang="en-US" sz="2800" dirty="0">
                <a:solidFill>
                  <a:schemeClr val="bg1"/>
                </a:solidFill>
              </a:rPr>
              <a:t>Selects the box that contains Link 1, Link 2, and Link 3.</a:t>
            </a:r>
          </a:p>
          <a:p>
            <a:pPr>
              <a:lnSpc>
                <a:spcPct val="150000"/>
              </a:lnSpc>
            </a:pPr>
            <a:r>
              <a:rPr lang="en-US" sz="2800" dirty="0">
                <a:solidFill>
                  <a:schemeClr val="bg1"/>
                </a:solidFill>
              </a:rPr>
              <a:t>    display: none;</a:t>
            </a:r>
          </a:p>
        </p:txBody>
      </p:sp>
    </p:spTree>
    <p:extLst>
      <p:ext uri="{BB962C8B-B14F-4D97-AF65-F5344CB8AC3E}">
        <p14:creationId xmlns:p14="http://schemas.microsoft.com/office/powerpoint/2010/main" val="7276993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32BD5-9794-749C-E307-0A72BE47EA1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97CC70D-E441-D14E-2445-03A932EF0014}"/>
              </a:ext>
            </a:extLst>
          </p:cNvPr>
          <p:cNvSpPr txBox="1"/>
          <p:nvPr/>
        </p:nvSpPr>
        <p:spPr>
          <a:xfrm>
            <a:off x="0" y="568712"/>
            <a:ext cx="12192000" cy="11249233"/>
          </a:xfrm>
          <a:prstGeom prst="rect">
            <a:avLst/>
          </a:prstGeom>
          <a:solidFill>
            <a:schemeClr val="tx1"/>
          </a:solidFill>
        </p:spPr>
        <p:txBody>
          <a:bodyPr wrap="square">
            <a:spAutoFit/>
          </a:bodyPr>
          <a:lstStyle/>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position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absolute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min-width</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box-shadow</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8px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err="1">
                <a:solidFill>
                  <a:srgbClr val="DCDCAA"/>
                </a:solidFill>
                <a:effectLst/>
                <a:latin typeface="Consolas" panose="020B0609020204030204" pitchFamily="49" charset="0"/>
              </a:rPr>
              <a:t>rgba</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0.2</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z-index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float</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black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12px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text-decoration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text-align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left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#ddd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2" name="Title 1">
            <a:extLst>
              <a:ext uri="{FF2B5EF4-FFF2-40B4-BE49-F238E27FC236}">
                <a16:creationId xmlns:a16="http://schemas.microsoft.com/office/drawing/2014/main" id="{0327078B-FA08-3B3C-8CA4-C14BA7F8894E}"/>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10" name="TextBox 9">
            <a:extLst>
              <a:ext uri="{FF2B5EF4-FFF2-40B4-BE49-F238E27FC236}">
                <a16:creationId xmlns:a16="http://schemas.microsoft.com/office/drawing/2014/main" id="{9790E0CF-9A29-5F0F-0C8B-A219841240C5}"/>
              </a:ext>
            </a:extLst>
          </p:cNvPr>
          <p:cNvSpPr txBox="1"/>
          <p:nvPr/>
        </p:nvSpPr>
        <p:spPr>
          <a:xfrm>
            <a:off x="5589639" y="3008671"/>
            <a:ext cx="6602362" cy="2610843"/>
          </a:xfrm>
          <a:prstGeom prst="rect">
            <a:avLst/>
          </a:prstGeom>
          <a:solidFill>
            <a:schemeClr val="tx1"/>
          </a:solidFill>
          <a:ln>
            <a:solidFill>
              <a:srgbClr val="FF0000"/>
            </a:solidFill>
          </a:ln>
        </p:spPr>
        <p:txBody>
          <a:bodyPr wrap="square">
            <a:spAutoFit/>
          </a:bodyPr>
          <a:lstStyle/>
          <a:p>
            <a:pPr>
              <a:lnSpc>
                <a:spcPct val="150000"/>
              </a:lnSpc>
            </a:pPr>
            <a:r>
              <a:rPr lang="en-US" sz="2800" dirty="0">
                <a:solidFill>
                  <a:schemeClr val="bg1"/>
                </a:solidFill>
              </a:rPr>
              <a:t>Hides the dropdown menu at first.</a:t>
            </a:r>
          </a:p>
          <a:p>
            <a:pPr>
              <a:lnSpc>
                <a:spcPct val="150000"/>
              </a:lnSpc>
            </a:pPr>
            <a:r>
              <a:rPr lang="en-US" sz="2800" dirty="0">
                <a:solidFill>
                  <a:schemeClr val="bg1"/>
                </a:solidFill>
              </a:rPr>
              <a:t>    position: absolute;</a:t>
            </a:r>
          </a:p>
          <a:p>
            <a:pPr>
              <a:lnSpc>
                <a:spcPct val="150000"/>
              </a:lnSpc>
            </a:pPr>
            <a:r>
              <a:rPr lang="en-US" sz="2800" dirty="0">
                <a:solidFill>
                  <a:schemeClr val="bg1"/>
                </a:solidFill>
              </a:rPr>
              <a:t>Places the menu in an exact position under the button.</a:t>
            </a:r>
          </a:p>
        </p:txBody>
      </p:sp>
    </p:spTree>
    <p:extLst>
      <p:ext uri="{BB962C8B-B14F-4D97-AF65-F5344CB8AC3E}">
        <p14:creationId xmlns:p14="http://schemas.microsoft.com/office/powerpoint/2010/main" val="31802773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C5C55-74E3-6B42-60EB-B9971E55028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7483AF5-AC0A-3C6B-332D-DB906C01E014}"/>
              </a:ext>
            </a:extLst>
          </p:cNvPr>
          <p:cNvSpPr txBox="1"/>
          <p:nvPr/>
        </p:nvSpPr>
        <p:spPr>
          <a:xfrm>
            <a:off x="0" y="568712"/>
            <a:ext cx="12192000" cy="11249233"/>
          </a:xfrm>
          <a:prstGeom prst="rect">
            <a:avLst/>
          </a:prstGeom>
          <a:solidFill>
            <a:schemeClr val="tx1"/>
          </a:solidFill>
        </p:spPr>
        <p:txBody>
          <a:bodyPr wrap="square">
            <a:spAutoFit/>
          </a:bodyPr>
          <a:lstStyle/>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position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absolute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min-width</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box-shadow</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8px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err="1">
                <a:solidFill>
                  <a:srgbClr val="DCDCAA"/>
                </a:solidFill>
                <a:effectLst/>
                <a:latin typeface="Consolas" panose="020B0609020204030204" pitchFamily="49" charset="0"/>
              </a:rPr>
              <a:t>rgba</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0.2</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z-index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float</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black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12px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text-decoration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text-align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left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#ddd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2" name="Title 1">
            <a:extLst>
              <a:ext uri="{FF2B5EF4-FFF2-40B4-BE49-F238E27FC236}">
                <a16:creationId xmlns:a16="http://schemas.microsoft.com/office/drawing/2014/main" id="{E9439324-1940-C3EA-ECD1-F9CF081F2454}"/>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10" name="TextBox 9">
            <a:extLst>
              <a:ext uri="{FF2B5EF4-FFF2-40B4-BE49-F238E27FC236}">
                <a16:creationId xmlns:a16="http://schemas.microsoft.com/office/drawing/2014/main" id="{9C62BA5C-437A-CFCE-CBDB-4F46582D95C5}"/>
              </a:ext>
            </a:extLst>
          </p:cNvPr>
          <p:cNvSpPr txBox="1"/>
          <p:nvPr/>
        </p:nvSpPr>
        <p:spPr>
          <a:xfrm>
            <a:off x="5589639" y="3008671"/>
            <a:ext cx="6602362" cy="3257174"/>
          </a:xfrm>
          <a:prstGeom prst="rect">
            <a:avLst/>
          </a:prstGeom>
          <a:solidFill>
            <a:schemeClr val="tx1"/>
          </a:solidFill>
          <a:ln>
            <a:solidFill>
              <a:srgbClr val="FF0000"/>
            </a:solidFill>
          </a:ln>
        </p:spPr>
        <p:txBody>
          <a:bodyPr wrap="square">
            <a:spAutoFit/>
          </a:bodyPr>
          <a:lstStyle/>
          <a:p>
            <a:pPr>
              <a:lnSpc>
                <a:spcPct val="150000"/>
              </a:lnSpc>
            </a:pPr>
            <a:r>
              <a:rPr lang="en-US" sz="2800" dirty="0">
                <a:solidFill>
                  <a:schemeClr val="bg1"/>
                </a:solidFill>
              </a:rPr>
              <a:t> background-color: white;</a:t>
            </a:r>
          </a:p>
          <a:p>
            <a:pPr>
              <a:lnSpc>
                <a:spcPct val="150000"/>
              </a:lnSpc>
            </a:pPr>
            <a:r>
              <a:rPr lang="en-US" sz="2800" dirty="0">
                <a:solidFill>
                  <a:schemeClr val="bg1"/>
                </a:solidFill>
              </a:rPr>
              <a:t>Makes the dropdown background white.</a:t>
            </a:r>
          </a:p>
          <a:p>
            <a:pPr>
              <a:lnSpc>
                <a:spcPct val="150000"/>
              </a:lnSpc>
            </a:pPr>
            <a:r>
              <a:rPr lang="en-US" sz="2800" dirty="0">
                <a:solidFill>
                  <a:schemeClr val="bg1"/>
                </a:solidFill>
              </a:rPr>
              <a:t>    min-width: 160px;</a:t>
            </a:r>
          </a:p>
          <a:p>
            <a:pPr>
              <a:lnSpc>
                <a:spcPct val="150000"/>
              </a:lnSpc>
            </a:pPr>
            <a:r>
              <a:rPr lang="en-US" sz="2800" dirty="0">
                <a:solidFill>
                  <a:schemeClr val="bg1"/>
                </a:solidFill>
              </a:rPr>
              <a:t>Sets the minimum width of the dropdown box.</a:t>
            </a:r>
          </a:p>
        </p:txBody>
      </p:sp>
    </p:spTree>
    <p:extLst>
      <p:ext uri="{BB962C8B-B14F-4D97-AF65-F5344CB8AC3E}">
        <p14:creationId xmlns:p14="http://schemas.microsoft.com/office/powerpoint/2010/main" val="6563822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0E2C0-90E8-C52F-8D5D-5DDC57E9934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347322F-78DF-1BC0-C3DF-636741536803}"/>
              </a:ext>
            </a:extLst>
          </p:cNvPr>
          <p:cNvSpPr txBox="1"/>
          <p:nvPr/>
        </p:nvSpPr>
        <p:spPr>
          <a:xfrm>
            <a:off x="0" y="568712"/>
            <a:ext cx="12192000" cy="11249233"/>
          </a:xfrm>
          <a:prstGeom prst="rect">
            <a:avLst/>
          </a:prstGeom>
          <a:solidFill>
            <a:schemeClr val="tx1"/>
          </a:solidFill>
        </p:spPr>
        <p:txBody>
          <a:bodyPr wrap="square">
            <a:spAutoFit/>
          </a:bodyPr>
          <a:lstStyle/>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position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absolute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min-width</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box-shadow</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8px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err="1">
                <a:solidFill>
                  <a:srgbClr val="DCDCAA"/>
                </a:solidFill>
                <a:effectLst/>
                <a:latin typeface="Consolas" panose="020B0609020204030204" pitchFamily="49" charset="0"/>
              </a:rPr>
              <a:t>rgba</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0.2</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z-index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float</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black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12px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text-decoration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text-align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left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#ddd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2" name="Title 1">
            <a:extLst>
              <a:ext uri="{FF2B5EF4-FFF2-40B4-BE49-F238E27FC236}">
                <a16:creationId xmlns:a16="http://schemas.microsoft.com/office/drawing/2014/main" id="{AD2BCAF0-EB87-4037-C55D-3F72F3EB5A9C}"/>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10" name="TextBox 9">
            <a:extLst>
              <a:ext uri="{FF2B5EF4-FFF2-40B4-BE49-F238E27FC236}">
                <a16:creationId xmlns:a16="http://schemas.microsoft.com/office/drawing/2014/main" id="{920FE7AD-2A72-FC41-0200-472F1153A0EC}"/>
              </a:ext>
            </a:extLst>
          </p:cNvPr>
          <p:cNvSpPr txBox="1"/>
          <p:nvPr/>
        </p:nvSpPr>
        <p:spPr>
          <a:xfrm>
            <a:off x="5589639" y="3008671"/>
            <a:ext cx="6602362" cy="2610843"/>
          </a:xfrm>
          <a:prstGeom prst="rect">
            <a:avLst/>
          </a:prstGeom>
          <a:solidFill>
            <a:schemeClr val="tx1"/>
          </a:solidFill>
          <a:ln>
            <a:solidFill>
              <a:srgbClr val="FF0000"/>
            </a:solidFill>
          </a:ln>
        </p:spPr>
        <p:txBody>
          <a:bodyPr wrap="square">
            <a:spAutoFit/>
          </a:bodyPr>
          <a:lstStyle/>
          <a:p>
            <a:pPr>
              <a:lnSpc>
                <a:spcPct val="150000"/>
              </a:lnSpc>
            </a:pPr>
            <a:r>
              <a:rPr lang="en-US" sz="2800" dirty="0">
                <a:solidFill>
                  <a:schemeClr val="bg1"/>
                </a:solidFill>
              </a:rPr>
              <a:t> box-shadow: 0px 8px 16px 0px </a:t>
            </a:r>
            <a:r>
              <a:rPr lang="en-US" sz="2800" dirty="0" err="1">
                <a:solidFill>
                  <a:schemeClr val="bg1"/>
                </a:solidFill>
              </a:rPr>
              <a:t>rgba</a:t>
            </a:r>
            <a:r>
              <a:rPr lang="en-US" sz="2800" dirty="0">
                <a:solidFill>
                  <a:schemeClr val="bg1"/>
                </a:solidFill>
              </a:rPr>
              <a:t>(0,0,0,0.2);</a:t>
            </a:r>
          </a:p>
          <a:p>
            <a:pPr>
              <a:lnSpc>
                <a:spcPct val="150000"/>
              </a:lnSpc>
            </a:pPr>
            <a:r>
              <a:rPr lang="en-US" sz="2800" dirty="0">
                <a:solidFill>
                  <a:schemeClr val="bg1"/>
                </a:solidFill>
              </a:rPr>
              <a:t>Adds a shadow effect under the dropdown box.</a:t>
            </a:r>
          </a:p>
        </p:txBody>
      </p:sp>
    </p:spTree>
    <p:extLst>
      <p:ext uri="{BB962C8B-B14F-4D97-AF65-F5344CB8AC3E}">
        <p14:creationId xmlns:p14="http://schemas.microsoft.com/office/powerpoint/2010/main" val="6057657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9F225-5077-CD4C-D84B-4409FFB6152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8B9D22D-377C-4A92-0856-B3D599AA39FD}"/>
              </a:ext>
            </a:extLst>
          </p:cNvPr>
          <p:cNvSpPr txBox="1"/>
          <p:nvPr/>
        </p:nvSpPr>
        <p:spPr>
          <a:xfrm>
            <a:off x="0" y="568712"/>
            <a:ext cx="12192000" cy="11249233"/>
          </a:xfrm>
          <a:prstGeom prst="rect">
            <a:avLst/>
          </a:prstGeom>
          <a:solidFill>
            <a:schemeClr val="tx1"/>
          </a:solidFill>
        </p:spPr>
        <p:txBody>
          <a:bodyPr wrap="square">
            <a:spAutoFit/>
          </a:bodyPr>
          <a:lstStyle/>
          <a:p>
            <a:pPr>
              <a:buNone/>
            </a:pP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position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absolute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white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min-width</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160px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box-shadow</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8px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0px</a:t>
            </a:r>
            <a:r>
              <a:rPr lang="en-US" sz="2500" b="0" dirty="0">
                <a:solidFill>
                  <a:srgbClr val="D4D4D4"/>
                </a:solidFill>
                <a:effectLst/>
                <a:latin typeface="Consolas" panose="020B0609020204030204" pitchFamily="49" charset="0"/>
              </a:rPr>
              <a:t> </a:t>
            </a:r>
            <a:r>
              <a:rPr lang="en-US" sz="2500" b="0" dirty="0" err="1">
                <a:solidFill>
                  <a:srgbClr val="DCDCAA"/>
                </a:solidFill>
                <a:effectLst/>
                <a:latin typeface="Consolas" panose="020B0609020204030204" pitchFamily="49" charset="0"/>
              </a:rPr>
              <a:t>rgba</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a:t>
            </a:r>
            <a:r>
              <a:rPr lang="en-US" sz="2500" b="0" dirty="0">
                <a:solidFill>
                  <a:srgbClr val="D4D4D4"/>
                </a:solidFill>
                <a:effectLst/>
                <a:latin typeface="Consolas" panose="020B0609020204030204" pitchFamily="49" charset="0"/>
              </a:rPr>
              <a:t>,</a:t>
            </a:r>
            <a:r>
              <a:rPr lang="en-US" sz="2500" b="0" dirty="0">
                <a:solidFill>
                  <a:srgbClr val="B5CEA8"/>
                </a:solidFill>
                <a:effectLst/>
                <a:latin typeface="Consolas" panose="020B0609020204030204" pitchFamily="49" charset="0"/>
              </a:rPr>
              <a:t>0.2</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z-index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float</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black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12px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text-decoration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text-align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left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#ddd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2" name="Title 1">
            <a:extLst>
              <a:ext uri="{FF2B5EF4-FFF2-40B4-BE49-F238E27FC236}">
                <a16:creationId xmlns:a16="http://schemas.microsoft.com/office/drawing/2014/main" id="{0A66182B-243D-EFC7-DD17-B38C342F7854}"/>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10" name="TextBox 9">
            <a:extLst>
              <a:ext uri="{FF2B5EF4-FFF2-40B4-BE49-F238E27FC236}">
                <a16:creationId xmlns:a16="http://schemas.microsoft.com/office/drawing/2014/main" id="{F625FDC5-0CEB-A3AB-7871-8831FEE6089E}"/>
              </a:ext>
            </a:extLst>
          </p:cNvPr>
          <p:cNvSpPr txBox="1"/>
          <p:nvPr/>
        </p:nvSpPr>
        <p:spPr>
          <a:xfrm>
            <a:off x="5589639" y="3008671"/>
            <a:ext cx="6602362" cy="2610843"/>
          </a:xfrm>
          <a:prstGeom prst="rect">
            <a:avLst/>
          </a:prstGeom>
          <a:solidFill>
            <a:schemeClr val="tx1"/>
          </a:solidFill>
          <a:ln>
            <a:solidFill>
              <a:srgbClr val="FF0000"/>
            </a:solidFill>
          </a:ln>
        </p:spPr>
        <p:txBody>
          <a:bodyPr wrap="square">
            <a:spAutoFit/>
          </a:bodyPr>
          <a:lstStyle/>
          <a:p>
            <a:pPr>
              <a:lnSpc>
                <a:spcPct val="150000"/>
              </a:lnSpc>
            </a:pPr>
            <a:r>
              <a:rPr lang="en-US" sz="2800" dirty="0">
                <a:solidFill>
                  <a:schemeClr val="bg1"/>
                </a:solidFill>
              </a:rPr>
              <a:t> z-index: 1;</a:t>
            </a:r>
          </a:p>
          <a:p>
            <a:pPr>
              <a:lnSpc>
                <a:spcPct val="150000"/>
              </a:lnSpc>
            </a:pPr>
            <a:r>
              <a:rPr lang="en-US" sz="2800" dirty="0">
                <a:solidFill>
                  <a:schemeClr val="bg1"/>
                </a:solidFill>
              </a:rPr>
              <a:t>Keeps the menu on top of other content.</a:t>
            </a:r>
          </a:p>
          <a:p>
            <a:pPr>
              <a:lnSpc>
                <a:spcPct val="150000"/>
              </a:lnSpc>
            </a:pPr>
            <a:r>
              <a:rPr lang="en-US" sz="2800" dirty="0">
                <a:solidFill>
                  <a:schemeClr val="bg1"/>
                </a:solidFill>
              </a:rPr>
              <a:t>}</a:t>
            </a:r>
          </a:p>
          <a:p>
            <a:pPr>
              <a:lnSpc>
                <a:spcPct val="150000"/>
              </a:lnSpc>
            </a:pPr>
            <a:r>
              <a:rPr lang="en-US" sz="2800" dirty="0">
                <a:solidFill>
                  <a:schemeClr val="bg1"/>
                </a:solidFill>
              </a:rPr>
              <a:t>Ends dropdown content style.</a:t>
            </a:r>
          </a:p>
        </p:txBody>
      </p:sp>
    </p:spTree>
    <p:extLst>
      <p:ext uri="{BB962C8B-B14F-4D97-AF65-F5344CB8AC3E}">
        <p14:creationId xmlns:p14="http://schemas.microsoft.com/office/powerpoint/2010/main" val="26012556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02EDE-25A1-BDC0-7F34-8ABD2D20572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90D5A85-DA81-10F9-454D-4B8832CEEFC3}"/>
              </a:ext>
            </a:extLst>
          </p:cNvPr>
          <p:cNvSpPr txBox="1"/>
          <p:nvPr/>
        </p:nvSpPr>
        <p:spPr>
          <a:xfrm>
            <a:off x="0" y="568712"/>
            <a:ext cx="12192000" cy="7402026"/>
          </a:xfrm>
          <a:prstGeom prst="rect">
            <a:avLst/>
          </a:prstGeom>
          <a:solidFill>
            <a:schemeClr val="tx1"/>
          </a:solidFill>
        </p:spPr>
        <p:txBody>
          <a:bodyPr wrap="square">
            <a:spAutoFit/>
          </a:bodyPr>
          <a:lstStyle/>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float</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black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12px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text-decoration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text-align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left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#ddd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2" name="Title 1">
            <a:extLst>
              <a:ext uri="{FF2B5EF4-FFF2-40B4-BE49-F238E27FC236}">
                <a16:creationId xmlns:a16="http://schemas.microsoft.com/office/drawing/2014/main" id="{D84D8823-3EA7-513A-FDA3-29E9D884D47F}"/>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10" name="TextBox 9">
            <a:extLst>
              <a:ext uri="{FF2B5EF4-FFF2-40B4-BE49-F238E27FC236}">
                <a16:creationId xmlns:a16="http://schemas.microsoft.com/office/drawing/2014/main" id="{324CB362-2CE9-FD61-F027-1A0CF9C7B617}"/>
              </a:ext>
            </a:extLst>
          </p:cNvPr>
          <p:cNvSpPr txBox="1"/>
          <p:nvPr/>
        </p:nvSpPr>
        <p:spPr>
          <a:xfrm>
            <a:off x="5589638" y="0"/>
            <a:ext cx="6602362" cy="5842497"/>
          </a:xfrm>
          <a:prstGeom prst="rect">
            <a:avLst/>
          </a:prstGeom>
          <a:solidFill>
            <a:schemeClr val="tx1"/>
          </a:solidFill>
          <a:ln>
            <a:solidFill>
              <a:srgbClr val="FF0000"/>
            </a:solidFill>
          </a:ln>
        </p:spPr>
        <p:txBody>
          <a:bodyPr wrap="square">
            <a:spAutoFit/>
          </a:bodyPr>
          <a:lstStyle/>
          <a:p>
            <a:pPr>
              <a:lnSpc>
                <a:spcPct val="150000"/>
              </a:lnSpc>
            </a:pPr>
            <a:r>
              <a:rPr lang="en-US" sz="2800" b="1" dirty="0">
                <a:solidFill>
                  <a:schemeClr val="bg1"/>
                </a:solidFill>
              </a:rPr>
              <a:t>Style for dropdown links</a:t>
            </a:r>
          </a:p>
          <a:p>
            <a:pPr>
              <a:lnSpc>
                <a:spcPct val="150000"/>
              </a:lnSpc>
            </a:pPr>
            <a:r>
              <a:rPr lang="en-US" sz="2800" dirty="0">
                <a:solidFill>
                  <a:schemeClr val="bg1"/>
                </a:solidFill>
              </a:rPr>
              <a:t>.dropdown-content a {</a:t>
            </a:r>
          </a:p>
          <a:p>
            <a:pPr>
              <a:lnSpc>
                <a:spcPct val="150000"/>
              </a:lnSpc>
            </a:pPr>
            <a:r>
              <a:rPr lang="en-US" sz="2800" dirty="0">
                <a:solidFill>
                  <a:schemeClr val="bg1"/>
                </a:solidFill>
              </a:rPr>
              <a:t>Selects links inside the dropdown box.</a:t>
            </a:r>
          </a:p>
          <a:p>
            <a:pPr>
              <a:lnSpc>
                <a:spcPct val="150000"/>
              </a:lnSpc>
            </a:pPr>
            <a:r>
              <a:rPr lang="en-US" sz="2800" dirty="0">
                <a:solidFill>
                  <a:schemeClr val="bg1"/>
                </a:solidFill>
              </a:rPr>
              <a:t>    float: none;</a:t>
            </a:r>
          </a:p>
          <a:p>
            <a:pPr>
              <a:lnSpc>
                <a:spcPct val="150000"/>
              </a:lnSpc>
            </a:pPr>
            <a:r>
              <a:rPr lang="en-US" sz="2800" dirty="0">
                <a:solidFill>
                  <a:schemeClr val="bg1"/>
                </a:solidFill>
              </a:rPr>
              <a:t>Stops the links from sitting side by side.</a:t>
            </a:r>
          </a:p>
          <a:p>
            <a:pPr>
              <a:lnSpc>
                <a:spcPct val="150000"/>
              </a:lnSpc>
            </a:pPr>
            <a:r>
              <a:rPr lang="en-US" sz="2800" dirty="0">
                <a:solidFill>
                  <a:schemeClr val="bg1"/>
                </a:solidFill>
              </a:rPr>
              <a:t>    color: black;</a:t>
            </a:r>
          </a:p>
          <a:p>
            <a:pPr>
              <a:lnSpc>
                <a:spcPct val="150000"/>
              </a:lnSpc>
            </a:pPr>
            <a:r>
              <a:rPr lang="en-US" sz="2800" dirty="0">
                <a:solidFill>
                  <a:schemeClr val="bg1"/>
                </a:solidFill>
              </a:rPr>
              <a:t>Makes the text black.</a:t>
            </a:r>
          </a:p>
          <a:p>
            <a:pPr>
              <a:lnSpc>
                <a:spcPct val="150000"/>
              </a:lnSpc>
            </a:pPr>
            <a:r>
              <a:rPr lang="en-US" sz="2800" dirty="0">
                <a:solidFill>
                  <a:schemeClr val="bg1"/>
                </a:solidFill>
              </a:rPr>
              <a:t>    padding: 12px 16px;</a:t>
            </a:r>
          </a:p>
          <a:p>
            <a:pPr>
              <a:lnSpc>
                <a:spcPct val="150000"/>
              </a:lnSpc>
            </a:pPr>
            <a:r>
              <a:rPr lang="en-US" sz="2800" dirty="0">
                <a:solidFill>
                  <a:schemeClr val="bg1"/>
                </a:solidFill>
              </a:rPr>
              <a:t>Adds space inside each link.</a:t>
            </a:r>
          </a:p>
        </p:txBody>
      </p:sp>
    </p:spTree>
    <p:extLst>
      <p:ext uri="{BB962C8B-B14F-4D97-AF65-F5344CB8AC3E}">
        <p14:creationId xmlns:p14="http://schemas.microsoft.com/office/powerpoint/2010/main" val="37163863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2D34C-8DAE-F029-9DA9-B886FD9E366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E7A2E7F-F38E-E3A2-9858-AC466E6ED95E}"/>
              </a:ext>
            </a:extLst>
          </p:cNvPr>
          <p:cNvSpPr txBox="1"/>
          <p:nvPr/>
        </p:nvSpPr>
        <p:spPr>
          <a:xfrm>
            <a:off x="0" y="568712"/>
            <a:ext cx="12192000" cy="7402026"/>
          </a:xfrm>
          <a:prstGeom prst="rect">
            <a:avLst/>
          </a:prstGeom>
          <a:solidFill>
            <a:schemeClr val="tx1"/>
          </a:solidFill>
        </p:spPr>
        <p:txBody>
          <a:bodyPr wrap="square">
            <a:spAutoFit/>
          </a:bodyPr>
          <a:lstStyle/>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float</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black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padding</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12px</a:t>
            </a:r>
            <a:r>
              <a:rPr lang="en-US" sz="2500" b="0" dirty="0">
                <a:solidFill>
                  <a:srgbClr val="D4D4D4"/>
                </a:solidFill>
                <a:effectLst/>
                <a:latin typeface="Consolas" panose="020B0609020204030204" pitchFamily="49" charset="0"/>
              </a:rPr>
              <a:t> </a:t>
            </a:r>
            <a:r>
              <a:rPr lang="en-US" sz="2500" b="0" dirty="0">
                <a:solidFill>
                  <a:srgbClr val="B5CEA8"/>
                </a:solidFill>
                <a:effectLst/>
                <a:latin typeface="Consolas" panose="020B0609020204030204" pitchFamily="49" charset="0"/>
              </a:rPr>
              <a:t>16px</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text-decoration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none</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text-align</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left</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#ddd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2" name="Title 1">
            <a:extLst>
              <a:ext uri="{FF2B5EF4-FFF2-40B4-BE49-F238E27FC236}">
                <a16:creationId xmlns:a16="http://schemas.microsoft.com/office/drawing/2014/main" id="{2429BCEC-F791-CE2B-68A3-3CA2884A5409}"/>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10" name="TextBox 9">
            <a:extLst>
              <a:ext uri="{FF2B5EF4-FFF2-40B4-BE49-F238E27FC236}">
                <a16:creationId xmlns:a16="http://schemas.microsoft.com/office/drawing/2014/main" id="{4BF9122D-DA4B-D91F-AF0E-74B4C021312F}"/>
              </a:ext>
            </a:extLst>
          </p:cNvPr>
          <p:cNvSpPr txBox="1"/>
          <p:nvPr/>
        </p:nvSpPr>
        <p:spPr>
          <a:xfrm>
            <a:off x="5589638" y="0"/>
            <a:ext cx="6602362" cy="5196166"/>
          </a:xfrm>
          <a:prstGeom prst="rect">
            <a:avLst/>
          </a:prstGeom>
          <a:solidFill>
            <a:schemeClr val="tx1"/>
          </a:solidFill>
          <a:ln>
            <a:solidFill>
              <a:srgbClr val="FF0000"/>
            </a:solidFill>
          </a:ln>
        </p:spPr>
        <p:txBody>
          <a:bodyPr wrap="square">
            <a:spAutoFit/>
          </a:bodyPr>
          <a:lstStyle/>
          <a:p>
            <a:pPr>
              <a:lnSpc>
                <a:spcPct val="150000"/>
              </a:lnSpc>
            </a:pPr>
            <a:r>
              <a:rPr lang="en-US" sz="2800" dirty="0">
                <a:solidFill>
                  <a:schemeClr val="bg1"/>
                </a:solidFill>
              </a:rPr>
              <a:t> text-decoration: none;</a:t>
            </a:r>
          </a:p>
          <a:p>
            <a:pPr>
              <a:lnSpc>
                <a:spcPct val="150000"/>
              </a:lnSpc>
            </a:pPr>
            <a:r>
              <a:rPr lang="en-US" sz="2800" dirty="0">
                <a:solidFill>
                  <a:schemeClr val="bg1"/>
                </a:solidFill>
              </a:rPr>
              <a:t>Removes underline.</a:t>
            </a:r>
          </a:p>
          <a:p>
            <a:pPr>
              <a:lnSpc>
                <a:spcPct val="150000"/>
              </a:lnSpc>
            </a:pPr>
            <a:r>
              <a:rPr lang="en-US" sz="2800" dirty="0">
                <a:solidFill>
                  <a:schemeClr val="bg1"/>
                </a:solidFill>
              </a:rPr>
              <a:t>    display: block;</a:t>
            </a:r>
          </a:p>
          <a:p>
            <a:pPr>
              <a:lnSpc>
                <a:spcPct val="150000"/>
              </a:lnSpc>
            </a:pPr>
            <a:r>
              <a:rPr lang="en-US" sz="2800" dirty="0">
                <a:solidFill>
                  <a:schemeClr val="bg1"/>
                </a:solidFill>
              </a:rPr>
              <a:t>Makes each link take a full line.</a:t>
            </a:r>
          </a:p>
          <a:p>
            <a:pPr>
              <a:lnSpc>
                <a:spcPct val="150000"/>
              </a:lnSpc>
            </a:pPr>
            <a:r>
              <a:rPr lang="en-US" sz="2800" dirty="0">
                <a:solidFill>
                  <a:schemeClr val="bg1"/>
                </a:solidFill>
              </a:rPr>
              <a:t>    text-align: left;</a:t>
            </a:r>
          </a:p>
          <a:p>
            <a:pPr>
              <a:lnSpc>
                <a:spcPct val="150000"/>
              </a:lnSpc>
            </a:pPr>
            <a:r>
              <a:rPr lang="en-US" sz="2800" dirty="0">
                <a:solidFill>
                  <a:schemeClr val="bg1"/>
                </a:solidFill>
              </a:rPr>
              <a:t>Aligns text to the left.</a:t>
            </a:r>
          </a:p>
          <a:p>
            <a:pPr>
              <a:lnSpc>
                <a:spcPct val="150000"/>
              </a:lnSpc>
            </a:pPr>
            <a:r>
              <a:rPr lang="en-US" sz="2800" dirty="0">
                <a:solidFill>
                  <a:schemeClr val="bg1"/>
                </a:solidFill>
              </a:rPr>
              <a:t>}</a:t>
            </a:r>
          </a:p>
          <a:p>
            <a:pPr>
              <a:lnSpc>
                <a:spcPct val="150000"/>
              </a:lnSpc>
            </a:pPr>
            <a:r>
              <a:rPr lang="en-US" sz="2800" dirty="0">
                <a:solidFill>
                  <a:schemeClr val="bg1"/>
                </a:solidFill>
              </a:rPr>
              <a:t>Ends dropdown link style.</a:t>
            </a:r>
          </a:p>
        </p:txBody>
      </p:sp>
    </p:spTree>
    <p:extLst>
      <p:ext uri="{BB962C8B-B14F-4D97-AF65-F5344CB8AC3E}">
        <p14:creationId xmlns:p14="http://schemas.microsoft.com/office/powerpoint/2010/main" val="20743145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414E6-3C34-0372-555F-5DD7FEA9CE8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7B20119-9AE4-9C7F-85DE-002DCBDB3F41}"/>
              </a:ext>
            </a:extLst>
          </p:cNvPr>
          <p:cNvSpPr txBox="1"/>
          <p:nvPr/>
        </p:nvSpPr>
        <p:spPr>
          <a:xfrm>
            <a:off x="0" y="568712"/>
            <a:ext cx="12192000" cy="3554819"/>
          </a:xfrm>
          <a:prstGeom prst="rect">
            <a:avLst/>
          </a:prstGeom>
          <a:solidFill>
            <a:schemeClr val="tx1"/>
          </a:solidFill>
        </p:spPr>
        <p:txBody>
          <a:bodyPr wrap="square">
            <a:spAutoFit/>
          </a:bodyPr>
          <a:lstStyle/>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#ddd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2" name="Title 1">
            <a:extLst>
              <a:ext uri="{FF2B5EF4-FFF2-40B4-BE49-F238E27FC236}">
                <a16:creationId xmlns:a16="http://schemas.microsoft.com/office/drawing/2014/main" id="{5A061CA9-A2C7-3193-EBC6-5DDAD11E8618}"/>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10" name="TextBox 9">
            <a:extLst>
              <a:ext uri="{FF2B5EF4-FFF2-40B4-BE49-F238E27FC236}">
                <a16:creationId xmlns:a16="http://schemas.microsoft.com/office/drawing/2014/main" id="{566AE2CD-9680-85F2-0C87-3FC48D001FB9}"/>
              </a:ext>
            </a:extLst>
          </p:cNvPr>
          <p:cNvSpPr txBox="1"/>
          <p:nvPr/>
        </p:nvSpPr>
        <p:spPr>
          <a:xfrm>
            <a:off x="6282813" y="0"/>
            <a:ext cx="5909187" cy="5196166"/>
          </a:xfrm>
          <a:prstGeom prst="rect">
            <a:avLst/>
          </a:prstGeom>
          <a:solidFill>
            <a:schemeClr val="tx1"/>
          </a:solidFill>
          <a:ln>
            <a:solidFill>
              <a:srgbClr val="FF0000"/>
            </a:solidFill>
          </a:ln>
        </p:spPr>
        <p:txBody>
          <a:bodyPr wrap="square">
            <a:spAutoFit/>
          </a:bodyPr>
          <a:lstStyle/>
          <a:p>
            <a:pPr>
              <a:lnSpc>
                <a:spcPct val="150000"/>
              </a:lnSpc>
            </a:pPr>
            <a:r>
              <a:rPr lang="en-US" sz="2800" b="1" dirty="0">
                <a:solidFill>
                  <a:schemeClr val="bg1"/>
                </a:solidFill>
              </a:rPr>
              <a:t>Hover effect for dropdown links</a:t>
            </a:r>
          </a:p>
          <a:p>
            <a:pPr>
              <a:lnSpc>
                <a:spcPct val="150000"/>
              </a:lnSpc>
            </a:pPr>
            <a:r>
              <a:rPr lang="en-US" sz="2800" dirty="0">
                <a:solidFill>
                  <a:schemeClr val="bg1"/>
                </a:solidFill>
              </a:rPr>
              <a:t>.dropdown-content a:hover {</a:t>
            </a:r>
          </a:p>
          <a:p>
            <a:pPr>
              <a:lnSpc>
                <a:spcPct val="150000"/>
              </a:lnSpc>
            </a:pPr>
            <a:r>
              <a:rPr lang="en-US" sz="2800" dirty="0">
                <a:solidFill>
                  <a:schemeClr val="bg1"/>
                </a:solidFill>
              </a:rPr>
              <a:t>Applies style when mouse is over dropdown links.</a:t>
            </a:r>
          </a:p>
          <a:p>
            <a:pPr>
              <a:lnSpc>
                <a:spcPct val="150000"/>
              </a:lnSpc>
            </a:pPr>
            <a:r>
              <a:rPr lang="en-US" sz="2800" dirty="0">
                <a:solidFill>
                  <a:schemeClr val="bg1"/>
                </a:solidFill>
              </a:rPr>
              <a:t>    background-color: #ddd;</a:t>
            </a:r>
          </a:p>
          <a:p>
            <a:pPr>
              <a:lnSpc>
                <a:spcPct val="150000"/>
              </a:lnSpc>
            </a:pPr>
            <a:r>
              <a:rPr lang="en-US" sz="2800" dirty="0">
                <a:solidFill>
                  <a:schemeClr val="bg1"/>
                </a:solidFill>
              </a:rPr>
              <a:t>Changes the background to light grey.</a:t>
            </a:r>
          </a:p>
          <a:p>
            <a:pPr>
              <a:lnSpc>
                <a:spcPct val="150000"/>
              </a:lnSpc>
            </a:pPr>
            <a:r>
              <a:rPr lang="en-US" sz="2800" dirty="0">
                <a:solidFill>
                  <a:schemeClr val="bg1"/>
                </a:solidFill>
              </a:rPr>
              <a:t>}</a:t>
            </a:r>
          </a:p>
          <a:p>
            <a:pPr>
              <a:lnSpc>
                <a:spcPct val="150000"/>
              </a:lnSpc>
            </a:pPr>
            <a:r>
              <a:rPr lang="en-US" sz="2800" dirty="0">
                <a:solidFill>
                  <a:schemeClr val="bg1"/>
                </a:solidFill>
              </a:rPr>
              <a:t>Ends hover style.</a:t>
            </a:r>
          </a:p>
        </p:txBody>
      </p:sp>
    </p:spTree>
    <p:extLst>
      <p:ext uri="{BB962C8B-B14F-4D97-AF65-F5344CB8AC3E}">
        <p14:creationId xmlns:p14="http://schemas.microsoft.com/office/powerpoint/2010/main" val="34649177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CD0D7-B4BC-9785-BFD2-DE2E5EFD1CA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249FC1F-6A75-6736-ED87-FD126950C460}"/>
              </a:ext>
            </a:extLst>
          </p:cNvPr>
          <p:cNvSpPr txBox="1"/>
          <p:nvPr/>
        </p:nvSpPr>
        <p:spPr>
          <a:xfrm>
            <a:off x="0" y="568712"/>
            <a:ext cx="12192000" cy="3554819"/>
          </a:xfrm>
          <a:prstGeom prst="rect">
            <a:avLst/>
          </a:prstGeom>
          <a:solidFill>
            <a:schemeClr val="tx1"/>
          </a:solidFill>
        </p:spPr>
        <p:txBody>
          <a:bodyPr wrap="square">
            <a:spAutoFit/>
          </a:bodyPr>
          <a:lstStyle/>
          <a:p>
            <a:pPr>
              <a:buNone/>
            </a:pP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a:hover</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background-color</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#ddd</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br>
              <a:rPr lang="en-US" sz="2500" b="0" dirty="0">
                <a:solidFill>
                  <a:srgbClr val="CCCCCC"/>
                </a:solidFill>
                <a:effectLst/>
                <a:latin typeface="Consolas" panose="020B0609020204030204" pitchFamily="49" charset="0"/>
              </a:rPr>
            </a:br>
            <a:endParaRPr lang="en-US" sz="2500" b="0" dirty="0">
              <a:solidFill>
                <a:srgbClr val="CCCCCC"/>
              </a:solidFill>
              <a:effectLst/>
              <a:latin typeface="Consolas" panose="020B0609020204030204" pitchFamily="49" charset="0"/>
            </a:endParaRPr>
          </a:p>
          <a:p>
            <a:pPr>
              <a:buNone/>
            </a:pPr>
            <a:r>
              <a:rPr lang="en-US" sz="2500" b="0" dirty="0">
                <a:solidFill>
                  <a:srgbClr val="D7BA7D"/>
                </a:solidFill>
                <a:effectLst/>
                <a:latin typeface="Consolas" panose="020B0609020204030204" pitchFamily="49" charset="0"/>
              </a:rPr>
              <a:t>.</a:t>
            </a:r>
            <a:r>
              <a:rPr lang="en-US" sz="2500" b="0" dirty="0" err="1">
                <a:solidFill>
                  <a:srgbClr val="D7BA7D"/>
                </a:solidFill>
                <a:effectLst/>
                <a:latin typeface="Consolas" panose="020B0609020204030204" pitchFamily="49" charset="0"/>
              </a:rPr>
              <a:t>dropdown:hover</a:t>
            </a:r>
            <a:r>
              <a:rPr lang="en-US" sz="2500" b="0" dirty="0">
                <a:solidFill>
                  <a:srgbClr val="D4D4D4"/>
                </a:solidFill>
                <a:effectLst/>
                <a:latin typeface="Consolas" panose="020B0609020204030204" pitchFamily="49" charset="0"/>
              </a:rPr>
              <a:t> </a:t>
            </a:r>
            <a:r>
              <a:rPr lang="en-US" sz="2500" b="0" dirty="0">
                <a:solidFill>
                  <a:srgbClr val="D7BA7D"/>
                </a:solidFill>
                <a:effectLst/>
                <a:latin typeface="Consolas" panose="020B0609020204030204" pitchFamily="49" charset="0"/>
              </a:rPr>
              <a:t>.dropdown-content</a:t>
            </a: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9CDCFE"/>
                </a:solidFill>
                <a:effectLst/>
                <a:latin typeface="Consolas" panose="020B0609020204030204" pitchFamily="49" charset="0"/>
              </a:rPr>
              <a:t>display</a:t>
            </a:r>
            <a:r>
              <a:rPr lang="en-US" sz="2500" b="0" dirty="0">
                <a:solidFill>
                  <a:srgbClr val="D4D4D4"/>
                </a:solidFill>
                <a:effectLst/>
                <a:latin typeface="Consolas" panose="020B0609020204030204" pitchFamily="49" charset="0"/>
              </a:rPr>
              <a:t>: </a:t>
            </a:r>
            <a:r>
              <a:rPr lang="en-US" sz="2500" b="0" dirty="0">
                <a:solidFill>
                  <a:srgbClr val="CE9178"/>
                </a:solidFill>
                <a:effectLst/>
                <a:latin typeface="Consolas" panose="020B0609020204030204" pitchFamily="49" charset="0"/>
              </a:rPr>
              <a:t>block</a:t>
            </a:r>
            <a:r>
              <a:rPr lang="en-US" sz="2500" b="0" dirty="0">
                <a:solidFill>
                  <a:srgbClr val="D4D4D4"/>
                </a:solidFill>
                <a:effectLst/>
                <a:latin typeface="Consolas" panose="020B0609020204030204" pitchFamily="49" charset="0"/>
              </a:rPr>
              <a:t>;</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endParaRPr lang="en-US" sz="2500" b="0" dirty="0">
              <a:solidFill>
                <a:srgbClr val="CCCCCC"/>
              </a:solidFill>
              <a:effectLst/>
              <a:latin typeface="Consolas" panose="020B0609020204030204" pitchFamily="49" charset="0"/>
            </a:endParaRPr>
          </a:p>
          <a:p>
            <a:pPr>
              <a:buNone/>
            </a:pPr>
            <a:r>
              <a:rPr lang="en-US" sz="2500" b="0" dirty="0">
                <a:solidFill>
                  <a:srgbClr val="D4D4D4"/>
                </a:solidFill>
                <a:effectLst/>
                <a:latin typeface="Consolas" panose="020B0609020204030204" pitchFamily="49" charset="0"/>
              </a:rPr>
              <a:t>    </a:t>
            </a:r>
            <a:r>
              <a:rPr lang="en-US" sz="2500" b="0" dirty="0">
                <a:solidFill>
                  <a:srgbClr val="808080"/>
                </a:solidFill>
                <a:effectLst/>
                <a:latin typeface="Consolas" panose="020B0609020204030204" pitchFamily="49" charset="0"/>
              </a:rPr>
              <a:t>&lt;/</a:t>
            </a:r>
            <a:r>
              <a:rPr lang="en-US" sz="2500" b="0" dirty="0">
                <a:solidFill>
                  <a:srgbClr val="569CD6"/>
                </a:solidFill>
                <a:effectLst/>
                <a:latin typeface="Consolas" panose="020B0609020204030204" pitchFamily="49" charset="0"/>
              </a:rPr>
              <a:t>style</a:t>
            </a:r>
            <a:r>
              <a:rPr lang="en-US" sz="2500" b="0" dirty="0">
                <a:solidFill>
                  <a:srgbClr val="808080"/>
                </a:solidFill>
                <a:effectLst/>
                <a:latin typeface="Consolas" panose="020B0609020204030204" pitchFamily="49" charset="0"/>
              </a:rPr>
              <a:t>&gt;</a:t>
            </a:r>
            <a:endParaRPr lang="en-US" sz="2500" b="0" dirty="0">
              <a:solidFill>
                <a:srgbClr val="CCCCCC"/>
              </a:solidFill>
              <a:effectLst/>
              <a:latin typeface="Consolas" panose="020B0609020204030204" pitchFamily="49" charset="0"/>
            </a:endParaRPr>
          </a:p>
        </p:txBody>
      </p:sp>
      <p:sp>
        <p:nvSpPr>
          <p:cNvPr id="2" name="Title 1">
            <a:extLst>
              <a:ext uri="{FF2B5EF4-FFF2-40B4-BE49-F238E27FC236}">
                <a16:creationId xmlns:a16="http://schemas.microsoft.com/office/drawing/2014/main" id="{687B7424-0D9D-97EA-5FFE-5B1736E2BEB5}"/>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10" name="TextBox 9">
            <a:extLst>
              <a:ext uri="{FF2B5EF4-FFF2-40B4-BE49-F238E27FC236}">
                <a16:creationId xmlns:a16="http://schemas.microsoft.com/office/drawing/2014/main" id="{A329A557-C1BC-545A-DA9D-C3640582477F}"/>
              </a:ext>
            </a:extLst>
          </p:cNvPr>
          <p:cNvSpPr txBox="1"/>
          <p:nvPr/>
        </p:nvSpPr>
        <p:spPr>
          <a:xfrm>
            <a:off x="6282813" y="0"/>
            <a:ext cx="5909187" cy="5842497"/>
          </a:xfrm>
          <a:prstGeom prst="rect">
            <a:avLst/>
          </a:prstGeom>
          <a:solidFill>
            <a:schemeClr val="tx1"/>
          </a:solidFill>
          <a:ln>
            <a:solidFill>
              <a:srgbClr val="FF0000"/>
            </a:solidFill>
          </a:ln>
        </p:spPr>
        <p:txBody>
          <a:bodyPr wrap="square">
            <a:spAutoFit/>
          </a:bodyPr>
          <a:lstStyle/>
          <a:p>
            <a:pPr>
              <a:lnSpc>
                <a:spcPct val="150000"/>
              </a:lnSpc>
            </a:pPr>
            <a:r>
              <a:rPr lang="en-US" sz="2800" b="1" dirty="0">
                <a:solidFill>
                  <a:schemeClr val="bg1"/>
                </a:solidFill>
              </a:rPr>
              <a:t>Show dropdown on hover</a:t>
            </a:r>
          </a:p>
          <a:p>
            <a:pPr>
              <a:lnSpc>
                <a:spcPct val="150000"/>
              </a:lnSpc>
            </a:pPr>
            <a:r>
              <a:rPr lang="en-US" sz="2800" dirty="0">
                <a:solidFill>
                  <a:schemeClr val="bg1"/>
                </a:solidFill>
              </a:rPr>
              <a:t>.</a:t>
            </a:r>
            <a:r>
              <a:rPr lang="en-US" sz="2800" dirty="0" err="1">
                <a:solidFill>
                  <a:schemeClr val="bg1"/>
                </a:solidFill>
              </a:rPr>
              <a:t>dropdown:hover</a:t>
            </a:r>
            <a:r>
              <a:rPr lang="en-US" sz="2800" dirty="0">
                <a:solidFill>
                  <a:schemeClr val="bg1"/>
                </a:solidFill>
              </a:rPr>
              <a:t> .dropdown-content {</a:t>
            </a:r>
          </a:p>
          <a:p>
            <a:pPr>
              <a:lnSpc>
                <a:spcPct val="150000"/>
              </a:lnSpc>
            </a:pPr>
            <a:r>
              <a:rPr lang="en-US" sz="2800" dirty="0">
                <a:solidFill>
                  <a:schemeClr val="bg1"/>
                </a:solidFill>
              </a:rPr>
              <a:t>When the mouse is over the dropdown section, select the hidden dropdown menu.</a:t>
            </a:r>
          </a:p>
          <a:p>
            <a:pPr>
              <a:lnSpc>
                <a:spcPct val="150000"/>
              </a:lnSpc>
            </a:pPr>
            <a:r>
              <a:rPr lang="en-US" sz="2800" dirty="0">
                <a:solidFill>
                  <a:schemeClr val="bg1"/>
                </a:solidFill>
              </a:rPr>
              <a:t>    display: block;</a:t>
            </a:r>
          </a:p>
          <a:p>
            <a:pPr>
              <a:lnSpc>
                <a:spcPct val="150000"/>
              </a:lnSpc>
            </a:pPr>
            <a:r>
              <a:rPr lang="en-US" sz="2800" dirty="0">
                <a:solidFill>
                  <a:schemeClr val="bg1"/>
                </a:solidFill>
              </a:rPr>
              <a:t>Shows the hidden menu.</a:t>
            </a:r>
          </a:p>
          <a:p>
            <a:pPr>
              <a:lnSpc>
                <a:spcPct val="150000"/>
              </a:lnSpc>
            </a:pPr>
            <a:r>
              <a:rPr lang="en-US" sz="2800" dirty="0">
                <a:solidFill>
                  <a:schemeClr val="bg1"/>
                </a:solidFill>
              </a:rPr>
              <a:t>}</a:t>
            </a:r>
          </a:p>
          <a:p>
            <a:pPr>
              <a:lnSpc>
                <a:spcPct val="150000"/>
              </a:lnSpc>
            </a:pPr>
            <a:r>
              <a:rPr lang="en-US" sz="2800" dirty="0">
                <a:solidFill>
                  <a:schemeClr val="bg1"/>
                </a:solidFill>
              </a:rPr>
              <a:t>Ends the rule.</a:t>
            </a:r>
          </a:p>
        </p:txBody>
      </p:sp>
    </p:spTree>
    <p:extLst>
      <p:ext uri="{BB962C8B-B14F-4D97-AF65-F5344CB8AC3E}">
        <p14:creationId xmlns:p14="http://schemas.microsoft.com/office/powerpoint/2010/main" val="28274174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3E105-5C9E-2BA2-38B9-B39806849F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23395D-93A3-9586-867A-48534E69ED9F}"/>
              </a:ext>
            </a:extLst>
          </p:cNvPr>
          <p:cNvSpPr>
            <a:spLocks noGrp="1"/>
          </p:cNvSpPr>
          <p:nvPr>
            <p:ph type="title"/>
          </p:nvPr>
        </p:nvSpPr>
        <p:spPr>
          <a:xfrm>
            <a:off x="0" y="0"/>
            <a:ext cx="10515600" cy="669018"/>
          </a:xfrm>
        </p:spPr>
        <p:txBody>
          <a:bodyPr>
            <a:noAutofit/>
          </a:bodyPr>
          <a:lstStyle/>
          <a:p>
            <a:r>
              <a:rPr lang="en-AU" b="1">
                <a:solidFill>
                  <a:schemeClr val="accent2">
                    <a:lumMod val="50000"/>
                  </a:schemeClr>
                </a:solidFill>
              </a:rPr>
              <a:t>Week 6 Lab Practice</a:t>
            </a:r>
            <a:endParaRPr lang="en-AU" b="1" dirty="0">
              <a:solidFill>
                <a:schemeClr val="accent2">
                  <a:lumMod val="50000"/>
                </a:schemeClr>
              </a:solidFill>
            </a:endParaRPr>
          </a:p>
        </p:txBody>
      </p:sp>
      <p:sp>
        <p:nvSpPr>
          <p:cNvPr id="4" name="TextBox 3">
            <a:extLst>
              <a:ext uri="{FF2B5EF4-FFF2-40B4-BE49-F238E27FC236}">
                <a16:creationId xmlns:a16="http://schemas.microsoft.com/office/drawing/2014/main" id="{BEB46903-0B70-7AE6-F9A8-846956E4AD99}"/>
              </a:ext>
            </a:extLst>
          </p:cNvPr>
          <p:cNvSpPr txBox="1"/>
          <p:nvPr/>
        </p:nvSpPr>
        <p:spPr>
          <a:xfrm>
            <a:off x="0" y="669018"/>
            <a:ext cx="11946192" cy="5842497"/>
          </a:xfrm>
          <a:prstGeom prst="rect">
            <a:avLst/>
          </a:prstGeom>
          <a:solidFill>
            <a:schemeClr val="bg1"/>
          </a:solidFill>
        </p:spPr>
        <p:txBody>
          <a:bodyPr wrap="square">
            <a:spAutoFit/>
          </a:bodyPr>
          <a:lstStyle/>
          <a:p>
            <a:pPr marL="514350" indent="-514350">
              <a:lnSpc>
                <a:spcPct val="150000"/>
              </a:lnSpc>
              <a:buFont typeface="+mj-lt"/>
              <a:buAutoNum type="arabicPeriod"/>
            </a:pPr>
            <a:r>
              <a:rPr lang="en-US" sz="2800" dirty="0"/>
              <a:t>Right-click the file </a:t>
            </a:r>
          </a:p>
          <a:p>
            <a:pPr marL="514350" indent="-514350">
              <a:lnSpc>
                <a:spcPct val="150000"/>
              </a:lnSpc>
              <a:buFont typeface="+mj-lt"/>
              <a:buAutoNum type="arabicPeriod"/>
            </a:pPr>
            <a:r>
              <a:rPr lang="en-US" sz="2800" dirty="0"/>
              <a:t>Choose Open with Live Server if Live Server is installed</a:t>
            </a:r>
            <a:br>
              <a:rPr lang="en-US" sz="2800" dirty="0"/>
            </a:br>
            <a:r>
              <a:rPr lang="en-US" sz="2800" dirty="0"/>
              <a:t>or </a:t>
            </a:r>
          </a:p>
          <a:p>
            <a:pPr marL="514350" indent="-514350">
              <a:lnSpc>
                <a:spcPct val="150000"/>
              </a:lnSpc>
              <a:buFont typeface="+mj-lt"/>
              <a:buAutoNum type="arabicPeriod"/>
            </a:pPr>
            <a:r>
              <a:rPr lang="en-US" sz="2800" dirty="0"/>
              <a:t>Open the file directly in </a:t>
            </a:r>
            <a:br>
              <a:rPr lang="fa-IR" sz="2800" dirty="0"/>
            </a:br>
            <a:r>
              <a:rPr lang="en-US" sz="2800" dirty="0"/>
              <a:t>your browser by </a:t>
            </a:r>
            <a:br>
              <a:rPr lang="fa-IR" sz="2800" dirty="0"/>
            </a:br>
            <a:r>
              <a:rPr lang="en-US" sz="2800" dirty="0"/>
              <a:t>double-clicking it </a:t>
            </a:r>
          </a:p>
          <a:p>
            <a:pPr>
              <a:lnSpc>
                <a:spcPct val="150000"/>
              </a:lnSpc>
              <a:buNone/>
            </a:pPr>
            <a:r>
              <a:rPr lang="en-US" sz="2800" dirty="0"/>
              <a:t>When you move your mouse </a:t>
            </a:r>
            <a:br>
              <a:rPr lang="fa-IR" sz="2800" dirty="0"/>
            </a:br>
            <a:r>
              <a:rPr lang="en-US" sz="2800" dirty="0"/>
              <a:t>over Dropdown, the menu </a:t>
            </a:r>
            <a:br>
              <a:rPr lang="fa-IR" sz="2800" dirty="0"/>
            </a:br>
            <a:r>
              <a:rPr lang="en-US" sz="2800" dirty="0"/>
              <a:t>should appear</a:t>
            </a:r>
          </a:p>
        </p:txBody>
      </p:sp>
      <p:pic>
        <p:nvPicPr>
          <p:cNvPr id="6" name="Picture 5">
            <a:extLst>
              <a:ext uri="{FF2B5EF4-FFF2-40B4-BE49-F238E27FC236}">
                <a16:creationId xmlns:a16="http://schemas.microsoft.com/office/drawing/2014/main" id="{58BF7C4D-4B84-CAA8-477C-30E326155961}"/>
              </a:ext>
            </a:extLst>
          </p:cNvPr>
          <p:cNvPicPr>
            <a:picLocks noChangeAspect="1"/>
          </p:cNvPicPr>
          <p:nvPr/>
        </p:nvPicPr>
        <p:blipFill>
          <a:blip r:embed="rId2"/>
          <a:srcRect r="16494" b="7155"/>
          <a:stretch>
            <a:fillRect/>
          </a:stretch>
        </p:blipFill>
        <p:spPr>
          <a:xfrm>
            <a:off x="4382357" y="1973766"/>
            <a:ext cx="7809643" cy="4884234"/>
          </a:xfrm>
          <a:prstGeom prst="rect">
            <a:avLst/>
          </a:prstGeom>
        </p:spPr>
      </p:pic>
      <p:sp>
        <p:nvSpPr>
          <p:cNvPr id="8" name="Rectangle: Rounded Corners 7">
            <a:extLst>
              <a:ext uri="{FF2B5EF4-FFF2-40B4-BE49-F238E27FC236}">
                <a16:creationId xmlns:a16="http://schemas.microsoft.com/office/drawing/2014/main" id="{D0AF732A-B0D2-59F7-C763-825D84C91F58}"/>
              </a:ext>
            </a:extLst>
          </p:cNvPr>
          <p:cNvSpPr/>
          <p:nvPr/>
        </p:nvSpPr>
        <p:spPr>
          <a:xfrm>
            <a:off x="8887521" y="5609063"/>
            <a:ext cx="3222703" cy="26763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29177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07654-6A7B-5E7E-ED1C-24B4AF46E0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DEBC6E-EDB0-DA11-08AF-E62C9E33FD22}"/>
              </a:ext>
            </a:extLst>
          </p:cNvPr>
          <p:cNvSpPr>
            <a:spLocks noGrp="1"/>
          </p:cNvSpPr>
          <p:nvPr>
            <p:ph type="title"/>
          </p:nvPr>
        </p:nvSpPr>
        <p:spPr>
          <a:xfrm>
            <a:off x="0" y="0"/>
            <a:ext cx="10515600" cy="669018"/>
          </a:xfrm>
        </p:spPr>
        <p:txBody>
          <a:bodyPr>
            <a:noAutofit/>
          </a:bodyPr>
          <a:lstStyle/>
          <a:p>
            <a:r>
              <a:rPr lang="en-AU" b="1">
                <a:solidFill>
                  <a:schemeClr val="accent2">
                    <a:lumMod val="50000"/>
                  </a:schemeClr>
                </a:solidFill>
              </a:rPr>
              <a:t>Week 6 Lab Practice</a:t>
            </a:r>
            <a:endParaRPr lang="en-AU" b="1" dirty="0">
              <a:solidFill>
                <a:schemeClr val="accent2">
                  <a:lumMod val="50000"/>
                </a:schemeClr>
              </a:solidFill>
            </a:endParaRPr>
          </a:p>
        </p:txBody>
      </p:sp>
      <p:pic>
        <p:nvPicPr>
          <p:cNvPr id="9" name="Picture 8">
            <a:extLst>
              <a:ext uri="{FF2B5EF4-FFF2-40B4-BE49-F238E27FC236}">
                <a16:creationId xmlns:a16="http://schemas.microsoft.com/office/drawing/2014/main" id="{4F5B6B31-24DD-C5A2-D8F7-1011236A814D}"/>
              </a:ext>
            </a:extLst>
          </p:cNvPr>
          <p:cNvPicPr>
            <a:picLocks noChangeAspect="1"/>
          </p:cNvPicPr>
          <p:nvPr/>
        </p:nvPicPr>
        <p:blipFill>
          <a:blip r:embed="rId2"/>
          <a:srcRect b="6179"/>
          <a:stretch>
            <a:fillRect/>
          </a:stretch>
        </p:blipFill>
        <p:spPr>
          <a:xfrm>
            <a:off x="232378" y="669018"/>
            <a:ext cx="11727244" cy="6188982"/>
          </a:xfrm>
          <a:prstGeom prst="rect">
            <a:avLst/>
          </a:prstGeom>
        </p:spPr>
      </p:pic>
    </p:spTree>
    <p:extLst>
      <p:ext uri="{BB962C8B-B14F-4D97-AF65-F5344CB8AC3E}">
        <p14:creationId xmlns:p14="http://schemas.microsoft.com/office/powerpoint/2010/main" val="40685674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3669D-0278-1D1D-3859-F4C5CD42C1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912D81-6AAA-3D39-6E24-1EC58BBA5189}"/>
              </a:ext>
            </a:extLst>
          </p:cNvPr>
          <p:cNvSpPr>
            <a:spLocks noGrp="1"/>
          </p:cNvSpPr>
          <p:nvPr>
            <p:ph type="title"/>
          </p:nvPr>
        </p:nvSpPr>
        <p:spPr>
          <a:xfrm>
            <a:off x="0" y="0"/>
            <a:ext cx="10515600" cy="669018"/>
          </a:xfrm>
        </p:spPr>
        <p:txBody>
          <a:bodyPr>
            <a:noAutofit/>
          </a:bodyPr>
          <a:lstStyle/>
          <a:p>
            <a:r>
              <a:rPr lang="en-AU" b="1" dirty="0">
                <a:solidFill>
                  <a:schemeClr val="accent2">
                    <a:lumMod val="50000"/>
                  </a:schemeClr>
                </a:solidFill>
              </a:rPr>
              <a:t>Week 6 Lab Practice</a:t>
            </a:r>
          </a:p>
        </p:txBody>
      </p:sp>
      <p:sp>
        <p:nvSpPr>
          <p:cNvPr id="4" name="TextBox 3">
            <a:extLst>
              <a:ext uri="{FF2B5EF4-FFF2-40B4-BE49-F238E27FC236}">
                <a16:creationId xmlns:a16="http://schemas.microsoft.com/office/drawing/2014/main" id="{78CF0A25-1C84-4BA5-51E2-65483234F185}"/>
              </a:ext>
            </a:extLst>
          </p:cNvPr>
          <p:cNvSpPr txBox="1"/>
          <p:nvPr/>
        </p:nvSpPr>
        <p:spPr>
          <a:xfrm>
            <a:off x="0" y="669018"/>
            <a:ext cx="11946192" cy="2610843"/>
          </a:xfrm>
          <a:prstGeom prst="rect">
            <a:avLst/>
          </a:prstGeom>
          <a:noFill/>
        </p:spPr>
        <p:txBody>
          <a:bodyPr wrap="square">
            <a:spAutoFit/>
          </a:bodyPr>
          <a:lstStyle/>
          <a:p>
            <a:pPr>
              <a:lnSpc>
                <a:spcPct val="150000"/>
              </a:lnSpc>
            </a:pPr>
            <a:r>
              <a:rPr lang="en-US" sz="2800" dirty="0"/>
              <a:t>This project creates a horizontal navigation bar using HTML and CSS. The HTML is used to create the links and dropdown menu. The CSS is used to style the menu, set colors, align items, and show the dropdown links when the mouse hovers over the dropdown button.</a:t>
            </a:r>
          </a:p>
        </p:txBody>
      </p:sp>
    </p:spTree>
    <p:extLst>
      <p:ext uri="{BB962C8B-B14F-4D97-AF65-F5344CB8AC3E}">
        <p14:creationId xmlns:p14="http://schemas.microsoft.com/office/powerpoint/2010/main" val="9845367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507C0-0909-017D-E336-9F0C7C44DF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4D3CC4-B7FC-BCA8-A258-DE52606E4502}"/>
              </a:ext>
            </a:extLst>
          </p:cNvPr>
          <p:cNvSpPr>
            <a:spLocks noGrp="1"/>
          </p:cNvSpPr>
          <p:nvPr>
            <p:ph type="title"/>
          </p:nvPr>
        </p:nvSpPr>
        <p:spPr>
          <a:xfrm>
            <a:off x="838200" y="365126"/>
            <a:ext cx="10515600" cy="669018"/>
          </a:xfrm>
        </p:spPr>
        <p:txBody>
          <a:bodyPr>
            <a:noAutofit/>
          </a:bodyPr>
          <a:lstStyle/>
          <a:p>
            <a:r>
              <a:rPr lang="en-AU" dirty="0">
                <a:solidFill>
                  <a:schemeClr val="accent2">
                    <a:lumMod val="50000"/>
                  </a:schemeClr>
                </a:solidFill>
              </a:rPr>
              <a:t>Today’s Webinar</a:t>
            </a:r>
          </a:p>
        </p:txBody>
      </p:sp>
      <p:sp>
        <p:nvSpPr>
          <p:cNvPr id="3" name="Content Placeholder 2">
            <a:extLst>
              <a:ext uri="{FF2B5EF4-FFF2-40B4-BE49-F238E27FC236}">
                <a16:creationId xmlns:a16="http://schemas.microsoft.com/office/drawing/2014/main" id="{CFEF7F83-5FF5-DEB7-87A4-13EB6BF548DC}"/>
              </a:ext>
            </a:extLst>
          </p:cNvPr>
          <p:cNvSpPr>
            <a:spLocks noGrp="1"/>
          </p:cNvSpPr>
          <p:nvPr>
            <p:ph idx="1"/>
          </p:nvPr>
        </p:nvSpPr>
        <p:spPr>
          <a:xfrm>
            <a:off x="437201" y="1226810"/>
            <a:ext cx="10515600" cy="3808956"/>
          </a:xfrm>
        </p:spPr>
        <p:txBody>
          <a:bodyPr>
            <a:normAutofit lnSpcReduction="10000"/>
          </a:bodyPr>
          <a:lstStyle/>
          <a:p>
            <a:r>
              <a:rPr lang="en-AU" sz="4000" dirty="0"/>
              <a:t>CSS</a:t>
            </a:r>
          </a:p>
          <a:p>
            <a:pPr lvl="1"/>
            <a:r>
              <a:rPr lang="en-AU" sz="3600" dirty="0"/>
              <a:t>Pseudo-classes and Pseudo-elements</a:t>
            </a:r>
          </a:p>
          <a:p>
            <a:r>
              <a:rPr lang="en-AU" sz="4000" dirty="0"/>
              <a:t>Navigation bar using CSS</a:t>
            </a:r>
          </a:p>
          <a:p>
            <a:r>
              <a:rPr lang="en-AU" sz="4000" dirty="0"/>
              <a:t>Attribute Selectors in CSS</a:t>
            </a:r>
          </a:p>
          <a:p>
            <a:r>
              <a:rPr lang="en-AU" sz="4000" dirty="0"/>
              <a:t>Forms in CSS</a:t>
            </a:r>
          </a:p>
          <a:p>
            <a:r>
              <a:rPr lang="en-AU" sz="4000" dirty="0"/>
              <a:t>Website Layout using CSS</a:t>
            </a:r>
          </a:p>
        </p:txBody>
      </p:sp>
    </p:spTree>
    <p:extLst>
      <p:ext uri="{BB962C8B-B14F-4D97-AF65-F5344CB8AC3E}">
        <p14:creationId xmlns:p14="http://schemas.microsoft.com/office/powerpoint/2010/main" val="38620025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78B19-E41A-4F79-9FDE-7F2EF0852097}"/>
              </a:ext>
            </a:extLst>
          </p:cNvPr>
          <p:cNvSpPr>
            <a:spLocks noGrp="1"/>
          </p:cNvSpPr>
          <p:nvPr>
            <p:ph type="title"/>
          </p:nvPr>
        </p:nvSpPr>
        <p:spPr>
          <a:xfrm>
            <a:off x="536448" y="246253"/>
            <a:ext cx="10515600" cy="558419"/>
          </a:xfrm>
        </p:spPr>
        <p:txBody>
          <a:bodyPr>
            <a:noAutofit/>
          </a:bodyPr>
          <a:lstStyle/>
          <a:p>
            <a:r>
              <a:rPr lang="en-AU" sz="4000" dirty="0">
                <a:solidFill>
                  <a:schemeClr val="accent2">
                    <a:lumMod val="50000"/>
                  </a:schemeClr>
                </a:solidFill>
              </a:rPr>
              <a:t>CSS Pseudo-classes</a:t>
            </a:r>
          </a:p>
        </p:txBody>
      </p:sp>
      <p:sp>
        <p:nvSpPr>
          <p:cNvPr id="3" name="Content Placeholder 2">
            <a:extLst>
              <a:ext uri="{FF2B5EF4-FFF2-40B4-BE49-F238E27FC236}">
                <a16:creationId xmlns:a16="http://schemas.microsoft.com/office/drawing/2014/main" id="{E89400C7-DDC8-492D-B02B-2B6697374F95}"/>
              </a:ext>
            </a:extLst>
          </p:cNvPr>
          <p:cNvSpPr>
            <a:spLocks noGrp="1"/>
          </p:cNvSpPr>
          <p:nvPr>
            <p:ph idx="1"/>
          </p:nvPr>
        </p:nvSpPr>
        <p:spPr>
          <a:xfrm>
            <a:off x="399288" y="903514"/>
            <a:ext cx="11564112" cy="4562522"/>
          </a:xfrm>
        </p:spPr>
        <p:txBody>
          <a:bodyPr>
            <a:normAutofit fontScale="92500" lnSpcReduction="10000"/>
          </a:bodyPr>
          <a:lstStyle/>
          <a:p>
            <a:r>
              <a:rPr lang="en-US" sz="3200" b="0" i="0" dirty="0">
                <a:solidFill>
                  <a:srgbClr val="000000"/>
                </a:solidFill>
                <a:effectLst/>
              </a:rPr>
              <a:t>A pseudo-class is used to define a special state of an element.</a:t>
            </a:r>
          </a:p>
          <a:p>
            <a:pPr algn="l"/>
            <a:r>
              <a:rPr lang="en-US" sz="3200" b="0" i="0" dirty="0">
                <a:solidFill>
                  <a:srgbClr val="000000"/>
                </a:solidFill>
                <a:effectLst/>
              </a:rPr>
              <a:t>For example, it can be used to:</a:t>
            </a:r>
          </a:p>
          <a:p>
            <a:pPr lvl="1"/>
            <a:r>
              <a:rPr lang="en-US" sz="3200" b="0" i="0" dirty="0">
                <a:solidFill>
                  <a:srgbClr val="000000"/>
                </a:solidFill>
                <a:effectLst/>
              </a:rPr>
              <a:t>Style an element when a user mouses over it</a:t>
            </a:r>
          </a:p>
          <a:p>
            <a:pPr lvl="1"/>
            <a:r>
              <a:rPr lang="en-US" sz="3200" b="0" i="0" dirty="0">
                <a:solidFill>
                  <a:srgbClr val="000000"/>
                </a:solidFill>
                <a:effectLst/>
              </a:rPr>
              <a:t>Style visited and unvisited links differently</a:t>
            </a:r>
          </a:p>
          <a:p>
            <a:pPr lvl="1"/>
            <a:r>
              <a:rPr lang="en-US" sz="3200" b="0" i="0" dirty="0">
                <a:solidFill>
                  <a:srgbClr val="000000"/>
                </a:solidFill>
                <a:effectLst/>
              </a:rPr>
              <a:t>Style an element when it gets focus</a:t>
            </a:r>
          </a:p>
          <a:p>
            <a:r>
              <a:rPr lang="en-AU" sz="3200" dirty="0">
                <a:solidFill>
                  <a:srgbClr val="000000"/>
                </a:solidFill>
              </a:rPr>
              <a:t>The syntax of pseudo-classes</a:t>
            </a:r>
          </a:p>
          <a:p>
            <a:pPr marL="0" indent="0">
              <a:buNone/>
            </a:pPr>
            <a:endParaRPr lang="en-AU" sz="3200" dirty="0">
              <a:solidFill>
                <a:srgbClr val="000000"/>
              </a:solidFill>
            </a:endParaRPr>
          </a:p>
          <a:p>
            <a:pPr marL="457200" lvl="1" indent="0">
              <a:buNone/>
            </a:pPr>
            <a:r>
              <a:rPr lang="en-AU" b="0" i="0" dirty="0" err="1">
                <a:solidFill>
                  <a:srgbClr val="A52A2A"/>
                </a:solidFill>
                <a:effectLst/>
                <a:latin typeface="Consolas" panose="020B0609020204030204" pitchFamily="49" charset="0"/>
              </a:rPr>
              <a:t>selector:pseudo-class</a:t>
            </a:r>
            <a:r>
              <a:rPr lang="en-AU" b="0" i="0" dirty="0">
                <a:solidFill>
                  <a:srgbClr val="A52A2A"/>
                </a:solidFill>
                <a:effectLst/>
                <a:latin typeface="Consolas" panose="020B0609020204030204" pitchFamily="49" charset="0"/>
              </a:rPr>
              <a:t> </a:t>
            </a:r>
          </a:p>
          <a:p>
            <a:pPr marL="457200" lvl="1" indent="0">
              <a:buNone/>
            </a:pPr>
            <a:r>
              <a:rPr lang="en-AU" b="0" i="0" dirty="0">
                <a:solidFill>
                  <a:srgbClr val="000000"/>
                </a:solidFill>
                <a:effectLst/>
                <a:latin typeface="Consolas" panose="020B0609020204030204" pitchFamily="49" charset="0"/>
              </a:rPr>
              <a:t>{</a:t>
            </a:r>
            <a:br>
              <a:rPr lang="en-AU" b="0" i="0" dirty="0">
                <a:solidFill>
                  <a:srgbClr val="FF0000"/>
                </a:solidFill>
                <a:effectLst/>
                <a:latin typeface="Consolas" panose="020B0609020204030204" pitchFamily="49" charset="0"/>
              </a:rPr>
            </a:br>
            <a:r>
              <a:rPr lang="en-AU" b="0" i="0" dirty="0">
                <a:solidFill>
                  <a:srgbClr val="FF0000"/>
                </a:solidFill>
                <a:effectLst/>
                <a:latin typeface="Consolas" panose="020B0609020204030204" pitchFamily="49" charset="0"/>
              </a:rPr>
              <a:t>  property</a:t>
            </a:r>
            <a:r>
              <a:rPr lang="en-AU" b="0" i="0" dirty="0">
                <a:solidFill>
                  <a:srgbClr val="000000"/>
                </a:solidFill>
                <a:effectLst/>
                <a:latin typeface="Consolas" panose="020B0609020204030204" pitchFamily="49" charset="0"/>
              </a:rPr>
              <a:t>:</a:t>
            </a:r>
            <a:r>
              <a:rPr lang="en-AU" b="0" i="0" dirty="0">
                <a:solidFill>
                  <a:srgbClr val="0000CD"/>
                </a:solidFill>
                <a:effectLst/>
                <a:latin typeface="Consolas" panose="020B0609020204030204" pitchFamily="49" charset="0"/>
              </a:rPr>
              <a:t> value</a:t>
            </a:r>
            <a:r>
              <a:rPr lang="en-AU" b="0" i="0" dirty="0">
                <a:solidFill>
                  <a:srgbClr val="000000"/>
                </a:solidFill>
                <a:effectLst/>
                <a:latin typeface="Consolas" panose="020B0609020204030204" pitchFamily="49" charset="0"/>
              </a:rPr>
              <a:t>;</a:t>
            </a:r>
            <a:br>
              <a:rPr lang="en-AU" b="0" i="0" dirty="0">
                <a:solidFill>
                  <a:srgbClr val="FF0000"/>
                </a:solidFill>
                <a:effectLst/>
                <a:latin typeface="Consolas" panose="020B0609020204030204" pitchFamily="49" charset="0"/>
              </a:rPr>
            </a:br>
            <a:r>
              <a:rPr lang="en-AU" b="0" i="0" dirty="0">
                <a:solidFill>
                  <a:srgbClr val="000000"/>
                </a:solidFill>
                <a:effectLst/>
                <a:latin typeface="Consolas" panose="020B0609020204030204" pitchFamily="49" charset="0"/>
              </a:rPr>
              <a:t>}</a:t>
            </a:r>
            <a:endParaRPr lang="en-AU" dirty="0">
              <a:solidFill>
                <a:srgbClr val="000000"/>
              </a:solidFill>
            </a:endParaRPr>
          </a:p>
        </p:txBody>
      </p:sp>
      <p:sp>
        <p:nvSpPr>
          <p:cNvPr id="5" name="TextBox 4">
            <a:extLst>
              <a:ext uri="{FF2B5EF4-FFF2-40B4-BE49-F238E27FC236}">
                <a16:creationId xmlns:a16="http://schemas.microsoft.com/office/drawing/2014/main" id="{E7F1E6E3-A67B-484C-A895-900B40D6EB52}"/>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10754081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78B19-E41A-4F79-9FDE-7F2EF0852097}"/>
              </a:ext>
            </a:extLst>
          </p:cNvPr>
          <p:cNvSpPr>
            <a:spLocks noGrp="1"/>
          </p:cNvSpPr>
          <p:nvPr>
            <p:ph type="title"/>
          </p:nvPr>
        </p:nvSpPr>
        <p:spPr>
          <a:xfrm>
            <a:off x="399288" y="69873"/>
            <a:ext cx="10515600" cy="558419"/>
          </a:xfrm>
        </p:spPr>
        <p:txBody>
          <a:bodyPr>
            <a:noAutofit/>
          </a:bodyPr>
          <a:lstStyle/>
          <a:p>
            <a:br>
              <a:rPr lang="en-AU" sz="4000" dirty="0">
                <a:solidFill>
                  <a:schemeClr val="accent2">
                    <a:lumMod val="50000"/>
                  </a:schemeClr>
                </a:solidFill>
              </a:rPr>
            </a:br>
            <a:r>
              <a:rPr lang="en-AU" sz="4000" dirty="0">
                <a:solidFill>
                  <a:schemeClr val="accent2">
                    <a:lumMod val="50000"/>
                  </a:schemeClr>
                </a:solidFill>
              </a:rPr>
              <a:t>Anchor Pseudo-classes</a:t>
            </a:r>
            <a:br>
              <a:rPr lang="en-AU" sz="4000" dirty="0">
                <a:solidFill>
                  <a:schemeClr val="accent2">
                    <a:lumMod val="50000"/>
                  </a:schemeClr>
                </a:solidFill>
              </a:rPr>
            </a:br>
            <a:endParaRPr lang="en-AU" sz="4000" dirty="0">
              <a:solidFill>
                <a:schemeClr val="accent2">
                  <a:lumMod val="50000"/>
                </a:schemeClr>
              </a:solidFill>
            </a:endParaRPr>
          </a:p>
        </p:txBody>
      </p:sp>
      <p:sp>
        <p:nvSpPr>
          <p:cNvPr id="3" name="Content Placeholder 2">
            <a:extLst>
              <a:ext uri="{FF2B5EF4-FFF2-40B4-BE49-F238E27FC236}">
                <a16:creationId xmlns:a16="http://schemas.microsoft.com/office/drawing/2014/main" id="{E89400C7-DDC8-492D-B02B-2B6697374F95}"/>
              </a:ext>
            </a:extLst>
          </p:cNvPr>
          <p:cNvSpPr>
            <a:spLocks noGrp="1"/>
          </p:cNvSpPr>
          <p:nvPr>
            <p:ph idx="1"/>
          </p:nvPr>
        </p:nvSpPr>
        <p:spPr>
          <a:xfrm>
            <a:off x="399288" y="646984"/>
            <a:ext cx="4397564" cy="5064074"/>
          </a:xfrm>
        </p:spPr>
        <p:txBody>
          <a:bodyPr>
            <a:noAutofit/>
          </a:bodyPr>
          <a:lstStyle/>
          <a:p>
            <a:pPr marL="0" indent="0">
              <a:buNone/>
            </a:pPr>
            <a:r>
              <a:rPr lang="en-US" sz="1600" dirty="0">
                <a:solidFill>
                  <a:srgbClr val="000000"/>
                </a:solidFill>
              </a:rPr>
              <a:t>&lt;!DOCTYPE html&gt;</a:t>
            </a:r>
          </a:p>
          <a:p>
            <a:pPr marL="0" indent="0">
              <a:buNone/>
            </a:pPr>
            <a:r>
              <a:rPr lang="en-US" sz="1600" dirty="0">
                <a:solidFill>
                  <a:srgbClr val="000000"/>
                </a:solidFill>
              </a:rPr>
              <a:t>&lt;html&gt;</a:t>
            </a:r>
          </a:p>
          <a:p>
            <a:pPr marL="0" indent="0">
              <a:buNone/>
            </a:pPr>
            <a:r>
              <a:rPr lang="en-US" sz="1600" dirty="0">
                <a:solidFill>
                  <a:srgbClr val="000000"/>
                </a:solidFill>
              </a:rPr>
              <a:t>&lt;head&gt;</a:t>
            </a:r>
          </a:p>
          <a:p>
            <a:pPr marL="0" indent="0">
              <a:buNone/>
            </a:pPr>
            <a:r>
              <a:rPr lang="en-US" sz="1600" dirty="0">
                <a:solidFill>
                  <a:srgbClr val="000000"/>
                </a:solidFill>
              </a:rPr>
              <a:t>&lt;style&gt;</a:t>
            </a:r>
          </a:p>
          <a:p>
            <a:pPr marL="0" indent="0">
              <a:buNone/>
            </a:pPr>
            <a:r>
              <a:rPr lang="en-US" sz="1600" dirty="0">
                <a:solidFill>
                  <a:srgbClr val="FF0000"/>
                </a:solidFill>
              </a:rPr>
              <a:t>/* unvisited link */ commented section </a:t>
            </a:r>
          </a:p>
          <a:p>
            <a:pPr marL="0" indent="0">
              <a:buNone/>
            </a:pPr>
            <a:r>
              <a:rPr lang="en-US" sz="1600" dirty="0">
                <a:solidFill>
                  <a:srgbClr val="000000"/>
                </a:solidFill>
              </a:rPr>
              <a:t>a:link {</a:t>
            </a:r>
          </a:p>
          <a:p>
            <a:pPr marL="0" indent="0">
              <a:buNone/>
            </a:pPr>
            <a:r>
              <a:rPr lang="en-US" sz="1600" dirty="0">
                <a:solidFill>
                  <a:srgbClr val="000000"/>
                </a:solidFill>
              </a:rPr>
              <a:t>  color: red;</a:t>
            </a:r>
          </a:p>
          <a:p>
            <a:pPr marL="0" indent="0">
              <a:buNone/>
            </a:pPr>
            <a:r>
              <a:rPr lang="en-US" sz="1600" dirty="0">
                <a:solidFill>
                  <a:srgbClr val="000000"/>
                </a:solidFill>
              </a:rPr>
              <a:t>}</a:t>
            </a:r>
          </a:p>
          <a:p>
            <a:pPr marL="0" indent="0">
              <a:buNone/>
            </a:pPr>
            <a:r>
              <a:rPr lang="en-US" sz="1600" dirty="0">
                <a:solidFill>
                  <a:srgbClr val="FF0000"/>
                </a:solidFill>
              </a:rPr>
              <a:t>/* visited link */ commented section </a:t>
            </a:r>
          </a:p>
          <a:p>
            <a:pPr marL="0" indent="0">
              <a:buNone/>
            </a:pPr>
            <a:r>
              <a:rPr lang="en-US" sz="1600" dirty="0">
                <a:solidFill>
                  <a:srgbClr val="000000"/>
                </a:solidFill>
              </a:rPr>
              <a:t>a:visited {</a:t>
            </a:r>
          </a:p>
          <a:p>
            <a:pPr marL="0" indent="0">
              <a:buNone/>
            </a:pPr>
            <a:r>
              <a:rPr lang="en-US" sz="1600" dirty="0">
                <a:solidFill>
                  <a:srgbClr val="000000"/>
                </a:solidFill>
              </a:rPr>
              <a:t>  color: green;</a:t>
            </a:r>
          </a:p>
          <a:p>
            <a:pPr marL="0" indent="0">
              <a:buNone/>
            </a:pPr>
            <a:r>
              <a:rPr lang="en-US" sz="1600" dirty="0">
                <a:solidFill>
                  <a:srgbClr val="000000"/>
                </a:solidFill>
              </a:rPr>
              <a:t>}</a:t>
            </a:r>
          </a:p>
          <a:p>
            <a:pPr marL="0" indent="0">
              <a:buNone/>
            </a:pPr>
            <a:r>
              <a:rPr lang="en-US" sz="1600" dirty="0">
                <a:solidFill>
                  <a:srgbClr val="FF0000"/>
                </a:solidFill>
              </a:rPr>
              <a:t>/* mouse over link */ commented section </a:t>
            </a:r>
          </a:p>
          <a:p>
            <a:pPr marL="0" indent="0">
              <a:buNone/>
            </a:pPr>
            <a:r>
              <a:rPr lang="en-US" sz="1600" dirty="0">
                <a:solidFill>
                  <a:srgbClr val="000000"/>
                </a:solidFill>
              </a:rPr>
              <a:t>a:hover {</a:t>
            </a:r>
          </a:p>
          <a:p>
            <a:pPr marL="0" indent="0">
              <a:buNone/>
            </a:pPr>
            <a:r>
              <a:rPr lang="en-US" sz="1600" dirty="0">
                <a:solidFill>
                  <a:srgbClr val="000000"/>
                </a:solidFill>
              </a:rPr>
              <a:t>  color: </a:t>
            </a:r>
            <a:r>
              <a:rPr lang="en-US" sz="1600" dirty="0" err="1">
                <a:solidFill>
                  <a:srgbClr val="000000"/>
                </a:solidFill>
              </a:rPr>
              <a:t>hotpink</a:t>
            </a:r>
            <a:r>
              <a:rPr lang="en-US" sz="1600" dirty="0">
                <a:solidFill>
                  <a:srgbClr val="000000"/>
                </a:solidFill>
              </a:rPr>
              <a:t>; }</a:t>
            </a:r>
          </a:p>
          <a:p>
            <a:pPr marL="0" indent="0">
              <a:buNone/>
            </a:pPr>
            <a:endParaRPr lang="en-US" sz="1600" dirty="0">
              <a:solidFill>
                <a:srgbClr val="000000"/>
              </a:solidFill>
            </a:endParaRPr>
          </a:p>
          <a:p>
            <a:pPr marL="0" indent="0">
              <a:buNone/>
            </a:pPr>
            <a:endParaRPr lang="en-AU" sz="1600" dirty="0">
              <a:solidFill>
                <a:srgbClr val="000000"/>
              </a:solidFill>
            </a:endParaRPr>
          </a:p>
        </p:txBody>
      </p:sp>
      <p:sp>
        <p:nvSpPr>
          <p:cNvPr id="5" name="TextBox 4">
            <a:extLst>
              <a:ext uri="{FF2B5EF4-FFF2-40B4-BE49-F238E27FC236}">
                <a16:creationId xmlns:a16="http://schemas.microsoft.com/office/drawing/2014/main" id="{E7F1E6E3-A67B-484C-A895-900B40D6EB52}"/>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
        <p:nvSpPr>
          <p:cNvPr id="6" name="TextBox 5">
            <a:extLst>
              <a:ext uri="{FF2B5EF4-FFF2-40B4-BE49-F238E27FC236}">
                <a16:creationId xmlns:a16="http://schemas.microsoft.com/office/drawing/2014/main" id="{64046004-7E8D-400D-AA5C-A50BDB767759}"/>
              </a:ext>
            </a:extLst>
          </p:cNvPr>
          <p:cNvSpPr txBox="1"/>
          <p:nvPr/>
        </p:nvSpPr>
        <p:spPr>
          <a:xfrm>
            <a:off x="5216434" y="1012372"/>
            <a:ext cx="6096000" cy="4031873"/>
          </a:xfrm>
          <a:prstGeom prst="rect">
            <a:avLst/>
          </a:prstGeom>
          <a:noFill/>
        </p:spPr>
        <p:txBody>
          <a:bodyPr wrap="square">
            <a:spAutoFit/>
          </a:bodyPr>
          <a:lstStyle/>
          <a:p>
            <a:pPr marL="0" indent="0">
              <a:buNone/>
            </a:pPr>
            <a:r>
              <a:rPr lang="en-US" sz="1600" dirty="0">
                <a:solidFill>
                  <a:srgbClr val="FF0000"/>
                </a:solidFill>
              </a:rPr>
              <a:t>/* selected link */ commented section </a:t>
            </a:r>
          </a:p>
          <a:p>
            <a:pPr marL="0" indent="0">
              <a:buNone/>
            </a:pPr>
            <a:r>
              <a:rPr lang="en-US" sz="1600" dirty="0">
                <a:solidFill>
                  <a:srgbClr val="000000"/>
                </a:solidFill>
              </a:rPr>
              <a:t>a:active {</a:t>
            </a:r>
          </a:p>
          <a:p>
            <a:pPr marL="0" indent="0">
              <a:buNone/>
            </a:pPr>
            <a:r>
              <a:rPr lang="en-US" sz="1600" dirty="0">
                <a:solidFill>
                  <a:srgbClr val="000000"/>
                </a:solidFill>
              </a:rPr>
              <a:t>  color: blue;</a:t>
            </a:r>
          </a:p>
          <a:p>
            <a:pPr marL="0" indent="0">
              <a:buNone/>
            </a:pPr>
            <a:r>
              <a:rPr lang="en-US" sz="1600" dirty="0">
                <a:solidFill>
                  <a:srgbClr val="000000"/>
                </a:solidFill>
              </a:rPr>
              <a:t>}</a:t>
            </a:r>
          </a:p>
          <a:p>
            <a:pPr marL="0" indent="0">
              <a:buNone/>
            </a:pPr>
            <a:r>
              <a:rPr lang="en-US" sz="1600" dirty="0">
                <a:solidFill>
                  <a:srgbClr val="000000"/>
                </a:solidFill>
              </a:rPr>
              <a:t>&lt;/style&gt;</a:t>
            </a:r>
          </a:p>
          <a:p>
            <a:pPr marL="0" indent="0">
              <a:buNone/>
            </a:pPr>
            <a:r>
              <a:rPr lang="en-US" sz="1600" dirty="0">
                <a:solidFill>
                  <a:srgbClr val="000000"/>
                </a:solidFill>
              </a:rPr>
              <a:t>&lt;/head&gt;</a:t>
            </a:r>
          </a:p>
          <a:p>
            <a:pPr marL="0" indent="0">
              <a:buNone/>
            </a:pPr>
            <a:r>
              <a:rPr lang="en-US" sz="1600" dirty="0">
                <a:solidFill>
                  <a:srgbClr val="000000"/>
                </a:solidFill>
              </a:rPr>
              <a:t>&lt;body&gt;</a:t>
            </a:r>
          </a:p>
          <a:p>
            <a:pPr marL="0" indent="0">
              <a:buNone/>
            </a:pPr>
            <a:r>
              <a:rPr lang="en-US" sz="1600" dirty="0">
                <a:solidFill>
                  <a:srgbClr val="000000"/>
                </a:solidFill>
              </a:rPr>
              <a:t>&lt;h2&gt;CSS Links&lt;/h2&gt;</a:t>
            </a:r>
          </a:p>
          <a:p>
            <a:pPr marL="0" indent="0">
              <a:buNone/>
            </a:pPr>
            <a:r>
              <a:rPr lang="en-US" sz="1600" dirty="0">
                <a:solidFill>
                  <a:srgbClr val="000000"/>
                </a:solidFill>
              </a:rPr>
              <a:t>&lt;p&gt;&lt;b&gt;&lt;a </a:t>
            </a:r>
            <a:r>
              <a:rPr lang="en-US" sz="1600" dirty="0" err="1">
                <a:solidFill>
                  <a:srgbClr val="000000"/>
                </a:solidFill>
              </a:rPr>
              <a:t>href</a:t>
            </a:r>
            <a:r>
              <a:rPr lang="en-US" sz="1600" dirty="0">
                <a:solidFill>
                  <a:srgbClr val="000000"/>
                </a:solidFill>
              </a:rPr>
              <a:t>="http://www.sistc.nsw.edu.au" target="_blank"&gt;This is a link&lt;/a&gt;&lt;/b&gt;&lt;/p&gt;</a:t>
            </a:r>
          </a:p>
          <a:p>
            <a:pPr marL="0" indent="0">
              <a:buNone/>
            </a:pPr>
            <a:r>
              <a:rPr lang="en-US" sz="1600" dirty="0">
                <a:solidFill>
                  <a:srgbClr val="000000"/>
                </a:solidFill>
              </a:rPr>
              <a:t>&lt;p&gt;&lt;b&gt;Note:&lt;/b&gt; a:hover MUST come after a:link and a:visited in the CSS definition in order to be effective.&lt;/p&gt;</a:t>
            </a:r>
          </a:p>
          <a:p>
            <a:pPr marL="0" indent="0">
              <a:buNone/>
            </a:pPr>
            <a:r>
              <a:rPr lang="en-US" sz="1600" dirty="0">
                <a:solidFill>
                  <a:srgbClr val="000000"/>
                </a:solidFill>
              </a:rPr>
              <a:t>&lt;p&gt;&lt;b&gt;Note:&lt;/b&gt; a:active MUST come after a:hover in the CSS definition in order to be effective.&lt;/p&gt;</a:t>
            </a:r>
          </a:p>
          <a:p>
            <a:pPr marL="0" indent="0">
              <a:buNone/>
            </a:pPr>
            <a:r>
              <a:rPr lang="en-US" sz="1600" dirty="0">
                <a:solidFill>
                  <a:srgbClr val="000000"/>
                </a:solidFill>
              </a:rPr>
              <a:t>&lt;/body&gt;</a:t>
            </a:r>
          </a:p>
          <a:p>
            <a:pPr marL="0" indent="0">
              <a:buNone/>
            </a:pPr>
            <a:r>
              <a:rPr lang="en-US" sz="1600" dirty="0">
                <a:solidFill>
                  <a:srgbClr val="000000"/>
                </a:solidFill>
              </a:rPr>
              <a:t>&lt;/html&gt;</a:t>
            </a:r>
          </a:p>
        </p:txBody>
      </p:sp>
    </p:spTree>
    <p:extLst>
      <p:ext uri="{BB962C8B-B14F-4D97-AF65-F5344CB8AC3E}">
        <p14:creationId xmlns:p14="http://schemas.microsoft.com/office/powerpoint/2010/main" val="21164525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55246-D7A8-423B-8DD3-6FF79BCE9CBA}"/>
              </a:ext>
            </a:extLst>
          </p:cNvPr>
          <p:cNvSpPr>
            <a:spLocks noGrp="1"/>
          </p:cNvSpPr>
          <p:nvPr>
            <p:ph type="title"/>
          </p:nvPr>
        </p:nvSpPr>
        <p:spPr>
          <a:xfrm>
            <a:off x="544285" y="158296"/>
            <a:ext cx="10515600" cy="560161"/>
          </a:xfrm>
        </p:spPr>
        <p:txBody>
          <a:bodyPr>
            <a:normAutofit fontScale="90000"/>
          </a:bodyPr>
          <a:lstStyle/>
          <a:p>
            <a:br>
              <a:rPr lang="en-AU" sz="4000" dirty="0">
                <a:solidFill>
                  <a:schemeClr val="accent2">
                    <a:lumMod val="50000"/>
                  </a:schemeClr>
                </a:solidFill>
              </a:rPr>
            </a:br>
            <a:r>
              <a:rPr lang="en-AU" sz="4000" dirty="0">
                <a:solidFill>
                  <a:schemeClr val="accent2">
                    <a:lumMod val="50000"/>
                  </a:schemeClr>
                </a:solidFill>
              </a:rPr>
              <a:t>Hover on &lt;div&gt;</a:t>
            </a:r>
            <a:br>
              <a:rPr lang="en-AU" sz="4000" dirty="0">
                <a:solidFill>
                  <a:schemeClr val="accent2">
                    <a:lumMod val="50000"/>
                  </a:schemeClr>
                </a:solidFill>
              </a:rPr>
            </a:br>
            <a:endParaRPr lang="en-AU" sz="4000" dirty="0">
              <a:solidFill>
                <a:schemeClr val="accent2">
                  <a:lumMod val="50000"/>
                </a:schemeClr>
              </a:solidFill>
            </a:endParaRPr>
          </a:p>
        </p:txBody>
      </p:sp>
      <p:sp>
        <p:nvSpPr>
          <p:cNvPr id="3" name="Content Placeholder 2">
            <a:extLst>
              <a:ext uri="{FF2B5EF4-FFF2-40B4-BE49-F238E27FC236}">
                <a16:creationId xmlns:a16="http://schemas.microsoft.com/office/drawing/2014/main" id="{04BE45F4-F964-4688-80C0-907D3A7A792C}"/>
              </a:ext>
            </a:extLst>
          </p:cNvPr>
          <p:cNvSpPr>
            <a:spLocks noGrp="1"/>
          </p:cNvSpPr>
          <p:nvPr>
            <p:ph idx="1"/>
          </p:nvPr>
        </p:nvSpPr>
        <p:spPr>
          <a:xfrm>
            <a:off x="765543" y="718457"/>
            <a:ext cx="2619913" cy="4909457"/>
          </a:xfrm>
        </p:spPr>
        <p:txBody>
          <a:bodyPr>
            <a:noAutofit/>
          </a:bodyPr>
          <a:lstStyle/>
          <a:p>
            <a:pPr marL="0" indent="0">
              <a:buNone/>
            </a:pPr>
            <a:r>
              <a:rPr lang="en-AU" sz="1200" dirty="0"/>
              <a:t>&lt;!DOCTYPE html&gt;</a:t>
            </a:r>
          </a:p>
          <a:p>
            <a:pPr marL="0" indent="0">
              <a:buNone/>
            </a:pPr>
            <a:r>
              <a:rPr lang="en-AU" sz="1200" dirty="0"/>
              <a:t>&lt;html&gt;</a:t>
            </a:r>
          </a:p>
          <a:p>
            <a:pPr marL="0" indent="0">
              <a:buNone/>
            </a:pPr>
            <a:r>
              <a:rPr lang="en-AU" sz="1200" dirty="0"/>
              <a:t>&lt;head&gt;</a:t>
            </a:r>
          </a:p>
          <a:p>
            <a:pPr marL="0" indent="0">
              <a:buNone/>
            </a:pPr>
            <a:r>
              <a:rPr lang="en-AU" sz="1200" dirty="0"/>
              <a:t>&lt;style&gt;</a:t>
            </a:r>
          </a:p>
          <a:p>
            <a:pPr marL="0" indent="0">
              <a:buNone/>
            </a:pPr>
            <a:r>
              <a:rPr lang="en-AU" sz="1200" dirty="0"/>
              <a:t>div {</a:t>
            </a:r>
          </a:p>
          <a:p>
            <a:pPr marL="0" indent="0">
              <a:buNone/>
            </a:pPr>
            <a:r>
              <a:rPr lang="en-AU" sz="1200" dirty="0"/>
              <a:t>  background-</a:t>
            </a:r>
            <a:r>
              <a:rPr lang="en-AU" sz="1200" dirty="0" err="1"/>
              <a:t>color</a:t>
            </a:r>
            <a:r>
              <a:rPr lang="en-AU" sz="1200" dirty="0"/>
              <a:t>: green;</a:t>
            </a:r>
          </a:p>
          <a:p>
            <a:pPr marL="0" indent="0">
              <a:buNone/>
            </a:pPr>
            <a:r>
              <a:rPr lang="en-AU" sz="1200" dirty="0"/>
              <a:t>  </a:t>
            </a:r>
            <a:r>
              <a:rPr lang="en-AU" sz="1200" dirty="0" err="1"/>
              <a:t>color</a:t>
            </a:r>
            <a:r>
              <a:rPr lang="en-AU" sz="1200" dirty="0"/>
              <a:t>: white;</a:t>
            </a:r>
          </a:p>
          <a:p>
            <a:pPr marL="0" indent="0">
              <a:buNone/>
            </a:pPr>
            <a:r>
              <a:rPr lang="en-AU" sz="1200" dirty="0"/>
              <a:t>  padding: 25px;</a:t>
            </a:r>
          </a:p>
          <a:p>
            <a:pPr marL="0" indent="0">
              <a:buNone/>
            </a:pPr>
            <a:r>
              <a:rPr lang="en-AU" sz="1200" dirty="0"/>
              <a:t>  text-align: </a:t>
            </a:r>
            <a:r>
              <a:rPr lang="en-AU" sz="1200" dirty="0" err="1"/>
              <a:t>center</a:t>
            </a:r>
            <a:r>
              <a:rPr lang="en-AU" sz="1200" dirty="0"/>
              <a:t>;</a:t>
            </a:r>
          </a:p>
          <a:p>
            <a:pPr marL="0" indent="0">
              <a:buNone/>
            </a:pPr>
            <a:r>
              <a:rPr lang="en-AU" sz="1200" dirty="0"/>
              <a:t>}</a:t>
            </a:r>
          </a:p>
          <a:p>
            <a:pPr marL="0" indent="0">
              <a:buNone/>
            </a:pPr>
            <a:r>
              <a:rPr lang="en-AU" sz="1200" dirty="0" err="1">
                <a:solidFill>
                  <a:srgbClr val="FF0000"/>
                </a:solidFill>
              </a:rPr>
              <a:t>div:hover</a:t>
            </a:r>
            <a:r>
              <a:rPr lang="en-AU" sz="1200" dirty="0">
                <a:solidFill>
                  <a:srgbClr val="FF0000"/>
                </a:solidFill>
              </a:rPr>
              <a:t> </a:t>
            </a:r>
            <a:r>
              <a:rPr lang="en-AU" sz="1200" dirty="0"/>
              <a:t>{</a:t>
            </a:r>
          </a:p>
          <a:p>
            <a:pPr marL="0" indent="0">
              <a:buNone/>
            </a:pPr>
            <a:r>
              <a:rPr lang="en-AU" sz="1200" dirty="0"/>
              <a:t>  background-</a:t>
            </a:r>
            <a:r>
              <a:rPr lang="en-AU" sz="1200" dirty="0" err="1"/>
              <a:t>color</a:t>
            </a:r>
            <a:r>
              <a:rPr lang="en-AU" sz="1200" dirty="0"/>
              <a:t>: blue;</a:t>
            </a:r>
          </a:p>
          <a:p>
            <a:pPr marL="0" indent="0">
              <a:buNone/>
            </a:pPr>
            <a:r>
              <a:rPr lang="en-AU" sz="1200" dirty="0"/>
              <a:t>}</a:t>
            </a:r>
          </a:p>
          <a:p>
            <a:pPr marL="0" indent="0">
              <a:buNone/>
            </a:pPr>
            <a:r>
              <a:rPr lang="en-AU" sz="1200" dirty="0"/>
              <a:t>&lt;/style&gt;</a:t>
            </a:r>
          </a:p>
          <a:p>
            <a:pPr marL="0" indent="0">
              <a:buNone/>
            </a:pPr>
            <a:r>
              <a:rPr lang="en-AU" sz="1200" dirty="0"/>
              <a:t>&lt;/head&gt;</a:t>
            </a:r>
          </a:p>
          <a:p>
            <a:pPr marL="0" indent="0">
              <a:buNone/>
            </a:pPr>
            <a:r>
              <a:rPr lang="en-AU" sz="1200" dirty="0"/>
              <a:t>&lt;body&gt;</a:t>
            </a:r>
          </a:p>
          <a:p>
            <a:pPr marL="0" indent="0">
              <a:buNone/>
            </a:pPr>
            <a:endParaRPr lang="en-AU" sz="1200" dirty="0"/>
          </a:p>
          <a:p>
            <a:pPr marL="0" indent="0">
              <a:buNone/>
            </a:pPr>
            <a:endParaRPr lang="en-AU" sz="1200" dirty="0"/>
          </a:p>
        </p:txBody>
      </p:sp>
      <p:sp>
        <p:nvSpPr>
          <p:cNvPr id="5" name="TextBox 4">
            <a:extLst>
              <a:ext uri="{FF2B5EF4-FFF2-40B4-BE49-F238E27FC236}">
                <a16:creationId xmlns:a16="http://schemas.microsoft.com/office/drawing/2014/main" id="{E6EC9FBE-CD0F-47AB-A7AF-FC268755575E}"/>
              </a:ext>
            </a:extLst>
          </p:cNvPr>
          <p:cNvSpPr txBox="1"/>
          <p:nvPr/>
        </p:nvSpPr>
        <p:spPr>
          <a:xfrm>
            <a:off x="4898572" y="1673110"/>
            <a:ext cx="5257800" cy="2031325"/>
          </a:xfrm>
          <a:prstGeom prst="rect">
            <a:avLst/>
          </a:prstGeom>
          <a:noFill/>
        </p:spPr>
        <p:txBody>
          <a:bodyPr wrap="square">
            <a:spAutoFit/>
          </a:bodyPr>
          <a:lstStyle/>
          <a:p>
            <a:pPr marL="0" indent="0">
              <a:buNone/>
            </a:pPr>
            <a:r>
              <a:rPr lang="en-AU" sz="1800" dirty="0"/>
              <a:t>&lt;p&gt;Mouse over the div element below to change its background </a:t>
            </a:r>
            <a:r>
              <a:rPr lang="en-AU" sz="1800" dirty="0" err="1"/>
              <a:t>color</a:t>
            </a:r>
            <a:r>
              <a:rPr lang="en-AU" sz="1800" dirty="0"/>
              <a:t>:&lt;/p&gt;</a:t>
            </a:r>
          </a:p>
          <a:p>
            <a:pPr marL="0" indent="0">
              <a:buNone/>
            </a:pPr>
            <a:endParaRPr lang="en-AU" sz="1800" dirty="0"/>
          </a:p>
          <a:p>
            <a:pPr marL="0" indent="0">
              <a:buNone/>
            </a:pPr>
            <a:r>
              <a:rPr lang="en-AU" sz="1800" dirty="0"/>
              <a:t>&lt;div&gt;Mouse Over Me&lt;/div&gt;</a:t>
            </a:r>
          </a:p>
          <a:p>
            <a:pPr marL="0" indent="0">
              <a:buNone/>
            </a:pPr>
            <a:endParaRPr lang="en-AU" sz="1800" dirty="0"/>
          </a:p>
          <a:p>
            <a:pPr marL="0" indent="0">
              <a:buNone/>
            </a:pPr>
            <a:r>
              <a:rPr lang="en-AU" sz="1800" dirty="0"/>
              <a:t>&lt;/body&gt;</a:t>
            </a:r>
          </a:p>
          <a:p>
            <a:pPr marL="0" indent="0">
              <a:buNone/>
            </a:pPr>
            <a:r>
              <a:rPr lang="en-AU" sz="1800" dirty="0"/>
              <a:t>&lt;/html&gt;</a:t>
            </a:r>
          </a:p>
        </p:txBody>
      </p:sp>
      <p:sp>
        <p:nvSpPr>
          <p:cNvPr id="6" name="TextBox 5">
            <a:extLst>
              <a:ext uri="{FF2B5EF4-FFF2-40B4-BE49-F238E27FC236}">
                <a16:creationId xmlns:a16="http://schemas.microsoft.com/office/drawing/2014/main" id="{DB57B76D-7173-4456-8C18-80DD507C5DE9}"/>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2252074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55246-D7A8-423B-8DD3-6FF79BCE9CBA}"/>
              </a:ext>
            </a:extLst>
          </p:cNvPr>
          <p:cNvSpPr>
            <a:spLocks noGrp="1"/>
          </p:cNvSpPr>
          <p:nvPr>
            <p:ph type="title"/>
          </p:nvPr>
        </p:nvSpPr>
        <p:spPr>
          <a:xfrm>
            <a:off x="544285" y="158296"/>
            <a:ext cx="10515600" cy="560161"/>
          </a:xfrm>
        </p:spPr>
        <p:txBody>
          <a:bodyPr>
            <a:normAutofit fontScale="90000"/>
          </a:bodyPr>
          <a:lstStyle/>
          <a:p>
            <a:r>
              <a:rPr lang="en-AU" sz="4000" dirty="0">
                <a:solidFill>
                  <a:schemeClr val="accent2">
                    <a:lumMod val="50000"/>
                  </a:schemeClr>
                </a:solidFill>
              </a:rPr>
              <a:t>Hover on &lt;P&gt;</a:t>
            </a:r>
          </a:p>
        </p:txBody>
      </p:sp>
      <p:sp>
        <p:nvSpPr>
          <p:cNvPr id="3" name="Content Placeholder 2">
            <a:extLst>
              <a:ext uri="{FF2B5EF4-FFF2-40B4-BE49-F238E27FC236}">
                <a16:creationId xmlns:a16="http://schemas.microsoft.com/office/drawing/2014/main" id="{04BE45F4-F964-4688-80C0-907D3A7A792C}"/>
              </a:ext>
            </a:extLst>
          </p:cNvPr>
          <p:cNvSpPr>
            <a:spLocks noGrp="1"/>
          </p:cNvSpPr>
          <p:nvPr>
            <p:ph idx="1"/>
          </p:nvPr>
        </p:nvSpPr>
        <p:spPr>
          <a:xfrm>
            <a:off x="544285" y="889453"/>
            <a:ext cx="2841172" cy="4738461"/>
          </a:xfrm>
        </p:spPr>
        <p:txBody>
          <a:bodyPr>
            <a:noAutofit/>
          </a:bodyPr>
          <a:lstStyle/>
          <a:p>
            <a:pPr marL="0" indent="0">
              <a:buNone/>
            </a:pPr>
            <a:r>
              <a:rPr lang="en-AU" sz="1600" dirty="0"/>
              <a:t>&lt;!DOCTYPE html&gt;</a:t>
            </a:r>
          </a:p>
          <a:p>
            <a:pPr marL="0" indent="0">
              <a:buNone/>
            </a:pPr>
            <a:r>
              <a:rPr lang="en-AU" sz="1600" dirty="0"/>
              <a:t>&lt;html&gt;</a:t>
            </a:r>
          </a:p>
          <a:p>
            <a:pPr marL="0" indent="0">
              <a:buNone/>
            </a:pPr>
            <a:r>
              <a:rPr lang="en-AU" sz="1600" dirty="0"/>
              <a:t>&lt;head&gt;</a:t>
            </a:r>
          </a:p>
          <a:p>
            <a:pPr marL="0" indent="0">
              <a:buNone/>
            </a:pPr>
            <a:r>
              <a:rPr lang="en-AU" sz="1600" dirty="0"/>
              <a:t>&lt;style&gt;</a:t>
            </a:r>
          </a:p>
          <a:p>
            <a:pPr marL="0" indent="0">
              <a:buNone/>
            </a:pPr>
            <a:r>
              <a:rPr lang="en-AU" sz="1600" dirty="0"/>
              <a:t>p {</a:t>
            </a:r>
          </a:p>
          <a:p>
            <a:pPr marL="0" indent="0">
              <a:buNone/>
            </a:pPr>
            <a:r>
              <a:rPr lang="en-AU" sz="1600" dirty="0"/>
              <a:t>  </a:t>
            </a:r>
            <a:r>
              <a:rPr lang="en-AU" sz="1600" dirty="0">
                <a:solidFill>
                  <a:srgbClr val="FF0000"/>
                </a:solidFill>
              </a:rPr>
              <a:t>display: none</a:t>
            </a:r>
            <a:r>
              <a:rPr lang="en-AU" sz="1600" dirty="0"/>
              <a:t>;</a:t>
            </a:r>
          </a:p>
          <a:p>
            <a:pPr marL="0" indent="0">
              <a:buNone/>
            </a:pPr>
            <a:r>
              <a:rPr lang="en-AU" sz="1600" dirty="0"/>
              <a:t>  background-</a:t>
            </a:r>
            <a:r>
              <a:rPr lang="en-AU" sz="1600" dirty="0" err="1"/>
              <a:t>color</a:t>
            </a:r>
            <a:r>
              <a:rPr lang="en-AU" sz="1600" dirty="0"/>
              <a:t>: yellow;</a:t>
            </a:r>
          </a:p>
          <a:p>
            <a:pPr marL="0" indent="0">
              <a:buNone/>
            </a:pPr>
            <a:r>
              <a:rPr lang="en-AU" sz="1600" dirty="0"/>
              <a:t>  padding: 20px;</a:t>
            </a:r>
          </a:p>
          <a:p>
            <a:pPr marL="0" indent="0">
              <a:buNone/>
            </a:pPr>
            <a:r>
              <a:rPr lang="en-AU" sz="1600" dirty="0"/>
              <a:t> }</a:t>
            </a:r>
          </a:p>
          <a:p>
            <a:pPr marL="0" indent="0">
              <a:buNone/>
            </a:pPr>
            <a:r>
              <a:rPr lang="en-AU" sz="1600" dirty="0" err="1">
                <a:solidFill>
                  <a:srgbClr val="FF0000"/>
                </a:solidFill>
              </a:rPr>
              <a:t>div:hover</a:t>
            </a:r>
            <a:r>
              <a:rPr lang="en-AU" sz="1600" dirty="0">
                <a:solidFill>
                  <a:srgbClr val="FF0000"/>
                </a:solidFill>
              </a:rPr>
              <a:t> p </a:t>
            </a:r>
            <a:r>
              <a:rPr lang="en-AU" sz="1600" dirty="0"/>
              <a:t>{</a:t>
            </a:r>
          </a:p>
          <a:p>
            <a:pPr marL="0" indent="0">
              <a:buNone/>
            </a:pPr>
            <a:r>
              <a:rPr lang="en-AU" sz="1600" dirty="0"/>
              <a:t>  </a:t>
            </a:r>
            <a:r>
              <a:rPr lang="en-AU" sz="1600" dirty="0">
                <a:solidFill>
                  <a:srgbClr val="FF0000"/>
                </a:solidFill>
              </a:rPr>
              <a:t>display: block</a:t>
            </a:r>
            <a:r>
              <a:rPr lang="en-AU" sz="1600" dirty="0"/>
              <a:t>;</a:t>
            </a:r>
          </a:p>
          <a:p>
            <a:pPr marL="0" indent="0">
              <a:buNone/>
            </a:pPr>
            <a:r>
              <a:rPr lang="en-AU" sz="1600" dirty="0"/>
              <a:t>}</a:t>
            </a:r>
          </a:p>
          <a:p>
            <a:pPr marL="0" indent="0">
              <a:buNone/>
            </a:pPr>
            <a:r>
              <a:rPr lang="en-AU" sz="1600" dirty="0"/>
              <a:t>&lt;/style&gt;</a:t>
            </a:r>
          </a:p>
          <a:p>
            <a:pPr marL="0" indent="0">
              <a:buNone/>
            </a:pPr>
            <a:endParaRPr lang="en-AU" sz="1600" dirty="0"/>
          </a:p>
        </p:txBody>
      </p:sp>
      <p:sp>
        <p:nvSpPr>
          <p:cNvPr id="5" name="TextBox 4">
            <a:extLst>
              <a:ext uri="{FF2B5EF4-FFF2-40B4-BE49-F238E27FC236}">
                <a16:creationId xmlns:a16="http://schemas.microsoft.com/office/drawing/2014/main" id="{E6EC9FBE-CD0F-47AB-A7AF-FC268755575E}"/>
              </a:ext>
            </a:extLst>
          </p:cNvPr>
          <p:cNvSpPr txBox="1"/>
          <p:nvPr/>
        </p:nvSpPr>
        <p:spPr>
          <a:xfrm>
            <a:off x="5290457" y="1215910"/>
            <a:ext cx="5257800" cy="2862322"/>
          </a:xfrm>
          <a:prstGeom prst="rect">
            <a:avLst/>
          </a:prstGeom>
          <a:noFill/>
        </p:spPr>
        <p:txBody>
          <a:bodyPr wrap="square">
            <a:spAutoFit/>
          </a:bodyPr>
          <a:lstStyle/>
          <a:p>
            <a:pPr marL="0" indent="0">
              <a:buNone/>
            </a:pPr>
            <a:r>
              <a:rPr lang="en-AU" sz="1800" dirty="0"/>
              <a:t>&lt;/head&gt;</a:t>
            </a:r>
          </a:p>
          <a:p>
            <a:pPr marL="0" indent="0">
              <a:buNone/>
            </a:pPr>
            <a:r>
              <a:rPr lang="en-AU" sz="1800" dirty="0"/>
              <a:t>&lt;body&gt;</a:t>
            </a:r>
          </a:p>
          <a:p>
            <a:pPr marL="0" indent="0">
              <a:buNone/>
            </a:pPr>
            <a:endParaRPr lang="en-AU" sz="1800" dirty="0"/>
          </a:p>
          <a:p>
            <a:pPr marL="0" indent="0">
              <a:buNone/>
            </a:pPr>
            <a:r>
              <a:rPr lang="en-AU" sz="1800" dirty="0"/>
              <a:t>&lt;div&gt;Hover over me to show the p element</a:t>
            </a:r>
          </a:p>
          <a:p>
            <a:pPr marL="0" indent="0">
              <a:buNone/>
            </a:pPr>
            <a:r>
              <a:rPr lang="en-AU" sz="1800" dirty="0"/>
              <a:t>  &lt;p&gt;Tada! Here I am!&lt;/p&gt;</a:t>
            </a:r>
          </a:p>
          <a:p>
            <a:pPr marL="0" indent="0">
              <a:buNone/>
            </a:pPr>
            <a:r>
              <a:rPr lang="en-AU" sz="1800" dirty="0"/>
              <a:t>&lt;/div&gt;</a:t>
            </a:r>
          </a:p>
          <a:p>
            <a:pPr marL="0" indent="0">
              <a:buNone/>
            </a:pPr>
            <a:endParaRPr lang="en-AU" sz="1800" dirty="0"/>
          </a:p>
          <a:p>
            <a:pPr marL="0" indent="0">
              <a:buNone/>
            </a:pPr>
            <a:r>
              <a:rPr lang="en-AU" sz="1800" dirty="0"/>
              <a:t>&lt;/body&gt;</a:t>
            </a:r>
          </a:p>
          <a:p>
            <a:pPr marL="0" indent="0">
              <a:buNone/>
            </a:pPr>
            <a:r>
              <a:rPr lang="en-AU" sz="1800" dirty="0"/>
              <a:t>&lt;/html&gt;</a:t>
            </a:r>
          </a:p>
          <a:p>
            <a:pPr marL="0" indent="0">
              <a:buNone/>
            </a:pPr>
            <a:endParaRPr lang="en-AU" sz="1800" dirty="0"/>
          </a:p>
        </p:txBody>
      </p:sp>
      <p:sp>
        <p:nvSpPr>
          <p:cNvPr id="6" name="TextBox 5">
            <a:extLst>
              <a:ext uri="{FF2B5EF4-FFF2-40B4-BE49-F238E27FC236}">
                <a16:creationId xmlns:a16="http://schemas.microsoft.com/office/drawing/2014/main" id="{A5A011DC-7F6F-4076-BEA7-33F4B9639E2E}"/>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32534361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55246-D7A8-423B-8DD3-6FF79BCE9CBA}"/>
              </a:ext>
            </a:extLst>
          </p:cNvPr>
          <p:cNvSpPr>
            <a:spLocks noGrp="1"/>
          </p:cNvSpPr>
          <p:nvPr>
            <p:ph type="title"/>
          </p:nvPr>
        </p:nvSpPr>
        <p:spPr>
          <a:xfrm>
            <a:off x="544285" y="158296"/>
            <a:ext cx="10515600" cy="560161"/>
          </a:xfrm>
        </p:spPr>
        <p:txBody>
          <a:bodyPr>
            <a:normAutofit fontScale="90000"/>
          </a:bodyPr>
          <a:lstStyle/>
          <a:p>
            <a:r>
              <a:rPr lang="en-AU" sz="4000" dirty="0">
                <a:solidFill>
                  <a:schemeClr val="accent2">
                    <a:lumMod val="50000"/>
                  </a:schemeClr>
                </a:solidFill>
              </a:rPr>
              <a:t>:focus Pseudo-Class</a:t>
            </a:r>
          </a:p>
        </p:txBody>
      </p:sp>
      <p:sp>
        <p:nvSpPr>
          <p:cNvPr id="3" name="Content Placeholder 2">
            <a:extLst>
              <a:ext uri="{FF2B5EF4-FFF2-40B4-BE49-F238E27FC236}">
                <a16:creationId xmlns:a16="http://schemas.microsoft.com/office/drawing/2014/main" id="{04BE45F4-F964-4688-80C0-907D3A7A792C}"/>
              </a:ext>
            </a:extLst>
          </p:cNvPr>
          <p:cNvSpPr>
            <a:spLocks noGrp="1"/>
          </p:cNvSpPr>
          <p:nvPr>
            <p:ph idx="1"/>
          </p:nvPr>
        </p:nvSpPr>
        <p:spPr>
          <a:xfrm>
            <a:off x="544285" y="1324881"/>
            <a:ext cx="2841172" cy="4738461"/>
          </a:xfrm>
        </p:spPr>
        <p:txBody>
          <a:bodyPr>
            <a:noAutofit/>
          </a:bodyPr>
          <a:lstStyle/>
          <a:p>
            <a:pPr marL="0" indent="0">
              <a:buNone/>
            </a:pPr>
            <a:r>
              <a:rPr lang="en-AU" sz="1600" dirty="0"/>
              <a:t>&lt;!DOCTYPE html&gt;</a:t>
            </a:r>
          </a:p>
          <a:p>
            <a:pPr marL="0" indent="0">
              <a:buNone/>
            </a:pPr>
            <a:r>
              <a:rPr lang="en-AU" sz="1600" dirty="0"/>
              <a:t>&lt;html&gt;</a:t>
            </a:r>
          </a:p>
          <a:p>
            <a:pPr marL="0" indent="0">
              <a:buNone/>
            </a:pPr>
            <a:r>
              <a:rPr lang="en-AU" sz="1600" dirty="0"/>
              <a:t>&lt;head&gt;</a:t>
            </a:r>
          </a:p>
          <a:p>
            <a:pPr marL="0" indent="0">
              <a:buNone/>
            </a:pPr>
            <a:r>
              <a:rPr lang="en-AU" sz="1600" dirty="0"/>
              <a:t>&lt;style&gt;</a:t>
            </a:r>
          </a:p>
          <a:p>
            <a:pPr marL="0" indent="0">
              <a:buNone/>
            </a:pPr>
            <a:r>
              <a:rPr lang="en-AU" sz="1600" dirty="0" err="1"/>
              <a:t>input:focus</a:t>
            </a:r>
            <a:r>
              <a:rPr lang="en-AU" sz="1600" dirty="0"/>
              <a:t> {</a:t>
            </a:r>
          </a:p>
          <a:p>
            <a:pPr marL="0" indent="0">
              <a:buNone/>
            </a:pPr>
            <a:r>
              <a:rPr lang="en-AU" sz="1600" dirty="0"/>
              <a:t>  background-</a:t>
            </a:r>
            <a:r>
              <a:rPr lang="en-AU" sz="1600" dirty="0" err="1"/>
              <a:t>color</a:t>
            </a:r>
            <a:r>
              <a:rPr lang="en-AU" sz="1600" dirty="0"/>
              <a:t>: yellow;</a:t>
            </a:r>
          </a:p>
          <a:p>
            <a:pPr marL="0" indent="0">
              <a:buNone/>
            </a:pPr>
            <a:r>
              <a:rPr lang="en-AU" sz="1600" dirty="0"/>
              <a:t>}</a:t>
            </a:r>
          </a:p>
          <a:p>
            <a:pPr marL="0" indent="0">
              <a:buNone/>
            </a:pPr>
            <a:r>
              <a:rPr lang="en-AU" sz="1600" dirty="0"/>
              <a:t>&lt;/style&gt;</a:t>
            </a:r>
          </a:p>
          <a:p>
            <a:pPr marL="0" indent="0">
              <a:buNone/>
            </a:pPr>
            <a:r>
              <a:rPr lang="en-AU" sz="1600" dirty="0"/>
              <a:t>&lt;/head&gt;</a:t>
            </a:r>
          </a:p>
          <a:p>
            <a:pPr marL="0" indent="0">
              <a:buNone/>
            </a:pPr>
            <a:r>
              <a:rPr lang="en-AU" sz="1600" dirty="0"/>
              <a:t>&lt;body&gt;</a:t>
            </a:r>
          </a:p>
          <a:p>
            <a:pPr marL="0" indent="0">
              <a:buNone/>
            </a:pPr>
            <a:endParaRPr lang="en-AU" sz="1600" dirty="0"/>
          </a:p>
          <a:p>
            <a:pPr marL="0" indent="0">
              <a:buNone/>
            </a:pPr>
            <a:endParaRPr lang="en-AU" sz="1600" dirty="0"/>
          </a:p>
        </p:txBody>
      </p:sp>
      <p:sp>
        <p:nvSpPr>
          <p:cNvPr id="5" name="TextBox 4">
            <a:extLst>
              <a:ext uri="{FF2B5EF4-FFF2-40B4-BE49-F238E27FC236}">
                <a16:creationId xmlns:a16="http://schemas.microsoft.com/office/drawing/2014/main" id="{E6EC9FBE-CD0F-47AB-A7AF-FC268755575E}"/>
              </a:ext>
            </a:extLst>
          </p:cNvPr>
          <p:cNvSpPr txBox="1"/>
          <p:nvPr/>
        </p:nvSpPr>
        <p:spPr>
          <a:xfrm>
            <a:off x="5290457" y="1215910"/>
            <a:ext cx="5257800" cy="2585323"/>
          </a:xfrm>
          <a:prstGeom prst="rect">
            <a:avLst/>
          </a:prstGeom>
          <a:noFill/>
        </p:spPr>
        <p:txBody>
          <a:bodyPr wrap="square">
            <a:spAutoFit/>
          </a:bodyPr>
          <a:lstStyle/>
          <a:p>
            <a:pPr marL="0" indent="0">
              <a:buNone/>
            </a:pPr>
            <a:r>
              <a:rPr lang="en-AU" sz="1800" dirty="0"/>
              <a:t>&lt;form&gt;</a:t>
            </a:r>
          </a:p>
          <a:p>
            <a:pPr marL="0" indent="0">
              <a:buNone/>
            </a:pPr>
            <a:r>
              <a:rPr lang="en-AU" sz="1800" dirty="0"/>
              <a:t>  First name: &lt;input type="text" name="</a:t>
            </a:r>
            <a:r>
              <a:rPr lang="en-AU" sz="1800" dirty="0" err="1"/>
              <a:t>fname</a:t>
            </a:r>
            <a:r>
              <a:rPr lang="en-AU" sz="1800" dirty="0"/>
              <a:t>"&gt;&lt;</a:t>
            </a:r>
            <a:r>
              <a:rPr lang="en-AU" sz="1800" dirty="0" err="1"/>
              <a:t>br</a:t>
            </a:r>
            <a:r>
              <a:rPr lang="en-AU" sz="1800" dirty="0"/>
              <a:t>&gt;</a:t>
            </a:r>
          </a:p>
          <a:p>
            <a:pPr marL="0" indent="0">
              <a:buNone/>
            </a:pPr>
            <a:r>
              <a:rPr lang="en-AU" sz="1800" dirty="0"/>
              <a:t>  Last name: &lt;input type="text" name="</a:t>
            </a:r>
            <a:r>
              <a:rPr lang="en-AU" sz="1800" dirty="0" err="1"/>
              <a:t>lname</a:t>
            </a:r>
            <a:r>
              <a:rPr lang="en-AU" sz="1800" dirty="0"/>
              <a:t>"&gt;&lt;</a:t>
            </a:r>
            <a:r>
              <a:rPr lang="en-AU" sz="1800" dirty="0" err="1"/>
              <a:t>br</a:t>
            </a:r>
            <a:r>
              <a:rPr lang="en-AU" sz="1800" dirty="0"/>
              <a:t>&gt;</a:t>
            </a:r>
          </a:p>
          <a:p>
            <a:pPr marL="0" indent="0">
              <a:buNone/>
            </a:pPr>
            <a:r>
              <a:rPr lang="en-AU" sz="1800" dirty="0"/>
              <a:t>  &lt;input type="submit" value="Submit"&gt;</a:t>
            </a:r>
          </a:p>
          <a:p>
            <a:pPr marL="0" indent="0">
              <a:buNone/>
            </a:pPr>
            <a:r>
              <a:rPr lang="en-AU" sz="1800" dirty="0"/>
              <a:t>&lt;/form&gt;</a:t>
            </a:r>
          </a:p>
          <a:p>
            <a:pPr marL="0" indent="0">
              <a:buNone/>
            </a:pPr>
            <a:endParaRPr lang="en-AU" sz="1800" dirty="0"/>
          </a:p>
          <a:p>
            <a:pPr marL="0" indent="0">
              <a:buNone/>
            </a:pPr>
            <a:r>
              <a:rPr lang="en-AU" sz="1800" dirty="0"/>
              <a:t>&lt;/body&gt;</a:t>
            </a:r>
          </a:p>
          <a:p>
            <a:pPr marL="0" indent="0">
              <a:buNone/>
            </a:pPr>
            <a:r>
              <a:rPr lang="en-AU" sz="1800" dirty="0"/>
              <a:t>&lt;/html&gt;</a:t>
            </a:r>
          </a:p>
          <a:p>
            <a:pPr marL="0" indent="0">
              <a:buNone/>
            </a:pPr>
            <a:endParaRPr lang="en-AU" sz="1800" dirty="0"/>
          </a:p>
        </p:txBody>
      </p:sp>
      <p:sp>
        <p:nvSpPr>
          <p:cNvPr id="6" name="TextBox 5">
            <a:extLst>
              <a:ext uri="{FF2B5EF4-FFF2-40B4-BE49-F238E27FC236}">
                <a16:creationId xmlns:a16="http://schemas.microsoft.com/office/drawing/2014/main" id="{B92ABD19-FFB4-473F-8922-1A0D22ED735C}"/>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36788961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78B19-E41A-4F79-9FDE-7F2EF0852097}"/>
              </a:ext>
            </a:extLst>
          </p:cNvPr>
          <p:cNvSpPr>
            <a:spLocks noGrp="1"/>
          </p:cNvSpPr>
          <p:nvPr>
            <p:ph type="title"/>
          </p:nvPr>
        </p:nvSpPr>
        <p:spPr>
          <a:xfrm>
            <a:off x="536448" y="246253"/>
            <a:ext cx="10515600" cy="558419"/>
          </a:xfrm>
        </p:spPr>
        <p:txBody>
          <a:bodyPr>
            <a:noAutofit/>
          </a:bodyPr>
          <a:lstStyle/>
          <a:p>
            <a:br>
              <a:rPr lang="en-AU" sz="4000" dirty="0">
                <a:solidFill>
                  <a:schemeClr val="accent2">
                    <a:lumMod val="50000"/>
                  </a:schemeClr>
                </a:solidFill>
              </a:rPr>
            </a:br>
            <a:r>
              <a:rPr lang="en-AU" sz="4000" dirty="0">
                <a:solidFill>
                  <a:schemeClr val="accent2">
                    <a:lumMod val="50000"/>
                  </a:schemeClr>
                </a:solidFill>
              </a:rPr>
              <a:t>Combining CSS Classes and Pseudo-classes</a:t>
            </a:r>
            <a:br>
              <a:rPr lang="en-AU" sz="4000" dirty="0">
                <a:solidFill>
                  <a:schemeClr val="accent2">
                    <a:lumMod val="50000"/>
                  </a:schemeClr>
                </a:solidFill>
              </a:rPr>
            </a:br>
            <a:endParaRPr lang="en-AU" sz="4000" dirty="0">
              <a:solidFill>
                <a:schemeClr val="accent2">
                  <a:lumMod val="50000"/>
                </a:schemeClr>
              </a:solidFill>
            </a:endParaRPr>
          </a:p>
        </p:txBody>
      </p:sp>
      <p:sp>
        <p:nvSpPr>
          <p:cNvPr id="3" name="Content Placeholder 2">
            <a:extLst>
              <a:ext uri="{FF2B5EF4-FFF2-40B4-BE49-F238E27FC236}">
                <a16:creationId xmlns:a16="http://schemas.microsoft.com/office/drawing/2014/main" id="{E89400C7-DDC8-492D-B02B-2B6697374F95}"/>
              </a:ext>
            </a:extLst>
          </p:cNvPr>
          <p:cNvSpPr>
            <a:spLocks noGrp="1"/>
          </p:cNvSpPr>
          <p:nvPr>
            <p:ph idx="1"/>
          </p:nvPr>
        </p:nvSpPr>
        <p:spPr>
          <a:xfrm>
            <a:off x="399288" y="903514"/>
            <a:ext cx="11564112" cy="4562522"/>
          </a:xfrm>
        </p:spPr>
        <p:txBody>
          <a:bodyPr>
            <a:noAutofit/>
          </a:bodyPr>
          <a:lstStyle/>
          <a:p>
            <a:pPr marL="0" indent="0">
              <a:buNone/>
            </a:pPr>
            <a:r>
              <a:rPr lang="en-AU" sz="1400" dirty="0">
                <a:solidFill>
                  <a:srgbClr val="000000"/>
                </a:solidFill>
              </a:rPr>
              <a:t>&lt;!DOCTYPE html&gt;</a:t>
            </a:r>
          </a:p>
          <a:p>
            <a:pPr marL="0" indent="0">
              <a:buNone/>
            </a:pPr>
            <a:r>
              <a:rPr lang="en-AU" sz="1400" dirty="0">
                <a:solidFill>
                  <a:srgbClr val="000000"/>
                </a:solidFill>
              </a:rPr>
              <a:t>&lt;html&gt;</a:t>
            </a:r>
          </a:p>
          <a:p>
            <a:pPr marL="0" indent="0">
              <a:buNone/>
            </a:pPr>
            <a:r>
              <a:rPr lang="en-AU" sz="1400" dirty="0">
                <a:solidFill>
                  <a:srgbClr val="000000"/>
                </a:solidFill>
              </a:rPr>
              <a:t>&lt;head&gt;</a:t>
            </a:r>
          </a:p>
          <a:p>
            <a:pPr marL="0" indent="0">
              <a:buNone/>
            </a:pPr>
            <a:r>
              <a:rPr lang="en-AU" sz="1400" dirty="0">
                <a:solidFill>
                  <a:srgbClr val="000000"/>
                </a:solidFill>
              </a:rPr>
              <a:t>&lt;style&gt;</a:t>
            </a:r>
          </a:p>
          <a:p>
            <a:pPr marL="0" indent="0">
              <a:buNone/>
            </a:pPr>
            <a:r>
              <a:rPr lang="en-AU" sz="1400" dirty="0">
                <a:solidFill>
                  <a:srgbClr val="000000"/>
                </a:solidFill>
              </a:rPr>
              <a:t>.</a:t>
            </a:r>
            <a:r>
              <a:rPr lang="en-AU" sz="1400" dirty="0" err="1">
                <a:solidFill>
                  <a:srgbClr val="000000"/>
                </a:solidFill>
              </a:rPr>
              <a:t>highlight:hover</a:t>
            </a:r>
            <a:r>
              <a:rPr lang="en-AU" sz="1400" dirty="0">
                <a:solidFill>
                  <a:srgbClr val="000000"/>
                </a:solidFill>
              </a:rPr>
              <a:t> {</a:t>
            </a:r>
          </a:p>
          <a:p>
            <a:pPr marL="0" indent="0">
              <a:buNone/>
            </a:pPr>
            <a:r>
              <a:rPr lang="en-AU" sz="1400" dirty="0">
                <a:solidFill>
                  <a:srgbClr val="000000"/>
                </a:solidFill>
              </a:rPr>
              <a:t>  </a:t>
            </a:r>
            <a:r>
              <a:rPr lang="en-AU" sz="1400" dirty="0" err="1">
                <a:solidFill>
                  <a:srgbClr val="000000"/>
                </a:solidFill>
              </a:rPr>
              <a:t>color</a:t>
            </a:r>
            <a:r>
              <a:rPr lang="en-AU" sz="1400" dirty="0">
                <a:solidFill>
                  <a:srgbClr val="000000"/>
                </a:solidFill>
              </a:rPr>
              <a:t>: Red;} </a:t>
            </a:r>
          </a:p>
          <a:p>
            <a:pPr marL="0" indent="0">
              <a:buNone/>
            </a:pPr>
            <a:r>
              <a:rPr lang="en-AU" sz="1400" dirty="0">
                <a:solidFill>
                  <a:srgbClr val="000000"/>
                </a:solidFill>
              </a:rPr>
              <a:t>&lt;/style&gt;</a:t>
            </a:r>
          </a:p>
          <a:p>
            <a:pPr marL="0" indent="0">
              <a:buNone/>
            </a:pPr>
            <a:r>
              <a:rPr lang="en-AU" sz="1400" dirty="0">
                <a:solidFill>
                  <a:srgbClr val="000000"/>
                </a:solidFill>
              </a:rPr>
              <a:t>&lt;/head&gt;</a:t>
            </a:r>
          </a:p>
          <a:p>
            <a:pPr marL="0" indent="0">
              <a:buNone/>
            </a:pPr>
            <a:r>
              <a:rPr lang="en-AU" sz="1400" dirty="0">
                <a:solidFill>
                  <a:srgbClr val="000000"/>
                </a:solidFill>
              </a:rPr>
              <a:t>&lt;body&gt;</a:t>
            </a:r>
          </a:p>
          <a:p>
            <a:pPr marL="0" indent="0">
              <a:buNone/>
            </a:pPr>
            <a:r>
              <a:rPr lang="en-AU" sz="1400" dirty="0">
                <a:solidFill>
                  <a:srgbClr val="000000"/>
                </a:solidFill>
              </a:rPr>
              <a:t>&lt;h2&gt;Pseudo-classes and CSS Classes&lt;/h2&gt;</a:t>
            </a:r>
          </a:p>
          <a:p>
            <a:pPr marL="0" indent="0">
              <a:buNone/>
            </a:pPr>
            <a:r>
              <a:rPr lang="en-AU" sz="1400" dirty="0">
                <a:solidFill>
                  <a:srgbClr val="000000"/>
                </a:solidFill>
              </a:rPr>
              <a:t>&lt;p&gt;When you hover over the first link below, it will change </a:t>
            </a:r>
            <a:r>
              <a:rPr lang="en-AU" sz="1400" dirty="0" err="1">
                <a:solidFill>
                  <a:srgbClr val="000000"/>
                </a:solidFill>
              </a:rPr>
              <a:t>color</a:t>
            </a:r>
            <a:r>
              <a:rPr lang="en-AU" sz="1400" dirty="0">
                <a:solidFill>
                  <a:srgbClr val="000000"/>
                </a:solidFill>
              </a:rPr>
              <a:t>:&lt;/p&gt;</a:t>
            </a:r>
          </a:p>
          <a:p>
            <a:pPr marL="0" indent="0">
              <a:buNone/>
            </a:pPr>
            <a:r>
              <a:rPr lang="en-AU" sz="1400" dirty="0">
                <a:solidFill>
                  <a:srgbClr val="000000"/>
                </a:solidFill>
              </a:rPr>
              <a:t>&lt;p&gt;&lt;a class="highlight" </a:t>
            </a:r>
            <a:r>
              <a:rPr lang="en-AU" sz="1400" dirty="0" err="1">
                <a:solidFill>
                  <a:srgbClr val="000000"/>
                </a:solidFill>
              </a:rPr>
              <a:t>href</a:t>
            </a:r>
            <a:r>
              <a:rPr lang="en-AU" sz="1400" dirty="0">
                <a:solidFill>
                  <a:srgbClr val="000000"/>
                </a:solidFill>
              </a:rPr>
              <a:t>="css_syntax.html"&gt;CSS Syntax&lt;/a&gt;&lt;/p&gt;</a:t>
            </a:r>
          </a:p>
          <a:p>
            <a:pPr marL="0" indent="0">
              <a:buNone/>
            </a:pPr>
            <a:r>
              <a:rPr lang="en-AU" sz="1400" dirty="0">
                <a:solidFill>
                  <a:srgbClr val="000000"/>
                </a:solidFill>
              </a:rPr>
              <a:t>&lt;p&gt;&lt;a </a:t>
            </a:r>
            <a:r>
              <a:rPr lang="en-AU" sz="1400" dirty="0" err="1">
                <a:solidFill>
                  <a:srgbClr val="000000"/>
                </a:solidFill>
              </a:rPr>
              <a:t>href</a:t>
            </a:r>
            <a:r>
              <a:rPr lang="en-AU" sz="1400" dirty="0">
                <a:solidFill>
                  <a:srgbClr val="000000"/>
                </a:solidFill>
              </a:rPr>
              <a:t>="default.html"&gt;CSS Tutorial&lt;/a&gt;&lt;/p&gt;</a:t>
            </a:r>
          </a:p>
          <a:p>
            <a:pPr marL="0" indent="0">
              <a:buNone/>
            </a:pPr>
            <a:r>
              <a:rPr lang="en-AU" sz="1400" dirty="0">
                <a:solidFill>
                  <a:srgbClr val="000000"/>
                </a:solidFill>
              </a:rPr>
              <a:t>&lt;/body&gt;</a:t>
            </a:r>
          </a:p>
          <a:p>
            <a:pPr marL="0" indent="0">
              <a:buNone/>
            </a:pPr>
            <a:r>
              <a:rPr lang="en-AU" sz="1400" dirty="0">
                <a:solidFill>
                  <a:srgbClr val="000000"/>
                </a:solidFill>
              </a:rPr>
              <a:t>&lt;/html&gt;</a:t>
            </a:r>
          </a:p>
          <a:p>
            <a:pPr marL="0" indent="0">
              <a:buNone/>
            </a:pPr>
            <a:endParaRPr lang="en-AU" sz="1400" dirty="0">
              <a:solidFill>
                <a:srgbClr val="000000"/>
              </a:solidFill>
            </a:endParaRPr>
          </a:p>
        </p:txBody>
      </p:sp>
      <p:sp>
        <p:nvSpPr>
          <p:cNvPr id="5" name="TextBox 4">
            <a:extLst>
              <a:ext uri="{FF2B5EF4-FFF2-40B4-BE49-F238E27FC236}">
                <a16:creationId xmlns:a16="http://schemas.microsoft.com/office/drawing/2014/main" id="{E7F1E6E3-A67B-484C-A895-900B40D6EB52}"/>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33037435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F406B-E734-418A-B88F-63D7A193A1BA}"/>
              </a:ext>
            </a:extLst>
          </p:cNvPr>
          <p:cNvSpPr>
            <a:spLocks noGrp="1"/>
          </p:cNvSpPr>
          <p:nvPr>
            <p:ph type="title"/>
          </p:nvPr>
        </p:nvSpPr>
        <p:spPr>
          <a:xfrm>
            <a:off x="468086" y="310696"/>
            <a:ext cx="10515600" cy="690789"/>
          </a:xfrm>
        </p:spPr>
        <p:txBody>
          <a:bodyPr/>
          <a:lstStyle/>
          <a:p>
            <a:r>
              <a:rPr lang="en-AU" sz="3600" dirty="0">
                <a:solidFill>
                  <a:schemeClr val="accent2">
                    <a:lumMod val="50000"/>
                  </a:schemeClr>
                </a:solidFill>
              </a:rPr>
              <a:t>CSS Pseudo-elements</a:t>
            </a:r>
          </a:p>
        </p:txBody>
      </p:sp>
      <p:sp>
        <p:nvSpPr>
          <p:cNvPr id="3" name="Content Placeholder 2">
            <a:extLst>
              <a:ext uri="{FF2B5EF4-FFF2-40B4-BE49-F238E27FC236}">
                <a16:creationId xmlns:a16="http://schemas.microsoft.com/office/drawing/2014/main" id="{3A846A64-4B11-4A54-8C60-FF68CF5CEEDC}"/>
              </a:ext>
            </a:extLst>
          </p:cNvPr>
          <p:cNvSpPr>
            <a:spLocks noGrp="1"/>
          </p:cNvSpPr>
          <p:nvPr>
            <p:ph idx="1"/>
          </p:nvPr>
        </p:nvSpPr>
        <p:spPr>
          <a:xfrm>
            <a:off x="359227" y="1176178"/>
            <a:ext cx="11549744" cy="4386421"/>
          </a:xfrm>
        </p:spPr>
        <p:txBody>
          <a:bodyPr>
            <a:normAutofit/>
          </a:bodyPr>
          <a:lstStyle/>
          <a:p>
            <a:pPr algn="l"/>
            <a:r>
              <a:rPr lang="en-US" sz="3200" b="0" i="0" dirty="0">
                <a:solidFill>
                  <a:srgbClr val="000000"/>
                </a:solidFill>
                <a:effectLst/>
              </a:rPr>
              <a:t>A CSS pseudo-element is used to style specified parts of an element.</a:t>
            </a:r>
          </a:p>
          <a:p>
            <a:pPr algn="l"/>
            <a:r>
              <a:rPr lang="en-US" sz="3200" b="0" i="0" dirty="0">
                <a:solidFill>
                  <a:srgbClr val="000000"/>
                </a:solidFill>
                <a:effectLst/>
              </a:rPr>
              <a:t>For example, it can be used to:</a:t>
            </a:r>
          </a:p>
          <a:p>
            <a:pPr lvl="1"/>
            <a:r>
              <a:rPr lang="en-US" sz="2800" b="0" i="0" dirty="0">
                <a:solidFill>
                  <a:srgbClr val="000000"/>
                </a:solidFill>
                <a:effectLst/>
              </a:rPr>
              <a:t>Style the first letter, or line, of an element</a:t>
            </a:r>
          </a:p>
          <a:p>
            <a:pPr lvl="1"/>
            <a:r>
              <a:rPr lang="en-US" sz="2800" b="0" i="0" dirty="0">
                <a:solidFill>
                  <a:srgbClr val="000000"/>
                </a:solidFill>
                <a:effectLst/>
              </a:rPr>
              <a:t>Insert content before, or after, the content of an element</a:t>
            </a:r>
          </a:p>
          <a:p>
            <a:pPr marL="457200" lvl="1" indent="0">
              <a:buNone/>
            </a:pPr>
            <a:endParaRPr lang="en-US" sz="2800" dirty="0">
              <a:solidFill>
                <a:srgbClr val="000000"/>
              </a:solidFill>
              <a:latin typeface="Consolas" panose="020B0609020204030204" pitchFamily="49" charset="0"/>
            </a:endParaRPr>
          </a:p>
          <a:p>
            <a:pPr marL="87313" lvl="1" indent="0">
              <a:buNone/>
            </a:pPr>
            <a:r>
              <a:rPr lang="en-AU" b="0" i="0" dirty="0">
                <a:solidFill>
                  <a:srgbClr val="A52A2A"/>
                </a:solidFill>
                <a:effectLst/>
                <a:latin typeface="Calibri" panose="020F0502020204030204" pitchFamily="34" charset="0"/>
                <a:cs typeface="Calibri" panose="020F0502020204030204" pitchFamily="34" charset="0"/>
              </a:rPr>
              <a:t>selector::pseudo-element</a:t>
            </a:r>
          </a:p>
          <a:p>
            <a:pPr marL="0" indent="0">
              <a:buNone/>
            </a:pPr>
            <a:r>
              <a:rPr lang="en-AU" sz="2400" b="0" i="0" dirty="0">
                <a:solidFill>
                  <a:srgbClr val="A52A2A"/>
                </a:solidFill>
                <a:effectLst/>
                <a:latin typeface="Calibri" panose="020F0502020204030204" pitchFamily="34" charset="0"/>
                <a:cs typeface="Calibri" panose="020F0502020204030204" pitchFamily="34" charset="0"/>
              </a:rPr>
              <a:t> </a:t>
            </a:r>
            <a:r>
              <a:rPr lang="en-AU" sz="2400" b="0" i="0" dirty="0">
                <a:solidFill>
                  <a:srgbClr val="000000"/>
                </a:solidFill>
                <a:effectLst/>
                <a:latin typeface="Calibri" panose="020F0502020204030204" pitchFamily="34" charset="0"/>
                <a:cs typeface="Calibri" panose="020F0502020204030204" pitchFamily="34" charset="0"/>
              </a:rPr>
              <a:t>{</a:t>
            </a:r>
            <a:br>
              <a:rPr lang="en-AU" sz="2400" b="0" i="0" dirty="0">
                <a:solidFill>
                  <a:srgbClr val="FF0000"/>
                </a:solidFill>
                <a:effectLst/>
                <a:latin typeface="Calibri" panose="020F0502020204030204" pitchFamily="34" charset="0"/>
                <a:cs typeface="Calibri" panose="020F0502020204030204" pitchFamily="34" charset="0"/>
              </a:rPr>
            </a:br>
            <a:r>
              <a:rPr lang="en-AU" sz="2400" b="0" i="0" dirty="0">
                <a:solidFill>
                  <a:srgbClr val="FF0000"/>
                </a:solidFill>
                <a:effectLst/>
                <a:latin typeface="Calibri" panose="020F0502020204030204" pitchFamily="34" charset="0"/>
                <a:cs typeface="Calibri" panose="020F0502020204030204" pitchFamily="34" charset="0"/>
              </a:rPr>
              <a:t>  property</a:t>
            </a:r>
            <a:r>
              <a:rPr lang="en-AU" sz="2400" b="0" i="0" dirty="0">
                <a:solidFill>
                  <a:srgbClr val="000000"/>
                </a:solidFill>
                <a:effectLst/>
                <a:latin typeface="Calibri" panose="020F0502020204030204" pitchFamily="34" charset="0"/>
                <a:cs typeface="Calibri" panose="020F0502020204030204" pitchFamily="34" charset="0"/>
              </a:rPr>
              <a:t>:</a:t>
            </a:r>
            <a:r>
              <a:rPr lang="en-AU" sz="2400" b="0" i="0" dirty="0">
                <a:solidFill>
                  <a:srgbClr val="0000CD"/>
                </a:solidFill>
                <a:effectLst/>
                <a:latin typeface="Calibri" panose="020F0502020204030204" pitchFamily="34" charset="0"/>
                <a:cs typeface="Calibri" panose="020F0502020204030204" pitchFamily="34" charset="0"/>
              </a:rPr>
              <a:t> value</a:t>
            </a:r>
            <a:r>
              <a:rPr lang="en-AU" sz="2400" b="0" i="0" dirty="0">
                <a:solidFill>
                  <a:srgbClr val="000000"/>
                </a:solidFill>
                <a:effectLst/>
                <a:latin typeface="Calibri" panose="020F0502020204030204" pitchFamily="34" charset="0"/>
                <a:cs typeface="Calibri" panose="020F0502020204030204" pitchFamily="34" charset="0"/>
              </a:rPr>
              <a:t>;</a:t>
            </a:r>
            <a:br>
              <a:rPr lang="en-AU" sz="2400" b="0" i="0" dirty="0">
                <a:solidFill>
                  <a:srgbClr val="FF0000"/>
                </a:solidFill>
                <a:effectLst/>
                <a:latin typeface="Calibri" panose="020F0502020204030204" pitchFamily="34" charset="0"/>
                <a:cs typeface="Calibri" panose="020F0502020204030204" pitchFamily="34" charset="0"/>
              </a:rPr>
            </a:br>
            <a:r>
              <a:rPr lang="en-AU" sz="2400" b="0" i="0" dirty="0">
                <a:solidFill>
                  <a:srgbClr val="000000"/>
                </a:solidFill>
                <a:effectLst/>
                <a:latin typeface="Calibri" panose="020F0502020204030204" pitchFamily="34" charset="0"/>
                <a:cs typeface="Calibri" panose="020F0502020204030204" pitchFamily="34" charset="0"/>
              </a:rPr>
              <a:t>}</a:t>
            </a:r>
            <a:endParaRPr lang="en-AU" sz="36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172817C5-341C-4292-95B3-147B5F9B0F28}"/>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17397676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60AFA-96B4-451C-A2BE-76CDB338DC02}"/>
              </a:ext>
            </a:extLst>
          </p:cNvPr>
          <p:cNvSpPr>
            <a:spLocks noGrp="1"/>
          </p:cNvSpPr>
          <p:nvPr>
            <p:ph type="title"/>
          </p:nvPr>
        </p:nvSpPr>
        <p:spPr>
          <a:xfrm>
            <a:off x="402771" y="92982"/>
            <a:ext cx="10515600" cy="858294"/>
          </a:xfrm>
        </p:spPr>
        <p:txBody>
          <a:bodyPr>
            <a:normAutofit/>
          </a:bodyPr>
          <a:lstStyle/>
          <a:p>
            <a:r>
              <a:rPr lang="en-AU" sz="3600" dirty="0">
                <a:solidFill>
                  <a:schemeClr val="accent2">
                    <a:lumMod val="50000"/>
                  </a:schemeClr>
                </a:solidFill>
              </a:rPr>
              <a:t>::First-line Pseudo-element</a:t>
            </a:r>
          </a:p>
        </p:txBody>
      </p:sp>
      <p:sp>
        <p:nvSpPr>
          <p:cNvPr id="3" name="Content Placeholder 2">
            <a:extLst>
              <a:ext uri="{FF2B5EF4-FFF2-40B4-BE49-F238E27FC236}">
                <a16:creationId xmlns:a16="http://schemas.microsoft.com/office/drawing/2014/main" id="{6778C9D0-4385-470F-9ACA-7CE307544D0E}"/>
              </a:ext>
            </a:extLst>
          </p:cNvPr>
          <p:cNvSpPr>
            <a:spLocks noGrp="1"/>
          </p:cNvSpPr>
          <p:nvPr>
            <p:ph idx="1"/>
          </p:nvPr>
        </p:nvSpPr>
        <p:spPr>
          <a:xfrm>
            <a:off x="762000" y="951276"/>
            <a:ext cx="9154886" cy="4546010"/>
          </a:xfrm>
        </p:spPr>
        <p:txBody>
          <a:bodyPr>
            <a:noAutofit/>
          </a:bodyPr>
          <a:lstStyle/>
          <a:p>
            <a:pPr marL="0" indent="0">
              <a:buNone/>
            </a:pPr>
            <a:r>
              <a:rPr lang="en-US" sz="1800" dirty="0"/>
              <a:t>&lt;!DOCTYPE html&gt;</a:t>
            </a:r>
          </a:p>
          <a:p>
            <a:pPr marL="0" indent="0">
              <a:buNone/>
            </a:pPr>
            <a:r>
              <a:rPr lang="en-US" sz="1800" dirty="0"/>
              <a:t>&lt;html&gt;</a:t>
            </a:r>
          </a:p>
          <a:p>
            <a:pPr marL="0" indent="0">
              <a:buNone/>
            </a:pPr>
            <a:r>
              <a:rPr lang="en-US" sz="1800" dirty="0"/>
              <a:t>&lt;head&gt;</a:t>
            </a:r>
          </a:p>
          <a:p>
            <a:pPr marL="0" indent="0">
              <a:buNone/>
            </a:pPr>
            <a:r>
              <a:rPr lang="en-US" sz="1800" dirty="0"/>
              <a:t>&lt;style&gt;</a:t>
            </a:r>
          </a:p>
          <a:p>
            <a:pPr marL="0" indent="0">
              <a:buNone/>
            </a:pPr>
            <a:r>
              <a:rPr lang="en-US" sz="1800" dirty="0"/>
              <a:t>p::first-line {</a:t>
            </a:r>
          </a:p>
          <a:p>
            <a:pPr marL="0" indent="0">
              <a:buNone/>
            </a:pPr>
            <a:r>
              <a:rPr lang="en-US" sz="1800" dirty="0"/>
              <a:t>  color: Blue;</a:t>
            </a:r>
          </a:p>
          <a:p>
            <a:pPr marL="0" indent="0">
              <a:buNone/>
            </a:pPr>
            <a:r>
              <a:rPr lang="en-US" sz="1800" dirty="0"/>
              <a:t>  font-variant: small-caps; }</a:t>
            </a:r>
          </a:p>
          <a:p>
            <a:pPr marL="0" indent="0">
              <a:buNone/>
            </a:pPr>
            <a:r>
              <a:rPr lang="en-US" sz="1800" dirty="0"/>
              <a:t>&lt;/style&gt;</a:t>
            </a:r>
          </a:p>
          <a:p>
            <a:pPr marL="0" indent="0">
              <a:buNone/>
            </a:pPr>
            <a:r>
              <a:rPr lang="en-US" sz="1800" dirty="0"/>
              <a:t>&lt;/head&gt;</a:t>
            </a:r>
          </a:p>
          <a:p>
            <a:pPr marL="0" indent="0">
              <a:buNone/>
            </a:pPr>
            <a:r>
              <a:rPr lang="en-US" sz="1800" dirty="0"/>
              <a:t>&lt;body&gt;</a:t>
            </a:r>
          </a:p>
          <a:p>
            <a:pPr marL="0" indent="0">
              <a:buNone/>
            </a:pPr>
            <a:r>
              <a:rPr lang="en-US" sz="1800" dirty="0"/>
              <a:t>&lt;p&gt;You can use the ::first-line pseudo-element to add a special effect to the first line of a text. &lt;</a:t>
            </a:r>
            <a:r>
              <a:rPr lang="en-US" sz="1800" dirty="0" err="1"/>
              <a:t>br</a:t>
            </a:r>
            <a:r>
              <a:rPr lang="en-US" sz="1800" dirty="0"/>
              <a:t>&gt;Some more text. And even more, and more, and more, and more, and more.&lt;/p&gt;</a:t>
            </a:r>
          </a:p>
          <a:p>
            <a:pPr marL="0" indent="0">
              <a:buNone/>
            </a:pPr>
            <a:r>
              <a:rPr lang="en-US" sz="1800" dirty="0"/>
              <a:t>&lt;/body&gt; &lt;/html&gt;</a:t>
            </a:r>
          </a:p>
          <a:p>
            <a:pPr marL="0" indent="0">
              <a:buNone/>
            </a:pPr>
            <a:endParaRPr lang="en-AU" sz="1800" dirty="0"/>
          </a:p>
        </p:txBody>
      </p:sp>
      <p:sp>
        <p:nvSpPr>
          <p:cNvPr id="4" name="TextBox 3">
            <a:extLst>
              <a:ext uri="{FF2B5EF4-FFF2-40B4-BE49-F238E27FC236}">
                <a16:creationId xmlns:a16="http://schemas.microsoft.com/office/drawing/2014/main" id="{C0A9EDE9-15DF-4E6F-9927-DB41B53E4527}"/>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42455449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7E197-BDB6-4B4A-9EBD-4EA5354646B0}"/>
              </a:ext>
            </a:extLst>
          </p:cNvPr>
          <p:cNvSpPr>
            <a:spLocks noGrp="1"/>
          </p:cNvSpPr>
          <p:nvPr>
            <p:ph type="title"/>
          </p:nvPr>
        </p:nvSpPr>
        <p:spPr>
          <a:xfrm>
            <a:off x="457200" y="212726"/>
            <a:ext cx="10515600" cy="647246"/>
          </a:xfrm>
        </p:spPr>
        <p:txBody>
          <a:bodyPr/>
          <a:lstStyle/>
          <a:p>
            <a:r>
              <a:rPr lang="en-AU" sz="3600" dirty="0">
                <a:solidFill>
                  <a:schemeClr val="accent2">
                    <a:lumMod val="50000"/>
                  </a:schemeClr>
                </a:solidFill>
              </a:rPr>
              <a:t>::First-letter Pseudo-element</a:t>
            </a:r>
          </a:p>
        </p:txBody>
      </p:sp>
      <p:sp>
        <p:nvSpPr>
          <p:cNvPr id="3" name="Content Placeholder 2">
            <a:extLst>
              <a:ext uri="{FF2B5EF4-FFF2-40B4-BE49-F238E27FC236}">
                <a16:creationId xmlns:a16="http://schemas.microsoft.com/office/drawing/2014/main" id="{B67978E4-74A0-4C20-9882-CC68F138E843}"/>
              </a:ext>
            </a:extLst>
          </p:cNvPr>
          <p:cNvSpPr>
            <a:spLocks noGrp="1"/>
          </p:cNvSpPr>
          <p:nvPr>
            <p:ph idx="1"/>
          </p:nvPr>
        </p:nvSpPr>
        <p:spPr>
          <a:xfrm>
            <a:off x="2612571" y="1055914"/>
            <a:ext cx="6966857" cy="4542518"/>
          </a:xfrm>
        </p:spPr>
        <p:txBody>
          <a:bodyPr>
            <a:noAutofit/>
          </a:bodyPr>
          <a:lstStyle/>
          <a:p>
            <a:pPr marL="0" indent="0">
              <a:buNone/>
            </a:pPr>
            <a:r>
              <a:rPr lang="en-US" sz="1400" dirty="0"/>
              <a:t>&lt;!DOCTYPE html&gt;</a:t>
            </a:r>
          </a:p>
          <a:p>
            <a:pPr marL="0" indent="0">
              <a:buNone/>
            </a:pPr>
            <a:r>
              <a:rPr lang="en-US" sz="1400" dirty="0"/>
              <a:t>&lt;html&gt;</a:t>
            </a:r>
          </a:p>
          <a:p>
            <a:pPr marL="0" indent="0">
              <a:buNone/>
            </a:pPr>
            <a:r>
              <a:rPr lang="en-US" sz="1400" dirty="0"/>
              <a:t>&lt;head&gt;</a:t>
            </a:r>
          </a:p>
          <a:p>
            <a:pPr marL="0" indent="0">
              <a:buNone/>
            </a:pPr>
            <a:r>
              <a:rPr lang="en-US" sz="1400" dirty="0"/>
              <a:t>&lt;style&gt;</a:t>
            </a:r>
          </a:p>
          <a:p>
            <a:pPr marL="0" indent="0">
              <a:buNone/>
            </a:pPr>
            <a:r>
              <a:rPr lang="en-US" sz="1400" dirty="0"/>
              <a:t>p::first-letter {</a:t>
            </a:r>
          </a:p>
          <a:p>
            <a:pPr marL="0" indent="0">
              <a:buNone/>
            </a:pPr>
            <a:r>
              <a:rPr lang="en-US" sz="1400" dirty="0"/>
              <a:t>  color: Red;</a:t>
            </a:r>
          </a:p>
          <a:p>
            <a:pPr marL="0" indent="0">
              <a:buNone/>
            </a:pPr>
            <a:r>
              <a:rPr lang="en-US" sz="1400" dirty="0"/>
              <a:t>  font-size: xx-large;</a:t>
            </a:r>
          </a:p>
          <a:p>
            <a:pPr marL="0" indent="0">
              <a:buNone/>
            </a:pPr>
            <a:r>
              <a:rPr lang="en-US" sz="1400" dirty="0"/>
              <a:t>}</a:t>
            </a:r>
          </a:p>
          <a:p>
            <a:pPr marL="0" indent="0">
              <a:buNone/>
            </a:pPr>
            <a:r>
              <a:rPr lang="en-US" sz="1400" dirty="0"/>
              <a:t>&lt;/style&gt;</a:t>
            </a:r>
          </a:p>
          <a:p>
            <a:pPr marL="0" indent="0">
              <a:buNone/>
            </a:pPr>
            <a:r>
              <a:rPr lang="en-US" sz="1400" dirty="0"/>
              <a:t>&lt;/head&gt;</a:t>
            </a:r>
          </a:p>
          <a:p>
            <a:pPr marL="0" indent="0">
              <a:buNone/>
            </a:pPr>
            <a:r>
              <a:rPr lang="en-US" sz="1400" dirty="0"/>
              <a:t>&lt;body&gt;</a:t>
            </a:r>
          </a:p>
          <a:p>
            <a:pPr marL="0" indent="0">
              <a:buNone/>
            </a:pPr>
            <a:r>
              <a:rPr lang="en-US" sz="1400" dirty="0"/>
              <a:t>&lt;p&gt;You can use the ::first-letter pseudo-element to add a special effect to the first character of a text!&lt;/p&gt;</a:t>
            </a:r>
          </a:p>
          <a:p>
            <a:pPr marL="0" indent="0">
              <a:buNone/>
            </a:pPr>
            <a:r>
              <a:rPr lang="en-US" sz="1400" dirty="0"/>
              <a:t>&lt;/body&gt;</a:t>
            </a:r>
          </a:p>
          <a:p>
            <a:pPr marL="0" indent="0">
              <a:buNone/>
            </a:pPr>
            <a:r>
              <a:rPr lang="en-US" sz="1400" dirty="0"/>
              <a:t>&lt;/html&gt;</a:t>
            </a:r>
          </a:p>
          <a:p>
            <a:pPr marL="0" indent="0">
              <a:buNone/>
            </a:pPr>
            <a:endParaRPr lang="en-AU" sz="1400" dirty="0"/>
          </a:p>
        </p:txBody>
      </p:sp>
      <p:sp>
        <p:nvSpPr>
          <p:cNvPr id="4" name="TextBox 3">
            <a:extLst>
              <a:ext uri="{FF2B5EF4-FFF2-40B4-BE49-F238E27FC236}">
                <a16:creationId xmlns:a16="http://schemas.microsoft.com/office/drawing/2014/main" id="{C5629FB7-2632-4B1B-A4F2-BCEFDA2390D6}"/>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37308401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26CFD-383E-4A79-973C-63EAF107FE82}"/>
              </a:ext>
            </a:extLst>
          </p:cNvPr>
          <p:cNvSpPr>
            <a:spLocks noGrp="1"/>
          </p:cNvSpPr>
          <p:nvPr>
            <p:ph type="title"/>
          </p:nvPr>
        </p:nvSpPr>
        <p:spPr>
          <a:xfrm>
            <a:off x="435428" y="256269"/>
            <a:ext cx="10515600" cy="734332"/>
          </a:xfrm>
        </p:spPr>
        <p:txBody>
          <a:bodyPr/>
          <a:lstStyle/>
          <a:p>
            <a:r>
              <a:rPr lang="en-AU" sz="3600" dirty="0">
                <a:solidFill>
                  <a:schemeClr val="accent2">
                    <a:lumMod val="50000"/>
                  </a:schemeClr>
                </a:solidFill>
              </a:rPr>
              <a:t>:: Selection Pseudo-element</a:t>
            </a:r>
          </a:p>
        </p:txBody>
      </p:sp>
      <p:sp>
        <p:nvSpPr>
          <p:cNvPr id="3" name="Content Placeholder 2">
            <a:extLst>
              <a:ext uri="{FF2B5EF4-FFF2-40B4-BE49-F238E27FC236}">
                <a16:creationId xmlns:a16="http://schemas.microsoft.com/office/drawing/2014/main" id="{682302C3-92DF-4005-935C-4E89429AFE2E}"/>
              </a:ext>
            </a:extLst>
          </p:cNvPr>
          <p:cNvSpPr>
            <a:spLocks noGrp="1"/>
          </p:cNvSpPr>
          <p:nvPr>
            <p:ph idx="1"/>
          </p:nvPr>
        </p:nvSpPr>
        <p:spPr>
          <a:xfrm>
            <a:off x="674914" y="1324882"/>
            <a:ext cx="2275115" cy="3808956"/>
          </a:xfrm>
        </p:spPr>
        <p:txBody>
          <a:bodyPr>
            <a:noAutofit/>
          </a:bodyPr>
          <a:lstStyle/>
          <a:p>
            <a:pPr marL="0" indent="0">
              <a:buNone/>
            </a:pPr>
            <a:r>
              <a:rPr lang="en-US" sz="1800" dirty="0"/>
              <a:t>&lt;!DOCTYPE html&gt;</a:t>
            </a:r>
          </a:p>
          <a:p>
            <a:pPr marL="0" indent="0">
              <a:buNone/>
            </a:pPr>
            <a:r>
              <a:rPr lang="en-US" sz="1800" dirty="0"/>
              <a:t>&lt;html&gt;</a:t>
            </a:r>
          </a:p>
          <a:p>
            <a:pPr marL="0" indent="0">
              <a:buNone/>
            </a:pPr>
            <a:r>
              <a:rPr lang="en-US" sz="1800" dirty="0"/>
              <a:t>&lt;head&gt;</a:t>
            </a:r>
          </a:p>
          <a:p>
            <a:pPr marL="0" indent="0">
              <a:buNone/>
            </a:pPr>
            <a:r>
              <a:rPr lang="en-US" sz="1800" dirty="0"/>
              <a:t>&lt;style&gt;</a:t>
            </a:r>
          </a:p>
          <a:p>
            <a:pPr marL="0" indent="0">
              <a:buNone/>
            </a:pPr>
            <a:r>
              <a:rPr lang="en-US" sz="1800" dirty="0"/>
              <a:t>P::selection </a:t>
            </a:r>
          </a:p>
          <a:p>
            <a:pPr marL="0" indent="0">
              <a:buNone/>
            </a:pPr>
            <a:r>
              <a:rPr lang="en-US" sz="1800" dirty="0"/>
              <a:t>{</a:t>
            </a:r>
          </a:p>
          <a:p>
            <a:pPr marL="0" indent="0">
              <a:buNone/>
            </a:pPr>
            <a:r>
              <a:rPr lang="en-US" sz="1800" dirty="0"/>
              <a:t>  color: red;</a:t>
            </a:r>
          </a:p>
          <a:p>
            <a:pPr marL="0" indent="0">
              <a:buNone/>
            </a:pPr>
            <a:r>
              <a:rPr lang="en-US" sz="1800" dirty="0"/>
              <a:t>  background: yellow;</a:t>
            </a:r>
          </a:p>
          <a:p>
            <a:pPr marL="0" indent="0">
              <a:buNone/>
            </a:pPr>
            <a:r>
              <a:rPr lang="en-US" sz="1800" dirty="0"/>
              <a:t>}</a:t>
            </a:r>
          </a:p>
          <a:p>
            <a:pPr marL="0" indent="0">
              <a:buNone/>
            </a:pPr>
            <a:r>
              <a:rPr lang="en-US" sz="1800" dirty="0"/>
              <a:t>&lt;/style&gt;</a:t>
            </a:r>
          </a:p>
          <a:p>
            <a:pPr marL="0" indent="0">
              <a:buNone/>
            </a:pPr>
            <a:r>
              <a:rPr lang="en-US" sz="1800" dirty="0"/>
              <a:t>&lt;/head&gt;</a:t>
            </a:r>
          </a:p>
          <a:p>
            <a:pPr marL="0" indent="0">
              <a:buNone/>
            </a:pPr>
            <a:endParaRPr lang="en-AU" sz="1800" dirty="0"/>
          </a:p>
        </p:txBody>
      </p:sp>
      <p:sp>
        <p:nvSpPr>
          <p:cNvPr id="5" name="TextBox 4">
            <a:extLst>
              <a:ext uri="{FF2B5EF4-FFF2-40B4-BE49-F238E27FC236}">
                <a16:creationId xmlns:a16="http://schemas.microsoft.com/office/drawing/2014/main" id="{47DF9663-0806-4DEC-85F9-4FE353937AFB}"/>
              </a:ext>
            </a:extLst>
          </p:cNvPr>
          <p:cNvSpPr txBox="1"/>
          <p:nvPr/>
        </p:nvSpPr>
        <p:spPr>
          <a:xfrm>
            <a:off x="5105399" y="1685309"/>
            <a:ext cx="4386944" cy="2031325"/>
          </a:xfrm>
          <a:prstGeom prst="rect">
            <a:avLst/>
          </a:prstGeom>
          <a:noFill/>
        </p:spPr>
        <p:txBody>
          <a:bodyPr wrap="square">
            <a:spAutoFit/>
          </a:bodyPr>
          <a:lstStyle/>
          <a:p>
            <a:pPr marL="0" indent="0">
              <a:buNone/>
            </a:pPr>
            <a:r>
              <a:rPr lang="en-US" sz="1800" dirty="0"/>
              <a:t>&lt;body&gt;</a:t>
            </a:r>
          </a:p>
          <a:p>
            <a:pPr marL="0" indent="0">
              <a:buNone/>
            </a:pPr>
            <a:r>
              <a:rPr lang="en-US" sz="1800" dirty="0"/>
              <a:t>&lt;h1&gt;Select some text on this page:&lt;/h1&gt;</a:t>
            </a:r>
          </a:p>
          <a:p>
            <a:pPr marL="0" indent="0">
              <a:buNone/>
            </a:pPr>
            <a:r>
              <a:rPr lang="en-US" sz="1800" dirty="0"/>
              <a:t>&lt;p&gt;This is a paragraph.&lt;/p&gt;</a:t>
            </a:r>
          </a:p>
          <a:p>
            <a:pPr marL="0" indent="0">
              <a:buNone/>
            </a:pPr>
            <a:r>
              <a:rPr lang="en-US" sz="1800" dirty="0"/>
              <a:t>&lt;div&gt;This is some text in a div element.&lt;/div&gt;</a:t>
            </a:r>
          </a:p>
          <a:p>
            <a:pPr marL="0" indent="0">
              <a:buNone/>
            </a:pPr>
            <a:r>
              <a:rPr lang="en-US" sz="1800" dirty="0"/>
              <a:t>&lt;/body&gt;</a:t>
            </a:r>
          </a:p>
          <a:p>
            <a:pPr marL="0" indent="0">
              <a:buNone/>
            </a:pPr>
            <a:r>
              <a:rPr lang="en-US" sz="1800" dirty="0"/>
              <a:t>&lt;/html&gt;</a:t>
            </a:r>
          </a:p>
        </p:txBody>
      </p:sp>
      <p:sp>
        <p:nvSpPr>
          <p:cNvPr id="6" name="TextBox 5">
            <a:extLst>
              <a:ext uri="{FF2B5EF4-FFF2-40B4-BE49-F238E27FC236}">
                <a16:creationId xmlns:a16="http://schemas.microsoft.com/office/drawing/2014/main" id="{5499E6DC-A262-4FD8-8185-93CAF7D4A829}"/>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13876771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D03B9-B2E7-42BE-9F0D-7F41B4EAC592}"/>
              </a:ext>
            </a:extLst>
          </p:cNvPr>
          <p:cNvSpPr>
            <a:spLocks noGrp="1"/>
          </p:cNvSpPr>
          <p:nvPr>
            <p:ph type="title"/>
          </p:nvPr>
        </p:nvSpPr>
        <p:spPr>
          <a:xfrm>
            <a:off x="457200" y="267155"/>
            <a:ext cx="10515600" cy="647246"/>
          </a:xfrm>
        </p:spPr>
        <p:txBody>
          <a:bodyPr>
            <a:normAutofit fontScale="90000"/>
          </a:bodyPr>
          <a:lstStyle/>
          <a:p>
            <a:br>
              <a:rPr lang="en-AU" dirty="0"/>
            </a:br>
            <a:r>
              <a:rPr lang="en-AU" sz="4000" dirty="0">
                <a:solidFill>
                  <a:schemeClr val="accent2">
                    <a:lumMod val="50000"/>
                  </a:schemeClr>
                </a:solidFill>
              </a:rPr>
              <a:t>Pseudo-elements and CSS Classes</a:t>
            </a:r>
            <a:br>
              <a:rPr lang="en-AU" dirty="0"/>
            </a:br>
            <a:endParaRPr lang="en-AU" dirty="0"/>
          </a:p>
        </p:txBody>
      </p:sp>
      <p:sp>
        <p:nvSpPr>
          <p:cNvPr id="3" name="Content Placeholder 2">
            <a:extLst>
              <a:ext uri="{FF2B5EF4-FFF2-40B4-BE49-F238E27FC236}">
                <a16:creationId xmlns:a16="http://schemas.microsoft.com/office/drawing/2014/main" id="{5A4CDBB1-E41A-4FA5-B261-4CA01E715E1C}"/>
              </a:ext>
            </a:extLst>
          </p:cNvPr>
          <p:cNvSpPr>
            <a:spLocks noGrp="1"/>
          </p:cNvSpPr>
          <p:nvPr>
            <p:ph idx="1"/>
          </p:nvPr>
        </p:nvSpPr>
        <p:spPr>
          <a:xfrm>
            <a:off x="3037113" y="1085395"/>
            <a:ext cx="4637316" cy="4673148"/>
          </a:xfrm>
        </p:spPr>
        <p:txBody>
          <a:bodyPr>
            <a:noAutofit/>
          </a:bodyPr>
          <a:lstStyle/>
          <a:p>
            <a:pPr marL="0" indent="0">
              <a:buNone/>
            </a:pPr>
            <a:r>
              <a:rPr lang="en-US" sz="1200" dirty="0"/>
              <a:t>&lt;!DOCTYPE html&gt;</a:t>
            </a:r>
          </a:p>
          <a:p>
            <a:pPr marL="0" indent="0">
              <a:buNone/>
            </a:pPr>
            <a:r>
              <a:rPr lang="en-US" sz="1200" dirty="0"/>
              <a:t>&lt;html&gt;</a:t>
            </a:r>
          </a:p>
          <a:p>
            <a:pPr marL="0" indent="0">
              <a:buNone/>
            </a:pPr>
            <a:r>
              <a:rPr lang="en-US" sz="1200" dirty="0"/>
              <a:t>&lt;head&gt;</a:t>
            </a:r>
          </a:p>
          <a:p>
            <a:pPr marL="0" indent="0">
              <a:buNone/>
            </a:pPr>
            <a:r>
              <a:rPr lang="en-US" sz="1200" dirty="0"/>
              <a:t>&lt;style&gt;</a:t>
            </a:r>
          </a:p>
          <a:p>
            <a:pPr marL="0" indent="0">
              <a:buNone/>
            </a:pPr>
            <a:r>
              <a:rPr lang="en-US" sz="1200" dirty="0"/>
              <a:t>.intro::first-letter {</a:t>
            </a:r>
          </a:p>
          <a:p>
            <a:pPr marL="0" indent="0">
              <a:buNone/>
            </a:pPr>
            <a:r>
              <a:rPr lang="en-US" sz="1200" dirty="0"/>
              <a:t>  color: Red;</a:t>
            </a:r>
          </a:p>
          <a:p>
            <a:pPr marL="0" indent="0">
              <a:buNone/>
            </a:pPr>
            <a:r>
              <a:rPr lang="en-US" sz="1200" dirty="0"/>
              <a:t>  font-size: 200%; }  </a:t>
            </a:r>
          </a:p>
          <a:p>
            <a:pPr marL="0" indent="0">
              <a:buNone/>
            </a:pPr>
            <a:r>
              <a:rPr lang="en-US" sz="1200" dirty="0"/>
              <a:t>&lt;/style&gt;</a:t>
            </a:r>
          </a:p>
          <a:p>
            <a:pPr marL="0" indent="0">
              <a:buNone/>
            </a:pPr>
            <a:r>
              <a:rPr lang="en-US" sz="1200" dirty="0"/>
              <a:t>&lt;/head&gt;</a:t>
            </a:r>
          </a:p>
          <a:p>
            <a:pPr marL="0" indent="0">
              <a:buNone/>
            </a:pPr>
            <a:r>
              <a:rPr lang="en-US" sz="1200" dirty="0"/>
              <a:t>&lt;body&gt;</a:t>
            </a:r>
          </a:p>
          <a:p>
            <a:pPr marL="0" indent="0">
              <a:buNone/>
            </a:pPr>
            <a:r>
              <a:rPr lang="en-US" sz="1200" dirty="0"/>
              <a:t>&lt;p class="intro"&gt;This is an introduction.&lt;/p&gt;</a:t>
            </a:r>
          </a:p>
          <a:p>
            <a:pPr marL="0" indent="0">
              <a:buNone/>
            </a:pPr>
            <a:r>
              <a:rPr lang="en-US" sz="1200" dirty="0"/>
              <a:t>&lt;p&gt;This is a paragraph with some text. A bit more text even.&lt;/p&gt;</a:t>
            </a:r>
          </a:p>
          <a:p>
            <a:pPr marL="0" indent="0">
              <a:buNone/>
            </a:pPr>
            <a:r>
              <a:rPr lang="en-US" sz="1200" dirty="0"/>
              <a:t>&lt;/body&gt;</a:t>
            </a:r>
          </a:p>
          <a:p>
            <a:pPr marL="0" indent="0">
              <a:buNone/>
            </a:pPr>
            <a:r>
              <a:rPr lang="en-US" sz="1200" dirty="0"/>
              <a:t>&lt;/html&gt;</a:t>
            </a:r>
          </a:p>
          <a:p>
            <a:pPr marL="0" indent="0">
              <a:buNone/>
            </a:pPr>
            <a:endParaRPr lang="en-AU" sz="1200" dirty="0"/>
          </a:p>
        </p:txBody>
      </p:sp>
      <p:sp>
        <p:nvSpPr>
          <p:cNvPr id="4" name="TextBox 3">
            <a:extLst>
              <a:ext uri="{FF2B5EF4-FFF2-40B4-BE49-F238E27FC236}">
                <a16:creationId xmlns:a16="http://schemas.microsoft.com/office/drawing/2014/main" id="{5088D47F-F790-40EE-87B9-FAC659CC14AF}"/>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10447868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D8EBA-D768-4EE3-BDB1-FB8D19751CDA}"/>
              </a:ext>
            </a:extLst>
          </p:cNvPr>
          <p:cNvSpPr>
            <a:spLocks noGrp="1"/>
          </p:cNvSpPr>
          <p:nvPr>
            <p:ph type="title"/>
          </p:nvPr>
        </p:nvSpPr>
        <p:spPr>
          <a:xfrm>
            <a:off x="489856" y="267155"/>
            <a:ext cx="10515600" cy="723446"/>
          </a:xfrm>
        </p:spPr>
        <p:txBody>
          <a:bodyPr>
            <a:normAutofit/>
          </a:bodyPr>
          <a:lstStyle/>
          <a:p>
            <a:r>
              <a:rPr lang="en-AU" sz="4000" dirty="0">
                <a:solidFill>
                  <a:schemeClr val="accent2">
                    <a:lumMod val="50000"/>
                  </a:schemeClr>
                </a:solidFill>
              </a:rPr>
              <a:t>CSS Navigation Bar</a:t>
            </a:r>
          </a:p>
        </p:txBody>
      </p:sp>
      <p:sp>
        <p:nvSpPr>
          <p:cNvPr id="3" name="Content Placeholder 2">
            <a:extLst>
              <a:ext uri="{FF2B5EF4-FFF2-40B4-BE49-F238E27FC236}">
                <a16:creationId xmlns:a16="http://schemas.microsoft.com/office/drawing/2014/main" id="{15B77B44-E301-4989-A8F1-943B5367533B}"/>
              </a:ext>
            </a:extLst>
          </p:cNvPr>
          <p:cNvSpPr>
            <a:spLocks noGrp="1"/>
          </p:cNvSpPr>
          <p:nvPr>
            <p:ph idx="1"/>
          </p:nvPr>
        </p:nvSpPr>
        <p:spPr>
          <a:xfrm>
            <a:off x="397328" y="1259569"/>
            <a:ext cx="11397343" cy="3808956"/>
          </a:xfrm>
        </p:spPr>
        <p:txBody>
          <a:bodyPr/>
          <a:lstStyle/>
          <a:p>
            <a:pPr algn="l"/>
            <a:r>
              <a:rPr lang="en-US" b="0" i="0" dirty="0">
                <a:solidFill>
                  <a:srgbClr val="000000"/>
                </a:solidFill>
                <a:effectLst/>
              </a:rPr>
              <a:t>Having easy-to-use navigation is important for any web site.</a:t>
            </a:r>
          </a:p>
          <a:p>
            <a:pPr algn="l"/>
            <a:r>
              <a:rPr lang="en-US" b="0" i="0" dirty="0">
                <a:solidFill>
                  <a:srgbClr val="000000"/>
                </a:solidFill>
                <a:effectLst/>
              </a:rPr>
              <a:t>With CSS you can make good-looking navigation bars.</a:t>
            </a:r>
          </a:p>
          <a:p>
            <a:endParaRPr lang="en-AU" dirty="0"/>
          </a:p>
        </p:txBody>
      </p:sp>
      <p:pic>
        <p:nvPicPr>
          <p:cNvPr id="5" name="Picture 4">
            <a:extLst>
              <a:ext uri="{FF2B5EF4-FFF2-40B4-BE49-F238E27FC236}">
                <a16:creationId xmlns:a16="http://schemas.microsoft.com/office/drawing/2014/main" id="{9A448A47-3E1E-4476-BDBE-25F4D7D7F8BC}"/>
              </a:ext>
            </a:extLst>
          </p:cNvPr>
          <p:cNvPicPr>
            <a:picLocks noChangeAspect="1"/>
          </p:cNvPicPr>
          <p:nvPr/>
        </p:nvPicPr>
        <p:blipFill>
          <a:blip r:embed="rId3"/>
          <a:stretch>
            <a:fillRect/>
          </a:stretch>
        </p:blipFill>
        <p:spPr>
          <a:xfrm>
            <a:off x="304801" y="2588622"/>
            <a:ext cx="11306480" cy="2643188"/>
          </a:xfrm>
          <a:prstGeom prst="rect">
            <a:avLst/>
          </a:prstGeom>
        </p:spPr>
      </p:pic>
      <p:sp>
        <p:nvSpPr>
          <p:cNvPr id="6" name="TextBox 5">
            <a:extLst>
              <a:ext uri="{FF2B5EF4-FFF2-40B4-BE49-F238E27FC236}">
                <a16:creationId xmlns:a16="http://schemas.microsoft.com/office/drawing/2014/main" id="{C53013F9-E7A0-4221-B0BC-840FA4B43F7B}"/>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4963688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642A1-8A54-4830-A653-7FF7D99217B6}"/>
              </a:ext>
            </a:extLst>
          </p:cNvPr>
          <p:cNvSpPr>
            <a:spLocks noGrp="1"/>
          </p:cNvSpPr>
          <p:nvPr>
            <p:ph type="title"/>
          </p:nvPr>
        </p:nvSpPr>
        <p:spPr>
          <a:xfrm>
            <a:off x="631371" y="256268"/>
            <a:ext cx="10515600" cy="636361"/>
          </a:xfrm>
        </p:spPr>
        <p:txBody>
          <a:bodyPr>
            <a:normAutofit fontScale="90000"/>
          </a:bodyPr>
          <a:lstStyle/>
          <a:p>
            <a:r>
              <a:rPr lang="en-AU" sz="4000" dirty="0">
                <a:solidFill>
                  <a:schemeClr val="accent2">
                    <a:lumMod val="50000"/>
                  </a:schemeClr>
                </a:solidFill>
              </a:rPr>
              <a:t>Vertical Navigation Bar</a:t>
            </a:r>
          </a:p>
        </p:txBody>
      </p:sp>
      <p:sp>
        <p:nvSpPr>
          <p:cNvPr id="3" name="Content Placeholder 2">
            <a:extLst>
              <a:ext uri="{FF2B5EF4-FFF2-40B4-BE49-F238E27FC236}">
                <a16:creationId xmlns:a16="http://schemas.microsoft.com/office/drawing/2014/main" id="{FD9E1EEE-70F6-4144-A40D-061F790CAC56}"/>
              </a:ext>
            </a:extLst>
          </p:cNvPr>
          <p:cNvSpPr>
            <a:spLocks noGrp="1"/>
          </p:cNvSpPr>
          <p:nvPr>
            <p:ph idx="1"/>
          </p:nvPr>
        </p:nvSpPr>
        <p:spPr>
          <a:xfrm>
            <a:off x="293914" y="1096281"/>
            <a:ext cx="3875314" cy="4368347"/>
          </a:xfrm>
        </p:spPr>
        <p:txBody>
          <a:bodyPr>
            <a:noAutofit/>
          </a:bodyPr>
          <a:lstStyle/>
          <a:p>
            <a:pPr marL="0" indent="0">
              <a:buNone/>
            </a:pPr>
            <a:r>
              <a:rPr lang="en-US" sz="1200" dirty="0"/>
              <a:t>&lt;!DOCTYPE html&gt;</a:t>
            </a:r>
          </a:p>
          <a:p>
            <a:pPr marL="0" indent="0">
              <a:buNone/>
            </a:pPr>
            <a:r>
              <a:rPr lang="en-US" sz="1200" dirty="0"/>
              <a:t>&lt;html&gt;</a:t>
            </a:r>
          </a:p>
          <a:p>
            <a:pPr marL="0" indent="0">
              <a:buNone/>
            </a:pPr>
            <a:r>
              <a:rPr lang="en-US" sz="1200" dirty="0"/>
              <a:t>&lt;head&gt;</a:t>
            </a:r>
          </a:p>
          <a:p>
            <a:pPr marL="0" indent="0">
              <a:buNone/>
            </a:pPr>
            <a:r>
              <a:rPr lang="en-US" sz="1200" dirty="0"/>
              <a:t>&lt;style&gt;</a:t>
            </a:r>
          </a:p>
          <a:p>
            <a:pPr marL="0" indent="0">
              <a:buNone/>
            </a:pPr>
            <a:r>
              <a:rPr lang="en-US" sz="1200" dirty="0"/>
              <a:t>ul {</a:t>
            </a:r>
          </a:p>
          <a:p>
            <a:pPr marL="0" indent="0">
              <a:buNone/>
            </a:pPr>
            <a:r>
              <a:rPr lang="en-US" sz="1200" dirty="0"/>
              <a:t>  list-style-type: none;</a:t>
            </a:r>
          </a:p>
          <a:p>
            <a:pPr marL="0" indent="0">
              <a:buNone/>
            </a:pPr>
            <a:r>
              <a:rPr lang="en-US" sz="1200" dirty="0"/>
              <a:t>  margin: 20px;</a:t>
            </a:r>
          </a:p>
          <a:p>
            <a:pPr marL="0" indent="0">
              <a:buNone/>
            </a:pPr>
            <a:r>
              <a:rPr lang="en-US" sz="1200" dirty="0"/>
              <a:t>  padding: 20px;</a:t>
            </a:r>
          </a:p>
          <a:p>
            <a:pPr marL="0" indent="0">
              <a:buNone/>
            </a:pPr>
            <a:r>
              <a:rPr lang="en-US" sz="1200" dirty="0"/>
              <a:t>}</a:t>
            </a:r>
          </a:p>
          <a:p>
            <a:pPr marL="0" indent="0">
              <a:buNone/>
            </a:pPr>
            <a:r>
              <a:rPr lang="en-US" sz="1200" dirty="0"/>
              <a:t>li a {</a:t>
            </a:r>
          </a:p>
          <a:p>
            <a:pPr marL="0" indent="0">
              <a:buNone/>
            </a:pPr>
            <a:r>
              <a:rPr lang="en-US" sz="1200" dirty="0"/>
              <a:t>  display: block;</a:t>
            </a:r>
          </a:p>
          <a:p>
            <a:pPr marL="0" indent="0">
              <a:buNone/>
            </a:pPr>
            <a:r>
              <a:rPr lang="en-US" sz="1200" dirty="0"/>
              <a:t>  width: 60px;</a:t>
            </a:r>
          </a:p>
          <a:p>
            <a:pPr marL="0" indent="0">
              <a:buNone/>
            </a:pPr>
            <a:r>
              <a:rPr lang="en-US" sz="1200" dirty="0"/>
              <a:t>  background-color: Red;</a:t>
            </a:r>
          </a:p>
          <a:p>
            <a:pPr marL="0" indent="0">
              <a:buNone/>
            </a:pPr>
            <a:r>
              <a:rPr lang="en-US" sz="1200" dirty="0"/>
              <a:t>}</a:t>
            </a:r>
          </a:p>
          <a:p>
            <a:pPr marL="0" indent="0">
              <a:buNone/>
            </a:pPr>
            <a:r>
              <a:rPr lang="en-US" sz="1200" dirty="0"/>
              <a:t>&lt;/style&gt;</a:t>
            </a:r>
          </a:p>
          <a:p>
            <a:pPr marL="0" indent="0">
              <a:buNone/>
            </a:pPr>
            <a:endParaRPr lang="en-AU" sz="1200" dirty="0"/>
          </a:p>
        </p:txBody>
      </p:sp>
      <p:sp>
        <p:nvSpPr>
          <p:cNvPr id="5" name="TextBox 4">
            <a:extLst>
              <a:ext uri="{FF2B5EF4-FFF2-40B4-BE49-F238E27FC236}">
                <a16:creationId xmlns:a16="http://schemas.microsoft.com/office/drawing/2014/main" id="{B09A61F8-9E4A-45B1-87C7-92321E9792E9}"/>
              </a:ext>
            </a:extLst>
          </p:cNvPr>
          <p:cNvSpPr txBox="1"/>
          <p:nvPr/>
        </p:nvSpPr>
        <p:spPr>
          <a:xfrm>
            <a:off x="5294508" y="892629"/>
            <a:ext cx="6096000" cy="3416320"/>
          </a:xfrm>
          <a:prstGeom prst="rect">
            <a:avLst/>
          </a:prstGeom>
          <a:noFill/>
        </p:spPr>
        <p:txBody>
          <a:bodyPr wrap="square">
            <a:spAutoFit/>
          </a:bodyPr>
          <a:lstStyle/>
          <a:p>
            <a:pPr marL="0" indent="0">
              <a:buNone/>
            </a:pPr>
            <a:r>
              <a:rPr lang="en-US" sz="1800" dirty="0"/>
              <a:t>&lt;/head&gt;</a:t>
            </a:r>
          </a:p>
          <a:p>
            <a:pPr marL="0" indent="0">
              <a:buNone/>
            </a:pPr>
            <a:r>
              <a:rPr lang="en-US" sz="1800" dirty="0"/>
              <a:t>&lt;body&gt;</a:t>
            </a:r>
          </a:p>
          <a:p>
            <a:pPr marL="0" indent="0">
              <a:buNone/>
            </a:pPr>
            <a:endParaRPr lang="en-US" sz="1800" dirty="0"/>
          </a:p>
          <a:p>
            <a:pPr marL="0" indent="0">
              <a:buNone/>
            </a:pPr>
            <a:r>
              <a:rPr lang="en-US" sz="1800" dirty="0"/>
              <a:t>&lt;ul&gt;</a:t>
            </a:r>
          </a:p>
          <a:p>
            <a:pPr marL="0" indent="0">
              <a:buNone/>
            </a:pPr>
            <a:r>
              <a:rPr lang="en-US" sz="1800" dirty="0"/>
              <a:t>  &lt;li&gt;&lt;a </a:t>
            </a:r>
            <a:r>
              <a:rPr lang="en-US" sz="1800" dirty="0" err="1"/>
              <a:t>href</a:t>
            </a:r>
            <a:r>
              <a:rPr lang="en-US" sz="1800" dirty="0"/>
              <a:t>="#home"&gt;Home&lt;/a&gt;&lt;/li&gt;</a:t>
            </a:r>
          </a:p>
          <a:p>
            <a:pPr marL="0" indent="0">
              <a:buNone/>
            </a:pPr>
            <a:r>
              <a:rPr lang="en-US" sz="1800" dirty="0"/>
              <a:t>  &lt;li&gt;&lt;a </a:t>
            </a:r>
            <a:r>
              <a:rPr lang="en-US" sz="1800" dirty="0" err="1"/>
              <a:t>href</a:t>
            </a:r>
            <a:r>
              <a:rPr lang="en-US" sz="1800" dirty="0"/>
              <a:t>="#news"&gt;News&lt;/a&gt;&lt;/li&gt;</a:t>
            </a:r>
          </a:p>
          <a:p>
            <a:pPr marL="0" indent="0">
              <a:buNone/>
            </a:pPr>
            <a:r>
              <a:rPr lang="en-US" sz="1800" dirty="0"/>
              <a:t>  &lt;li&gt;&lt;a </a:t>
            </a:r>
            <a:r>
              <a:rPr lang="en-US" sz="1800" dirty="0" err="1"/>
              <a:t>href</a:t>
            </a:r>
            <a:r>
              <a:rPr lang="en-US" sz="1800" dirty="0"/>
              <a:t>="#contact"&gt;Contact&lt;/a&gt;&lt;/li&gt;</a:t>
            </a:r>
          </a:p>
          <a:p>
            <a:pPr marL="0" indent="0">
              <a:buNone/>
            </a:pPr>
            <a:r>
              <a:rPr lang="en-US" sz="1800" dirty="0"/>
              <a:t>  &lt;li&gt;&lt;a </a:t>
            </a:r>
            <a:r>
              <a:rPr lang="en-US" sz="1800" dirty="0" err="1"/>
              <a:t>href</a:t>
            </a:r>
            <a:r>
              <a:rPr lang="en-US" sz="1800" dirty="0"/>
              <a:t>="#about"&gt;About&lt;/a&gt;&lt;/li&gt;</a:t>
            </a:r>
          </a:p>
          <a:p>
            <a:pPr marL="0" indent="0">
              <a:buNone/>
            </a:pPr>
            <a:r>
              <a:rPr lang="en-US" sz="1800" dirty="0"/>
              <a:t>&lt;/ul&gt;</a:t>
            </a:r>
          </a:p>
          <a:p>
            <a:pPr marL="0" indent="0">
              <a:buNone/>
            </a:pPr>
            <a:endParaRPr lang="en-US" sz="1800" dirty="0"/>
          </a:p>
          <a:p>
            <a:pPr marL="0" indent="0">
              <a:buNone/>
            </a:pPr>
            <a:r>
              <a:rPr lang="en-US" sz="1800" dirty="0"/>
              <a:t>&lt;/body&gt;</a:t>
            </a:r>
          </a:p>
          <a:p>
            <a:pPr marL="0" indent="0">
              <a:buNone/>
            </a:pPr>
            <a:r>
              <a:rPr lang="en-US" sz="1800" dirty="0"/>
              <a:t>&lt;/html&gt;</a:t>
            </a:r>
          </a:p>
        </p:txBody>
      </p:sp>
      <p:sp>
        <p:nvSpPr>
          <p:cNvPr id="6" name="TextBox 5">
            <a:extLst>
              <a:ext uri="{FF2B5EF4-FFF2-40B4-BE49-F238E27FC236}">
                <a16:creationId xmlns:a16="http://schemas.microsoft.com/office/drawing/2014/main" id="{341B3749-D849-436D-BD46-5878A623E553}"/>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13542264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07271-EFBF-4E92-B69F-BB152585EC14}"/>
              </a:ext>
            </a:extLst>
          </p:cNvPr>
          <p:cNvSpPr>
            <a:spLocks noGrp="1"/>
          </p:cNvSpPr>
          <p:nvPr>
            <p:ph type="title"/>
          </p:nvPr>
        </p:nvSpPr>
        <p:spPr>
          <a:xfrm>
            <a:off x="435429" y="169183"/>
            <a:ext cx="10515600" cy="592818"/>
          </a:xfrm>
        </p:spPr>
        <p:txBody>
          <a:bodyPr>
            <a:normAutofit/>
          </a:bodyPr>
          <a:lstStyle/>
          <a:p>
            <a:r>
              <a:rPr lang="en-AU" sz="3600" dirty="0">
                <a:solidFill>
                  <a:schemeClr val="accent2">
                    <a:lumMod val="50000"/>
                  </a:schemeClr>
                </a:solidFill>
              </a:rPr>
              <a:t>Vertical Navigation Bar Examples</a:t>
            </a:r>
          </a:p>
        </p:txBody>
      </p:sp>
      <p:sp>
        <p:nvSpPr>
          <p:cNvPr id="3" name="Content Placeholder 2">
            <a:extLst>
              <a:ext uri="{FF2B5EF4-FFF2-40B4-BE49-F238E27FC236}">
                <a16:creationId xmlns:a16="http://schemas.microsoft.com/office/drawing/2014/main" id="{3EF62DF5-7859-4338-8746-C36C98995381}"/>
              </a:ext>
            </a:extLst>
          </p:cNvPr>
          <p:cNvSpPr>
            <a:spLocks noGrp="1"/>
          </p:cNvSpPr>
          <p:nvPr>
            <p:ph idx="1"/>
          </p:nvPr>
        </p:nvSpPr>
        <p:spPr>
          <a:xfrm>
            <a:off x="2209800" y="1567541"/>
            <a:ext cx="3407229" cy="4615543"/>
          </a:xfrm>
        </p:spPr>
        <p:txBody>
          <a:bodyPr>
            <a:noAutofit/>
          </a:bodyPr>
          <a:lstStyle/>
          <a:p>
            <a:pPr marL="0" indent="0">
              <a:buNone/>
            </a:pPr>
            <a:r>
              <a:rPr lang="en-AU" sz="1200" dirty="0"/>
              <a:t>&lt;!DOCTYPE html&gt;</a:t>
            </a:r>
          </a:p>
          <a:p>
            <a:pPr marL="0" indent="0">
              <a:buNone/>
            </a:pPr>
            <a:r>
              <a:rPr lang="en-AU" sz="1200" dirty="0"/>
              <a:t>&lt;html&gt;</a:t>
            </a:r>
          </a:p>
          <a:p>
            <a:pPr marL="0" indent="0">
              <a:buNone/>
            </a:pPr>
            <a:r>
              <a:rPr lang="en-AU" sz="1200" dirty="0"/>
              <a:t>&lt;head&gt;</a:t>
            </a:r>
          </a:p>
          <a:p>
            <a:pPr marL="0" indent="0">
              <a:buNone/>
            </a:pPr>
            <a:r>
              <a:rPr lang="en-AU" sz="1200" dirty="0"/>
              <a:t>&lt;style&gt;</a:t>
            </a:r>
          </a:p>
          <a:p>
            <a:pPr marL="0" indent="0">
              <a:buNone/>
            </a:pPr>
            <a:r>
              <a:rPr lang="en-AU" sz="1200" dirty="0"/>
              <a:t>ul {</a:t>
            </a:r>
          </a:p>
          <a:p>
            <a:pPr marL="0" indent="0">
              <a:buNone/>
            </a:pPr>
            <a:r>
              <a:rPr lang="en-AU" sz="1200" dirty="0"/>
              <a:t>  list-style-type: none;</a:t>
            </a:r>
          </a:p>
          <a:p>
            <a:pPr marL="0" indent="0">
              <a:buNone/>
            </a:pPr>
            <a:r>
              <a:rPr lang="en-AU" sz="1200" dirty="0"/>
              <a:t>  margin: 0;</a:t>
            </a:r>
          </a:p>
          <a:p>
            <a:pPr marL="0" indent="0">
              <a:buNone/>
            </a:pPr>
            <a:r>
              <a:rPr lang="en-AU" sz="1200" dirty="0"/>
              <a:t>  padding: 0;</a:t>
            </a:r>
          </a:p>
          <a:p>
            <a:pPr marL="0" indent="0">
              <a:buNone/>
            </a:pPr>
            <a:r>
              <a:rPr lang="en-AU" sz="1200" dirty="0"/>
              <a:t>  width: 100px;</a:t>
            </a:r>
          </a:p>
          <a:p>
            <a:pPr marL="0" indent="0">
              <a:buNone/>
            </a:pPr>
            <a:r>
              <a:rPr lang="en-AU" sz="1200" dirty="0"/>
              <a:t>  background-</a:t>
            </a:r>
            <a:r>
              <a:rPr lang="en-AU" sz="1200" dirty="0" err="1"/>
              <a:t>color</a:t>
            </a:r>
            <a:r>
              <a:rPr lang="en-AU" sz="1200" dirty="0"/>
              <a:t>: Black;</a:t>
            </a:r>
          </a:p>
          <a:p>
            <a:pPr marL="0" indent="0">
              <a:buNone/>
            </a:pPr>
            <a:r>
              <a:rPr lang="en-AU" sz="1200" dirty="0"/>
              <a:t>}</a:t>
            </a:r>
          </a:p>
          <a:p>
            <a:pPr marL="0" indent="0">
              <a:buNone/>
            </a:pPr>
            <a:endParaRPr lang="en-AU" sz="1200" dirty="0"/>
          </a:p>
          <a:p>
            <a:pPr marL="0" indent="0">
              <a:buNone/>
            </a:pPr>
            <a:endParaRPr lang="en-AU" sz="1200" dirty="0"/>
          </a:p>
          <a:p>
            <a:pPr marL="0" indent="0">
              <a:buNone/>
            </a:pPr>
            <a:endParaRPr lang="en-AU" sz="1200" dirty="0"/>
          </a:p>
        </p:txBody>
      </p:sp>
      <p:sp>
        <p:nvSpPr>
          <p:cNvPr id="5" name="TextBox 4">
            <a:extLst>
              <a:ext uri="{FF2B5EF4-FFF2-40B4-BE49-F238E27FC236}">
                <a16:creationId xmlns:a16="http://schemas.microsoft.com/office/drawing/2014/main" id="{F640DDD1-E671-45FE-B879-576E012F3467}"/>
              </a:ext>
            </a:extLst>
          </p:cNvPr>
          <p:cNvSpPr txBox="1"/>
          <p:nvPr/>
        </p:nvSpPr>
        <p:spPr>
          <a:xfrm>
            <a:off x="6487886" y="1690062"/>
            <a:ext cx="4147458" cy="3477875"/>
          </a:xfrm>
          <a:prstGeom prst="rect">
            <a:avLst/>
          </a:prstGeom>
          <a:noFill/>
        </p:spPr>
        <p:txBody>
          <a:bodyPr wrap="square">
            <a:spAutoFit/>
          </a:bodyPr>
          <a:lstStyle/>
          <a:p>
            <a:pPr marL="0" indent="0">
              <a:buNone/>
            </a:pPr>
            <a:r>
              <a:rPr lang="en-AU" sz="1100" dirty="0"/>
              <a:t>li a {</a:t>
            </a:r>
          </a:p>
          <a:p>
            <a:pPr marL="0" indent="0">
              <a:buNone/>
            </a:pPr>
            <a:r>
              <a:rPr lang="en-AU" sz="1100" dirty="0"/>
              <a:t>  display: block;</a:t>
            </a:r>
          </a:p>
          <a:p>
            <a:pPr marL="0" indent="0">
              <a:buNone/>
            </a:pPr>
            <a:r>
              <a:rPr lang="en-AU" sz="1100" dirty="0"/>
              <a:t>  </a:t>
            </a:r>
            <a:r>
              <a:rPr lang="en-AU" sz="1100" dirty="0" err="1"/>
              <a:t>color</a:t>
            </a:r>
            <a:r>
              <a:rPr lang="en-AU" sz="1100" dirty="0"/>
              <a:t>: Red;</a:t>
            </a:r>
          </a:p>
          <a:p>
            <a:pPr marL="0" indent="0">
              <a:buNone/>
            </a:pPr>
            <a:r>
              <a:rPr lang="en-AU" sz="1100" dirty="0"/>
              <a:t>  padding: 20px;</a:t>
            </a:r>
          </a:p>
          <a:p>
            <a:pPr marL="0" indent="0">
              <a:buNone/>
            </a:pPr>
            <a:r>
              <a:rPr lang="en-AU" sz="1100" dirty="0"/>
              <a:t>  text-decoration: underline;}</a:t>
            </a:r>
          </a:p>
          <a:p>
            <a:pPr marL="0" indent="0">
              <a:buNone/>
            </a:pPr>
            <a:r>
              <a:rPr lang="en-AU" sz="1100" dirty="0"/>
              <a:t>&lt;/style&gt;</a:t>
            </a:r>
          </a:p>
          <a:p>
            <a:pPr marL="0" indent="0">
              <a:buNone/>
            </a:pPr>
            <a:r>
              <a:rPr lang="en-AU" sz="1100" dirty="0"/>
              <a:t>&lt;/head&gt;</a:t>
            </a:r>
          </a:p>
          <a:p>
            <a:pPr marL="0" indent="0">
              <a:buNone/>
            </a:pPr>
            <a:r>
              <a:rPr lang="en-AU" sz="1100" dirty="0"/>
              <a:t>&lt;body&gt;</a:t>
            </a:r>
          </a:p>
          <a:p>
            <a:pPr marL="0" indent="0">
              <a:buNone/>
            </a:pPr>
            <a:endParaRPr lang="en-AU" sz="1100" dirty="0"/>
          </a:p>
          <a:p>
            <a:pPr marL="0" indent="0">
              <a:buNone/>
            </a:pPr>
            <a:r>
              <a:rPr lang="en-AU" sz="1100" dirty="0"/>
              <a:t>&lt;h2&gt;Vertical Navigation Bar&lt;/h2&gt;</a:t>
            </a:r>
          </a:p>
          <a:p>
            <a:pPr marL="0" indent="0">
              <a:buNone/>
            </a:pPr>
            <a:endParaRPr lang="en-AU" sz="1100" dirty="0"/>
          </a:p>
          <a:p>
            <a:pPr marL="0" indent="0">
              <a:buNone/>
            </a:pPr>
            <a:r>
              <a:rPr lang="en-AU" sz="1100" dirty="0"/>
              <a:t>&lt;ul&gt;</a:t>
            </a:r>
          </a:p>
          <a:p>
            <a:pPr marL="0" indent="0">
              <a:buNone/>
            </a:pPr>
            <a:r>
              <a:rPr lang="en-AU" sz="1100" dirty="0"/>
              <a:t>  &lt;li&gt;&lt;a </a:t>
            </a:r>
            <a:r>
              <a:rPr lang="en-AU" sz="1100" dirty="0" err="1"/>
              <a:t>href</a:t>
            </a:r>
            <a:r>
              <a:rPr lang="en-AU" sz="1100" dirty="0"/>
              <a:t>="#home"&gt;Home&lt;/a&gt;&lt;/li&gt;</a:t>
            </a:r>
          </a:p>
          <a:p>
            <a:pPr marL="0" indent="0">
              <a:buNone/>
            </a:pPr>
            <a:r>
              <a:rPr lang="en-AU" sz="1100" dirty="0"/>
              <a:t>  &lt;li&gt;&lt;a </a:t>
            </a:r>
            <a:r>
              <a:rPr lang="en-AU" sz="1100" dirty="0" err="1"/>
              <a:t>href</a:t>
            </a:r>
            <a:r>
              <a:rPr lang="en-AU" sz="1100" dirty="0"/>
              <a:t>="#news"&gt;News&lt;/a&gt;&lt;/li&gt;</a:t>
            </a:r>
          </a:p>
          <a:p>
            <a:pPr marL="0" indent="0">
              <a:buNone/>
            </a:pPr>
            <a:r>
              <a:rPr lang="en-AU" sz="1100" dirty="0"/>
              <a:t>  &lt;li&gt;&lt;a </a:t>
            </a:r>
            <a:r>
              <a:rPr lang="en-AU" sz="1100" dirty="0" err="1"/>
              <a:t>href</a:t>
            </a:r>
            <a:r>
              <a:rPr lang="en-AU" sz="1100" dirty="0"/>
              <a:t>="#contact"&gt;Contact&lt;/a&gt;&lt;/li&gt;</a:t>
            </a:r>
          </a:p>
          <a:p>
            <a:pPr marL="0" indent="0">
              <a:buNone/>
            </a:pPr>
            <a:r>
              <a:rPr lang="en-AU" sz="1100" dirty="0"/>
              <a:t>  &lt;li&gt;&lt;a </a:t>
            </a:r>
            <a:r>
              <a:rPr lang="en-AU" sz="1100" dirty="0" err="1"/>
              <a:t>href</a:t>
            </a:r>
            <a:r>
              <a:rPr lang="en-AU" sz="1100" dirty="0"/>
              <a:t>="#about"&gt;About&lt;/a&gt;&lt;/li&gt;</a:t>
            </a:r>
          </a:p>
          <a:p>
            <a:pPr marL="0" indent="0">
              <a:buNone/>
            </a:pPr>
            <a:r>
              <a:rPr lang="en-AU" sz="1100" dirty="0"/>
              <a:t>&lt;/ul&gt;</a:t>
            </a:r>
          </a:p>
          <a:p>
            <a:pPr marL="0" indent="0">
              <a:buNone/>
            </a:pPr>
            <a:endParaRPr lang="en-AU" sz="1100" dirty="0"/>
          </a:p>
          <a:p>
            <a:pPr marL="0" indent="0">
              <a:buNone/>
            </a:pPr>
            <a:r>
              <a:rPr lang="en-AU" sz="1100" dirty="0"/>
              <a:t>&lt;/body&gt;</a:t>
            </a:r>
          </a:p>
          <a:p>
            <a:pPr marL="0" indent="0">
              <a:buNone/>
            </a:pPr>
            <a:r>
              <a:rPr lang="en-AU" sz="1100" dirty="0"/>
              <a:t>&lt;/html&gt;</a:t>
            </a:r>
          </a:p>
        </p:txBody>
      </p:sp>
      <p:sp>
        <p:nvSpPr>
          <p:cNvPr id="6" name="TextBox 5">
            <a:extLst>
              <a:ext uri="{FF2B5EF4-FFF2-40B4-BE49-F238E27FC236}">
                <a16:creationId xmlns:a16="http://schemas.microsoft.com/office/drawing/2014/main" id="{6ECE39C3-0057-4A44-A50A-39B1C7FFACD8}"/>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7644549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3D77D-D42A-40BC-BF43-4D49392E076A}"/>
              </a:ext>
            </a:extLst>
          </p:cNvPr>
          <p:cNvSpPr>
            <a:spLocks noGrp="1"/>
          </p:cNvSpPr>
          <p:nvPr>
            <p:ph type="title"/>
          </p:nvPr>
        </p:nvSpPr>
        <p:spPr>
          <a:xfrm>
            <a:off x="838200" y="365126"/>
            <a:ext cx="10515600" cy="516618"/>
          </a:xfrm>
        </p:spPr>
        <p:txBody>
          <a:bodyPr>
            <a:normAutofit fontScale="90000"/>
          </a:bodyPr>
          <a:lstStyle/>
          <a:p>
            <a:r>
              <a:rPr lang="en-AU" sz="4400" dirty="0">
                <a:solidFill>
                  <a:schemeClr val="accent2">
                    <a:lumMod val="50000"/>
                  </a:schemeClr>
                </a:solidFill>
              </a:rPr>
              <a:t>Horizontal Navigation Bar</a:t>
            </a:r>
            <a:endParaRPr lang="en-AU" dirty="0"/>
          </a:p>
        </p:txBody>
      </p:sp>
      <p:sp>
        <p:nvSpPr>
          <p:cNvPr id="3" name="Content Placeholder 2">
            <a:extLst>
              <a:ext uri="{FF2B5EF4-FFF2-40B4-BE49-F238E27FC236}">
                <a16:creationId xmlns:a16="http://schemas.microsoft.com/office/drawing/2014/main" id="{4F6D86CB-DCB3-46B8-9589-F1E81587BBCA}"/>
              </a:ext>
            </a:extLst>
          </p:cNvPr>
          <p:cNvSpPr>
            <a:spLocks noGrp="1"/>
          </p:cNvSpPr>
          <p:nvPr>
            <p:ph idx="1"/>
          </p:nvPr>
        </p:nvSpPr>
        <p:spPr>
          <a:xfrm>
            <a:off x="1763485" y="1174069"/>
            <a:ext cx="3548743" cy="4509861"/>
          </a:xfrm>
        </p:spPr>
        <p:txBody>
          <a:bodyPr>
            <a:noAutofit/>
          </a:bodyPr>
          <a:lstStyle/>
          <a:p>
            <a:pPr marL="0" indent="0">
              <a:buNone/>
            </a:pPr>
            <a:r>
              <a:rPr lang="en-AU" sz="1400" dirty="0"/>
              <a:t>&lt;!DOCTYPE html&gt;</a:t>
            </a:r>
          </a:p>
          <a:p>
            <a:pPr marL="0" indent="0">
              <a:buNone/>
            </a:pPr>
            <a:r>
              <a:rPr lang="en-AU" sz="1400" dirty="0"/>
              <a:t>&lt;html&gt;</a:t>
            </a:r>
          </a:p>
          <a:p>
            <a:pPr marL="0" indent="0">
              <a:buNone/>
            </a:pPr>
            <a:r>
              <a:rPr lang="en-AU" sz="1400" dirty="0"/>
              <a:t>&lt;head&gt;</a:t>
            </a:r>
          </a:p>
          <a:p>
            <a:pPr marL="0" indent="0">
              <a:buNone/>
            </a:pPr>
            <a:r>
              <a:rPr lang="en-AU" sz="1400" dirty="0"/>
              <a:t>&lt;style&gt;</a:t>
            </a:r>
          </a:p>
          <a:p>
            <a:pPr marL="0" indent="0">
              <a:buNone/>
            </a:pPr>
            <a:r>
              <a:rPr lang="en-AU" sz="1400" dirty="0"/>
              <a:t>ul {</a:t>
            </a:r>
          </a:p>
          <a:p>
            <a:pPr marL="0" indent="0">
              <a:buNone/>
            </a:pPr>
            <a:r>
              <a:rPr lang="en-AU" sz="1400" dirty="0"/>
              <a:t>  list-style-type: none;</a:t>
            </a:r>
          </a:p>
          <a:p>
            <a:pPr marL="0" indent="0">
              <a:buNone/>
            </a:pPr>
            <a:r>
              <a:rPr lang="en-AU" sz="1400" dirty="0"/>
              <a:t>  margin: 0;</a:t>
            </a:r>
          </a:p>
          <a:p>
            <a:pPr marL="0" indent="0">
              <a:buNone/>
            </a:pPr>
            <a:r>
              <a:rPr lang="en-AU" sz="1400" dirty="0"/>
              <a:t>  padding: 0;</a:t>
            </a:r>
          </a:p>
          <a:p>
            <a:pPr marL="0" indent="0">
              <a:buNone/>
            </a:pPr>
            <a:r>
              <a:rPr lang="en-AU" sz="1400" dirty="0"/>
              <a:t>}</a:t>
            </a:r>
          </a:p>
          <a:p>
            <a:pPr marL="0" indent="0">
              <a:buNone/>
            </a:pPr>
            <a:r>
              <a:rPr lang="en-AU" sz="1400" dirty="0"/>
              <a:t>li {</a:t>
            </a:r>
          </a:p>
          <a:p>
            <a:pPr marL="0" indent="0">
              <a:buNone/>
            </a:pPr>
            <a:r>
              <a:rPr lang="en-AU" sz="1400" dirty="0"/>
              <a:t>  display: inline;</a:t>
            </a:r>
          </a:p>
          <a:p>
            <a:pPr marL="0" indent="0">
              <a:buNone/>
            </a:pPr>
            <a:r>
              <a:rPr lang="en-AU" sz="1400" dirty="0"/>
              <a:t>}</a:t>
            </a:r>
          </a:p>
          <a:p>
            <a:pPr marL="0" indent="0">
              <a:buNone/>
            </a:pPr>
            <a:r>
              <a:rPr lang="en-AU" sz="1400" dirty="0"/>
              <a:t>&lt;/style&gt;</a:t>
            </a:r>
          </a:p>
          <a:p>
            <a:pPr marL="0" indent="0">
              <a:buNone/>
            </a:pPr>
            <a:r>
              <a:rPr lang="en-AU" sz="1400" dirty="0"/>
              <a:t>&lt;/head&gt;</a:t>
            </a:r>
          </a:p>
          <a:p>
            <a:pPr marL="0" indent="0">
              <a:buNone/>
            </a:pPr>
            <a:endParaRPr lang="en-AU" sz="1400" dirty="0"/>
          </a:p>
        </p:txBody>
      </p:sp>
      <p:sp>
        <p:nvSpPr>
          <p:cNvPr id="5" name="TextBox 4">
            <a:extLst>
              <a:ext uri="{FF2B5EF4-FFF2-40B4-BE49-F238E27FC236}">
                <a16:creationId xmlns:a16="http://schemas.microsoft.com/office/drawing/2014/main" id="{C0D50E74-704D-4C70-8C5D-40024843370B}"/>
              </a:ext>
            </a:extLst>
          </p:cNvPr>
          <p:cNvSpPr txBox="1"/>
          <p:nvPr/>
        </p:nvSpPr>
        <p:spPr>
          <a:xfrm>
            <a:off x="6438899" y="1434798"/>
            <a:ext cx="4365171" cy="2523768"/>
          </a:xfrm>
          <a:prstGeom prst="rect">
            <a:avLst/>
          </a:prstGeom>
          <a:noFill/>
        </p:spPr>
        <p:txBody>
          <a:bodyPr wrap="square">
            <a:spAutoFit/>
          </a:bodyPr>
          <a:lstStyle/>
          <a:p>
            <a:pPr marL="0" indent="0">
              <a:buNone/>
            </a:pPr>
            <a:r>
              <a:rPr lang="en-AU" sz="1800" dirty="0"/>
              <a:t>&lt;</a:t>
            </a:r>
            <a:r>
              <a:rPr lang="en-AU" sz="1400" dirty="0"/>
              <a:t>body&gt;</a:t>
            </a:r>
          </a:p>
          <a:p>
            <a:pPr marL="0" indent="0">
              <a:buNone/>
            </a:pPr>
            <a:endParaRPr lang="en-AU" sz="1400" dirty="0"/>
          </a:p>
          <a:p>
            <a:pPr marL="0" indent="0">
              <a:buNone/>
            </a:pPr>
            <a:r>
              <a:rPr lang="en-AU" sz="1400" dirty="0"/>
              <a:t>&lt;ul&gt;</a:t>
            </a:r>
          </a:p>
          <a:p>
            <a:pPr marL="0" indent="0">
              <a:buNone/>
            </a:pPr>
            <a:r>
              <a:rPr lang="en-AU" sz="1400" dirty="0"/>
              <a:t>  &lt;li&gt;&lt;a </a:t>
            </a:r>
            <a:r>
              <a:rPr lang="en-AU" sz="1400" dirty="0" err="1"/>
              <a:t>href</a:t>
            </a:r>
            <a:r>
              <a:rPr lang="en-AU" sz="1400" dirty="0"/>
              <a:t>="#home"&gt;Home&lt;/a&gt;&lt;/li&gt;</a:t>
            </a:r>
          </a:p>
          <a:p>
            <a:pPr marL="0" indent="0">
              <a:buNone/>
            </a:pPr>
            <a:r>
              <a:rPr lang="en-AU" sz="1400" dirty="0"/>
              <a:t>  &lt;li&gt;&lt;a </a:t>
            </a:r>
            <a:r>
              <a:rPr lang="en-AU" sz="1400" dirty="0" err="1"/>
              <a:t>href</a:t>
            </a:r>
            <a:r>
              <a:rPr lang="en-AU" sz="1400" dirty="0"/>
              <a:t>="#news"&gt;News&lt;/a&gt;&lt;/li&gt;</a:t>
            </a:r>
          </a:p>
          <a:p>
            <a:pPr marL="0" indent="0">
              <a:buNone/>
            </a:pPr>
            <a:r>
              <a:rPr lang="en-AU" sz="1400" dirty="0"/>
              <a:t>  &lt;li&gt;&lt;a </a:t>
            </a:r>
            <a:r>
              <a:rPr lang="en-AU" sz="1400" dirty="0" err="1"/>
              <a:t>href</a:t>
            </a:r>
            <a:r>
              <a:rPr lang="en-AU" sz="1400" dirty="0"/>
              <a:t>="#contact"&gt;Contact&lt;/a&gt;&lt;/li&gt;</a:t>
            </a:r>
          </a:p>
          <a:p>
            <a:pPr marL="0" indent="0">
              <a:buNone/>
            </a:pPr>
            <a:r>
              <a:rPr lang="en-AU" sz="1400" dirty="0"/>
              <a:t>  &lt;li&gt;&lt;a </a:t>
            </a:r>
            <a:r>
              <a:rPr lang="en-AU" sz="1400" dirty="0" err="1"/>
              <a:t>href</a:t>
            </a:r>
            <a:r>
              <a:rPr lang="en-AU" sz="1400" dirty="0"/>
              <a:t>="#about"&gt;About&lt;/a&gt;&lt;/li&gt;</a:t>
            </a:r>
          </a:p>
          <a:p>
            <a:pPr marL="0" indent="0">
              <a:buNone/>
            </a:pPr>
            <a:r>
              <a:rPr lang="en-AU" sz="1400" dirty="0"/>
              <a:t>&lt;/ul&gt;</a:t>
            </a:r>
          </a:p>
          <a:p>
            <a:pPr marL="0" indent="0">
              <a:buNone/>
            </a:pPr>
            <a:endParaRPr lang="en-AU" sz="1400" dirty="0"/>
          </a:p>
          <a:p>
            <a:pPr marL="0" indent="0">
              <a:buNone/>
            </a:pPr>
            <a:r>
              <a:rPr lang="en-AU" sz="1400" dirty="0"/>
              <a:t>&lt;/body&gt;</a:t>
            </a:r>
          </a:p>
          <a:p>
            <a:pPr marL="0" indent="0">
              <a:buNone/>
            </a:pPr>
            <a:r>
              <a:rPr lang="en-AU" sz="1400" dirty="0"/>
              <a:t>&lt;/html&gt;</a:t>
            </a:r>
            <a:endParaRPr lang="en-AU" sz="1800" dirty="0"/>
          </a:p>
        </p:txBody>
      </p:sp>
      <p:sp>
        <p:nvSpPr>
          <p:cNvPr id="6" name="TextBox 5">
            <a:extLst>
              <a:ext uri="{FF2B5EF4-FFF2-40B4-BE49-F238E27FC236}">
                <a16:creationId xmlns:a16="http://schemas.microsoft.com/office/drawing/2014/main" id="{DBA860CE-7999-41C1-927A-2A89757F2671}"/>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10432935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3D77D-D42A-40BC-BF43-4D49392E076A}"/>
              </a:ext>
            </a:extLst>
          </p:cNvPr>
          <p:cNvSpPr>
            <a:spLocks noGrp="1"/>
          </p:cNvSpPr>
          <p:nvPr>
            <p:ph type="title"/>
          </p:nvPr>
        </p:nvSpPr>
        <p:spPr>
          <a:xfrm>
            <a:off x="718458" y="105270"/>
            <a:ext cx="10515600" cy="516618"/>
          </a:xfrm>
        </p:spPr>
        <p:txBody>
          <a:bodyPr>
            <a:normAutofit fontScale="90000"/>
          </a:bodyPr>
          <a:lstStyle/>
          <a:p>
            <a:r>
              <a:rPr lang="en-AU" sz="4400" dirty="0">
                <a:solidFill>
                  <a:schemeClr val="accent2">
                    <a:lumMod val="50000"/>
                  </a:schemeClr>
                </a:solidFill>
              </a:rPr>
              <a:t>Horizontal Navigation Bar Example</a:t>
            </a:r>
            <a:endParaRPr lang="en-AU" dirty="0"/>
          </a:p>
        </p:txBody>
      </p:sp>
      <p:sp>
        <p:nvSpPr>
          <p:cNvPr id="3" name="Content Placeholder 2">
            <a:extLst>
              <a:ext uri="{FF2B5EF4-FFF2-40B4-BE49-F238E27FC236}">
                <a16:creationId xmlns:a16="http://schemas.microsoft.com/office/drawing/2014/main" id="{4F6D86CB-DCB3-46B8-9589-F1E81587BBCA}"/>
              </a:ext>
            </a:extLst>
          </p:cNvPr>
          <p:cNvSpPr>
            <a:spLocks noGrp="1"/>
          </p:cNvSpPr>
          <p:nvPr>
            <p:ph idx="1"/>
          </p:nvPr>
        </p:nvSpPr>
        <p:spPr>
          <a:xfrm>
            <a:off x="1186542" y="749527"/>
            <a:ext cx="4038601" cy="4889273"/>
          </a:xfrm>
        </p:spPr>
        <p:txBody>
          <a:bodyPr>
            <a:noAutofit/>
          </a:bodyPr>
          <a:lstStyle/>
          <a:p>
            <a:pPr marL="0" indent="0">
              <a:buNone/>
            </a:pPr>
            <a:r>
              <a:rPr lang="en-AU" sz="1200" dirty="0"/>
              <a:t>&lt;!DOCTYPE html&gt;</a:t>
            </a:r>
          </a:p>
          <a:p>
            <a:pPr marL="0" indent="0">
              <a:buNone/>
            </a:pPr>
            <a:r>
              <a:rPr lang="en-AU" sz="1200" dirty="0"/>
              <a:t>&lt;html&gt;</a:t>
            </a:r>
          </a:p>
          <a:p>
            <a:pPr marL="0" indent="0">
              <a:buNone/>
            </a:pPr>
            <a:r>
              <a:rPr lang="en-AU" sz="1200" dirty="0"/>
              <a:t>&lt;head&gt;</a:t>
            </a:r>
          </a:p>
          <a:p>
            <a:pPr marL="0" indent="0">
              <a:buNone/>
            </a:pPr>
            <a:r>
              <a:rPr lang="en-AU" sz="1200" dirty="0"/>
              <a:t>&lt;style&gt;</a:t>
            </a:r>
          </a:p>
          <a:p>
            <a:pPr marL="0" indent="0">
              <a:buNone/>
            </a:pPr>
            <a:r>
              <a:rPr lang="en-AU" sz="1200" dirty="0"/>
              <a:t>ul {</a:t>
            </a:r>
          </a:p>
          <a:p>
            <a:pPr marL="0" indent="0">
              <a:buNone/>
            </a:pPr>
            <a:r>
              <a:rPr lang="en-AU" sz="1200" dirty="0"/>
              <a:t>  list-style-type: none;</a:t>
            </a:r>
          </a:p>
          <a:p>
            <a:pPr marL="0" indent="0">
              <a:buNone/>
            </a:pPr>
            <a:r>
              <a:rPr lang="en-AU" sz="1200" dirty="0"/>
              <a:t>  margin: 0;</a:t>
            </a:r>
          </a:p>
          <a:p>
            <a:pPr marL="0" indent="0">
              <a:buNone/>
            </a:pPr>
            <a:r>
              <a:rPr lang="en-AU" sz="1200" dirty="0"/>
              <a:t>  padding: 0;}</a:t>
            </a:r>
          </a:p>
          <a:p>
            <a:pPr marL="0" indent="0">
              <a:buNone/>
            </a:pPr>
            <a:r>
              <a:rPr lang="en-AU" sz="1200" dirty="0"/>
              <a:t>li {</a:t>
            </a:r>
          </a:p>
          <a:p>
            <a:pPr marL="0" indent="0">
              <a:buNone/>
            </a:pPr>
            <a:r>
              <a:rPr lang="en-AU" sz="1200" dirty="0"/>
              <a:t>  float : left;}</a:t>
            </a:r>
          </a:p>
          <a:p>
            <a:pPr marL="0" indent="0">
              <a:buNone/>
            </a:pPr>
            <a:r>
              <a:rPr lang="en-AU" sz="1200" dirty="0"/>
              <a:t>li a {</a:t>
            </a:r>
          </a:p>
          <a:p>
            <a:pPr marL="0" indent="0">
              <a:buNone/>
            </a:pPr>
            <a:r>
              <a:rPr lang="en-AU" sz="1200" dirty="0"/>
              <a:t>  display: block;</a:t>
            </a:r>
          </a:p>
          <a:p>
            <a:pPr marL="0" indent="0">
              <a:buNone/>
            </a:pPr>
            <a:r>
              <a:rPr lang="en-AU" sz="1200" dirty="0"/>
              <a:t>  </a:t>
            </a:r>
            <a:r>
              <a:rPr lang="en-AU" sz="1200" dirty="0" err="1"/>
              <a:t>color</a:t>
            </a:r>
            <a:r>
              <a:rPr lang="en-AU" sz="1200" dirty="0"/>
              <a:t>: Red;</a:t>
            </a:r>
          </a:p>
          <a:p>
            <a:pPr marL="0" indent="0">
              <a:buNone/>
            </a:pPr>
            <a:r>
              <a:rPr lang="en-AU" sz="1200" dirty="0"/>
              <a:t>  text-align: </a:t>
            </a:r>
            <a:r>
              <a:rPr lang="en-AU" sz="1200" dirty="0" err="1"/>
              <a:t>center</a:t>
            </a:r>
            <a:r>
              <a:rPr lang="en-AU" sz="1200" dirty="0"/>
              <a:t>;</a:t>
            </a:r>
          </a:p>
          <a:p>
            <a:pPr marL="0" indent="0">
              <a:buNone/>
            </a:pPr>
            <a:r>
              <a:rPr lang="en-AU" sz="1200" dirty="0"/>
              <a:t>  padding: 14px 16px;</a:t>
            </a:r>
          </a:p>
          <a:p>
            <a:pPr marL="0" indent="0">
              <a:buNone/>
            </a:pPr>
            <a:r>
              <a:rPr lang="en-AU" sz="1200" dirty="0"/>
              <a:t>  text-decoration: none;</a:t>
            </a:r>
          </a:p>
          <a:p>
            <a:pPr marL="0" indent="0">
              <a:buNone/>
            </a:pPr>
            <a:r>
              <a:rPr lang="en-AU" sz="1200" dirty="0"/>
              <a:t>  background-</a:t>
            </a:r>
            <a:r>
              <a:rPr lang="en-AU" sz="1200" dirty="0" err="1"/>
              <a:t>color</a:t>
            </a:r>
            <a:r>
              <a:rPr lang="en-AU" sz="1200" dirty="0"/>
              <a:t>: black;}</a:t>
            </a:r>
          </a:p>
          <a:p>
            <a:pPr marL="0" indent="0">
              <a:buNone/>
            </a:pPr>
            <a:endParaRPr lang="en-AU" sz="1200" dirty="0"/>
          </a:p>
        </p:txBody>
      </p:sp>
      <p:sp>
        <p:nvSpPr>
          <p:cNvPr id="5" name="TextBox 4">
            <a:extLst>
              <a:ext uri="{FF2B5EF4-FFF2-40B4-BE49-F238E27FC236}">
                <a16:creationId xmlns:a16="http://schemas.microsoft.com/office/drawing/2014/main" id="{C0D50E74-704D-4C70-8C5D-40024843370B}"/>
              </a:ext>
            </a:extLst>
          </p:cNvPr>
          <p:cNvSpPr txBox="1"/>
          <p:nvPr/>
        </p:nvSpPr>
        <p:spPr>
          <a:xfrm>
            <a:off x="6096000" y="1164058"/>
            <a:ext cx="4365171" cy="3231654"/>
          </a:xfrm>
          <a:prstGeom prst="rect">
            <a:avLst/>
          </a:prstGeom>
          <a:noFill/>
        </p:spPr>
        <p:txBody>
          <a:bodyPr wrap="square">
            <a:spAutoFit/>
          </a:bodyPr>
          <a:lstStyle/>
          <a:p>
            <a:pPr marL="0" indent="0">
              <a:buNone/>
            </a:pPr>
            <a:r>
              <a:rPr lang="en-AU" sz="1200" dirty="0"/>
              <a:t>li a:hover {</a:t>
            </a:r>
          </a:p>
          <a:p>
            <a:pPr marL="0" indent="0">
              <a:buNone/>
            </a:pPr>
            <a:r>
              <a:rPr lang="en-AU" sz="1200" dirty="0"/>
              <a:t>  background-</a:t>
            </a:r>
            <a:r>
              <a:rPr lang="en-AU" sz="1200" dirty="0" err="1"/>
              <a:t>color</a:t>
            </a:r>
            <a:r>
              <a:rPr lang="en-AU" sz="1200" dirty="0"/>
              <a:t>: yellow;</a:t>
            </a:r>
          </a:p>
          <a:p>
            <a:pPr marL="0" indent="0">
              <a:buNone/>
            </a:pPr>
            <a:r>
              <a:rPr lang="en-AU" sz="1200" dirty="0"/>
              <a:t>}</a:t>
            </a:r>
          </a:p>
          <a:p>
            <a:pPr marL="0" indent="0">
              <a:buNone/>
            </a:pPr>
            <a:r>
              <a:rPr lang="en-AU" sz="1200" dirty="0"/>
              <a:t>&lt;/style&gt;</a:t>
            </a:r>
          </a:p>
          <a:p>
            <a:pPr marL="0" indent="0">
              <a:buNone/>
            </a:pPr>
            <a:r>
              <a:rPr lang="en-AU" sz="1200" dirty="0"/>
              <a:t>&lt;/head&gt;</a:t>
            </a:r>
          </a:p>
          <a:p>
            <a:pPr marL="0" indent="0">
              <a:buNone/>
            </a:pPr>
            <a:r>
              <a:rPr lang="en-AU" sz="1200" dirty="0"/>
              <a:t>&lt;body&gt;</a:t>
            </a:r>
          </a:p>
          <a:p>
            <a:pPr marL="0" indent="0">
              <a:buNone/>
            </a:pPr>
            <a:endParaRPr lang="en-AU" sz="1200" dirty="0"/>
          </a:p>
          <a:p>
            <a:pPr marL="0" indent="0">
              <a:buNone/>
            </a:pPr>
            <a:r>
              <a:rPr lang="en-AU" sz="1200" dirty="0"/>
              <a:t>&lt;ul&gt;</a:t>
            </a:r>
          </a:p>
          <a:p>
            <a:pPr marL="0" indent="0">
              <a:buNone/>
            </a:pPr>
            <a:r>
              <a:rPr lang="en-AU" sz="1200" dirty="0"/>
              <a:t>  &lt;li&gt;&lt;a </a:t>
            </a:r>
            <a:r>
              <a:rPr lang="en-AU" sz="1200" dirty="0" err="1"/>
              <a:t>href</a:t>
            </a:r>
            <a:r>
              <a:rPr lang="en-AU" sz="1200" dirty="0"/>
              <a:t>="#home"&gt;Home&lt;/a&gt;&lt;/li&gt;</a:t>
            </a:r>
          </a:p>
          <a:p>
            <a:pPr marL="0" indent="0">
              <a:buNone/>
            </a:pPr>
            <a:r>
              <a:rPr lang="en-AU" sz="1200" dirty="0"/>
              <a:t>  &lt;li&gt;&lt;a </a:t>
            </a:r>
            <a:r>
              <a:rPr lang="en-AU" sz="1200" dirty="0" err="1"/>
              <a:t>href</a:t>
            </a:r>
            <a:r>
              <a:rPr lang="en-AU" sz="1200" dirty="0"/>
              <a:t>="#news"&gt;News&lt;/a&gt;&lt;/li&gt;</a:t>
            </a:r>
          </a:p>
          <a:p>
            <a:pPr marL="0" indent="0">
              <a:buNone/>
            </a:pPr>
            <a:r>
              <a:rPr lang="en-AU" sz="1200" dirty="0"/>
              <a:t>  &lt;li&gt;&lt;a </a:t>
            </a:r>
            <a:r>
              <a:rPr lang="en-AU" sz="1200" dirty="0" err="1"/>
              <a:t>href</a:t>
            </a:r>
            <a:r>
              <a:rPr lang="en-AU" sz="1200" dirty="0"/>
              <a:t>="#contact"&gt;Contact&lt;/a&gt;&lt;/li&gt;</a:t>
            </a:r>
          </a:p>
          <a:p>
            <a:pPr marL="0" indent="0">
              <a:buNone/>
            </a:pPr>
            <a:r>
              <a:rPr lang="en-AU" sz="1200" dirty="0"/>
              <a:t>  &lt;li&gt;&lt;a </a:t>
            </a:r>
            <a:r>
              <a:rPr lang="en-AU" sz="1200" dirty="0" err="1"/>
              <a:t>href</a:t>
            </a:r>
            <a:r>
              <a:rPr lang="en-AU" sz="1200" dirty="0"/>
              <a:t>="#about"&gt;About&lt;/a&gt;&lt;/li&gt;</a:t>
            </a:r>
          </a:p>
          <a:p>
            <a:pPr marL="0" indent="0">
              <a:buNone/>
            </a:pPr>
            <a:r>
              <a:rPr lang="en-AU" sz="1200" dirty="0"/>
              <a:t>&lt;/ul&gt;</a:t>
            </a:r>
          </a:p>
          <a:p>
            <a:pPr marL="0" indent="0">
              <a:buNone/>
            </a:pPr>
            <a:endParaRPr lang="en-AU" sz="1200" dirty="0"/>
          </a:p>
          <a:p>
            <a:pPr marL="0" indent="0">
              <a:buNone/>
            </a:pPr>
            <a:r>
              <a:rPr lang="en-AU" sz="1200" dirty="0"/>
              <a:t>&lt;/body&gt;</a:t>
            </a:r>
          </a:p>
          <a:p>
            <a:pPr marL="0" indent="0">
              <a:buNone/>
            </a:pPr>
            <a:r>
              <a:rPr lang="en-AU" sz="1200" dirty="0"/>
              <a:t>&lt;/html&gt;</a:t>
            </a:r>
          </a:p>
          <a:p>
            <a:pPr marL="0" indent="0">
              <a:buNone/>
            </a:pPr>
            <a:endParaRPr lang="en-AU" sz="1200" dirty="0"/>
          </a:p>
        </p:txBody>
      </p:sp>
      <p:sp>
        <p:nvSpPr>
          <p:cNvPr id="6" name="TextBox 5">
            <a:extLst>
              <a:ext uri="{FF2B5EF4-FFF2-40B4-BE49-F238E27FC236}">
                <a16:creationId xmlns:a16="http://schemas.microsoft.com/office/drawing/2014/main" id="{8D38EF02-2623-4618-B2F6-7450F45D5D50}"/>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27197885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0D777-32B0-4201-B8EE-0860316C4088}"/>
              </a:ext>
            </a:extLst>
          </p:cNvPr>
          <p:cNvSpPr>
            <a:spLocks noGrp="1"/>
          </p:cNvSpPr>
          <p:nvPr>
            <p:ph type="title"/>
          </p:nvPr>
        </p:nvSpPr>
        <p:spPr>
          <a:xfrm>
            <a:off x="435429" y="190955"/>
            <a:ext cx="10515600" cy="418646"/>
          </a:xfrm>
        </p:spPr>
        <p:txBody>
          <a:bodyPr>
            <a:normAutofit fontScale="90000"/>
          </a:bodyPr>
          <a:lstStyle/>
          <a:p>
            <a:r>
              <a:rPr lang="en-AU" sz="4400" dirty="0">
                <a:solidFill>
                  <a:schemeClr val="accent2">
                    <a:lumMod val="50000"/>
                  </a:schemeClr>
                </a:solidFill>
              </a:rPr>
              <a:t>Fixed Horizontal Navigation Bar Example</a:t>
            </a:r>
            <a:endParaRPr lang="en-AU" dirty="0"/>
          </a:p>
        </p:txBody>
      </p:sp>
      <p:sp>
        <p:nvSpPr>
          <p:cNvPr id="3" name="Content Placeholder 2">
            <a:extLst>
              <a:ext uri="{FF2B5EF4-FFF2-40B4-BE49-F238E27FC236}">
                <a16:creationId xmlns:a16="http://schemas.microsoft.com/office/drawing/2014/main" id="{27147D32-CD31-4C59-84DE-B76D6940C75E}"/>
              </a:ext>
            </a:extLst>
          </p:cNvPr>
          <p:cNvSpPr>
            <a:spLocks noGrp="1"/>
          </p:cNvSpPr>
          <p:nvPr>
            <p:ph idx="1"/>
          </p:nvPr>
        </p:nvSpPr>
        <p:spPr>
          <a:xfrm>
            <a:off x="315685" y="813254"/>
            <a:ext cx="3864429" cy="5065032"/>
          </a:xfrm>
        </p:spPr>
        <p:txBody>
          <a:bodyPr>
            <a:noAutofit/>
          </a:bodyPr>
          <a:lstStyle/>
          <a:p>
            <a:pPr marL="0" indent="0">
              <a:buNone/>
            </a:pPr>
            <a:r>
              <a:rPr lang="en-AU" sz="1400" dirty="0"/>
              <a:t>&lt;!DOCTYPE html&gt;</a:t>
            </a:r>
          </a:p>
          <a:p>
            <a:pPr marL="0" indent="0">
              <a:buNone/>
            </a:pPr>
            <a:r>
              <a:rPr lang="en-AU" sz="1400" dirty="0"/>
              <a:t>&lt;html&gt;</a:t>
            </a:r>
          </a:p>
          <a:p>
            <a:pPr marL="0" indent="0">
              <a:buNone/>
            </a:pPr>
            <a:r>
              <a:rPr lang="en-AU" sz="1400" dirty="0"/>
              <a:t>&lt;head&gt;</a:t>
            </a:r>
          </a:p>
          <a:p>
            <a:pPr marL="0" indent="0">
              <a:buNone/>
            </a:pPr>
            <a:r>
              <a:rPr lang="en-AU" sz="1400" dirty="0"/>
              <a:t>&lt;style&gt;</a:t>
            </a:r>
          </a:p>
          <a:p>
            <a:pPr marL="0" indent="0">
              <a:buNone/>
            </a:pPr>
            <a:r>
              <a:rPr lang="en-AU" sz="1400" dirty="0"/>
              <a:t>body {</a:t>
            </a:r>
          </a:p>
          <a:p>
            <a:pPr marL="0" indent="0">
              <a:buNone/>
            </a:pPr>
            <a:r>
              <a:rPr lang="en-AU" sz="1400" dirty="0"/>
              <a:t>margin:0;}</a:t>
            </a:r>
          </a:p>
          <a:p>
            <a:pPr marL="0" indent="0">
              <a:buNone/>
            </a:pPr>
            <a:r>
              <a:rPr lang="en-AU" sz="1400" dirty="0"/>
              <a:t>ul {</a:t>
            </a:r>
          </a:p>
          <a:p>
            <a:pPr marL="0" indent="0">
              <a:buNone/>
            </a:pPr>
            <a:r>
              <a:rPr lang="en-AU" sz="1400" dirty="0"/>
              <a:t>  list-style-type: none;  margin: 0;padding: 0;  background-</a:t>
            </a:r>
            <a:r>
              <a:rPr lang="en-AU" sz="1400" dirty="0" err="1"/>
              <a:t>color</a:t>
            </a:r>
            <a:r>
              <a:rPr lang="en-AU" sz="1400" dirty="0"/>
              <a:t>: Grey;  position: fixed;  top: 0;  width: 100%;}</a:t>
            </a:r>
          </a:p>
          <a:p>
            <a:pPr marL="0" indent="0">
              <a:buNone/>
            </a:pPr>
            <a:r>
              <a:rPr lang="en-AU" sz="1400" dirty="0"/>
              <a:t>li {float: left;}</a:t>
            </a:r>
          </a:p>
          <a:p>
            <a:pPr marL="0" indent="0">
              <a:buNone/>
            </a:pPr>
            <a:r>
              <a:rPr lang="en-AU" sz="1400" dirty="0"/>
              <a:t>li a {display: block; </a:t>
            </a:r>
            <a:r>
              <a:rPr lang="en-AU" sz="1400" dirty="0" err="1"/>
              <a:t>color</a:t>
            </a:r>
            <a:r>
              <a:rPr lang="en-AU" sz="1400" dirty="0"/>
              <a:t>: white; text-align: </a:t>
            </a:r>
            <a:r>
              <a:rPr lang="en-AU" sz="1400" dirty="0" err="1"/>
              <a:t>center</a:t>
            </a:r>
            <a:r>
              <a:rPr lang="en-AU" sz="1400" dirty="0"/>
              <a:t>;   padding: 14px 16px;  text-decoration: none;}</a:t>
            </a:r>
          </a:p>
          <a:p>
            <a:pPr marL="0" indent="0">
              <a:buNone/>
            </a:pPr>
            <a:r>
              <a:rPr lang="en-AU" sz="1400" dirty="0"/>
              <a:t>div{background-</a:t>
            </a:r>
            <a:r>
              <a:rPr lang="en-AU" sz="1400" dirty="0" err="1"/>
              <a:t>color</a:t>
            </a:r>
            <a:r>
              <a:rPr lang="en-AU" sz="1400" dirty="0"/>
              <a:t>: Green;margin-top:8px;padding:20px;}  </a:t>
            </a:r>
          </a:p>
          <a:p>
            <a:pPr marL="0" indent="0">
              <a:buNone/>
            </a:pPr>
            <a:r>
              <a:rPr lang="en-AU" sz="1400" dirty="0"/>
              <a:t>&lt;/style&gt;</a:t>
            </a:r>
          </a:p>
          <a:p>
            <a:pPr marL="0" indent="0">
              <a:buNone/>
            </a:pPr>
            <a:r>
              <a:rPr lang="en-AU" sz="1400" dirty="0"/>
              <a:t>&lt;/head&gt;&lt;body&gt;</a:t>
            </a:r>
          </a:p>
          <a:p>
            <a:pPr marL="0" indent="0">
              <a:buNone/>
            </a:pPr>
            <a:endParaRPr lang="en-AU" sz="1400" dirty="0"/>
          </a:p>
        </p:txBody>
      </p:sp>
      <p:sp>
        <p:nvSpPr>
          <p:cNvPr id="5" name="TextBox 4">
            <a:extLst>
              <a:ext uri="{FF2B5EF4-FFF2-40B4-BE49-F238E27FC236}">
                <a16:creationId xmlns:a16="http://schemas.microsoft.com/office/drawing/2014/main" id="{A47CB025-94F1-490D-8063-B7A14436B09A}"/>
              </a:ext>
            </a:extLst>
          </p:cNvPr>
          <p:cNvSpPr txBox="1"/>
          <p:nvPr/>
        </p:nvSpPr>
        <p:spPr>
          <a:xfrm>
            <a:off x="7119258" y="813254"/>
            <a:ext cx="4158342" cy="4401205"/>
          </a:xfrm>
          <a:prstGeom prst="rect">
            <a:avLst/>
          </a:prstGeom>
          <a:noFill/>
        </p:spPr>
        <p:txBody>
          <a:bodyPr wrap="square">
            <a:spAutoFit/>
          </a:bodyPr>
          <a:lstStyle/>
          <a:p>
            <a:pPr marL="0" indent="0">
              <a:buNone/>
            </a:pPr>
            <a:r>
              <a:rPr lang="en-AU" sz="1400" dirty="0"/>
              <a:t>&lt;ul&gt;</a:t>
            </a:r>
          </a:p>
          <a:p>
            <a:pPr marL="0" indent="0">
              <a:buNone/>
            </a:pPr>
            <a:r>
              <a:rPr lang="en-AU" sz="1400" dirty="0"/>
              <a:t>  &lt;li&gt;&lt;a class="active" </a:t>
            </a:r>
            <a:r>
              <a:rPr lang="en-AU" sz="1400" dirty="0" err="1"/>
              <a:t>href</a:t>
            </a:r>
            <a:r>
              <a:rPr lang="en-AU" sz="1400" dirty="0"/>
              <a:t>="#home"&gt;Home&lt;/a&gt;&lt;/li&gt;</a:t>
            </a:r>
          </a:p>
          <a:p>
            <a:pPr marL="0" indent="0">
              <a:buNone/>
            </a:pPr>
            <a:r>
              <a:rPr lang="en-AU" sz="1400" dirty="0"/>
              <a:t>  &lt;li&gt;&lt;a </a:t>
            </a:r>
            <a:r>
              <a:rPr lang="en-AU" sz="1400" dirty="0" err="1"/>
              <a:t>href</a:t>
            </a:r>
            <a:r>
              <a:rPr lang="en-AU" sz="1400" dirty="0"/>
              <a:t>="#news"&gt;News&lt;/a&gt;&lt;/li&gt;</a:t>
            </a:r>
          </a:p>
          <a:p>
            <a:pPr marL="0" indent="0">
              <a:buNone/>
            </a:pPr>
            <a:r>
              <a:rPr lang="en-AU" sz="1400" dirty="0"/>
              <a:t>  &lt;li&gt;&lt;a </a:t>
            </a:r>
            <a:r>
              <a:rPr lang="en-AU" sz="1400" dirty="0" err="1"/>
              <a:t>href</a:t>
            </a:r>
            <a:r>
              <a:rPr lang="en-AU" sz="1400" dirty="0"/>
              <a:t>="#contact"&gt;Contact&lt;/a&gt;&lt;/li&gt;</a:t>
            </a:r>
          </a:p>
          <a:p>
            <a:pPr marL="0" indent="0">
              <a:buNone/>
            </a:pPr>
            <a:r>
              <a:rPr lang="en-AU" sz="1400" dirty="0"/>
              <a:t>  &lt;li&gt;&lt;a </a:t>
            </a:r>
            <a:r>
              <a:rPr lang="en-AU" sz="1400" dirty="0" err="1"/>
              <a:t>href</a:t>
            </a:r>
            <a:r>
              <a:rPr lang="en-AU" sz="1400" dirty="0"/>
              <a:t>="#about"&gt;About&lt;/a&gt;&lt;/li&gt;</a:t>
            </a:r>
          </a:p>
          <a:p>
            <a:pPr marL="0" indent="0">
              <a:buNone/>
            </a:pPr>
            <a:r>
              <a:rPr lang="en-AU" sz="1400" dirty="0"/>
              <a:t>&lt;/ul&gt;</a:t>
            </a:r>
          </a:p>
          <a:p>
            <a:pPr marL="0" indent="0">
              <a:buNone/>
            </a:pPr>
            <a:r>
              <a:rPr lang="en-AU" sz="1400" dirty="0"/>
              <a:t>&lt;div&gt;</a:t>
            </a:r>
          </a:p>
          <a:p>
            <a:pPr marL="0" indent="0">
              <a:buNone/>
            </a:pPr>
            <a:r>
              <a:rPr lang="en-AU" sz="1400" dirty="0"/>
              <a:t>  &lt;h1&gt;Fixed Top Navigation Bar&lt;/h1&gt;</a:t>
            </a:r>
          </a:p>
          <a:p>
            <a:pPr marL="0" indent="0">
              <a:buNone/>
            </a:pPr>
            <a:r>
              <a:rPr lang="en-AU" sz="1400" dirty="0"/>
              <a:t>&lt;h2&gt;The Shah Family is number 1&lt;/h2&gt;</a:t>
            </a:r>
          </a:p>
          <a:p>
            <a:pPr marL="0" indent="0">
              <a:buNone/>
            </a:pPr>
            <a:r>
              <a:rPr lang="en-AU" sz="1400" dirty="0"/>
              <a:t>  &lt;p&gt;Some text some text some text some text..&lt;/p&gt; </a:t>
            </a:r>
          </a:p>
          <a:p>
            <a:pPr marL="0" indent="0">
              <a:buNone/>
            </a:pPr>
            <a:r>
              <a:rPr lang="en-AU" sz="1400" dirty="0"/>
              <a:t>  &lt;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a:t>
            </a:r>
          </a:p>
          <a:p>
            <a:pPr marL="0" indent="0">
              <a:buNone/>
            </a:pPr>
            <a:r>
              <a:rPr lang="en-AU" sz="1400" dirty="0"/>
              <a:t>  &lt;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&gt;&lt;</a:t>
            </a:r>
            <a:r>
              <a:rPr lang="en-AU" sz="1400" dirty="0" err="1"/>
              <a:t>br</a:t>
            </a:r>
            <a:r>
              <a:rPr lang="en-AU" sz="1400" dirty="0"/>
              <a:t>&gt;</a:t>
            </a:r>
          </a:p>
          <a:p>
            <a:pPr marL="0" indent="0">
              <a:buNone/>
            </a:pPr>
            <a:r>
              <a:rPr lang="en-AU" sz="1400" dirty="0"/>
              <a:t>&lt;/div&gt;</a:t>
            </a:r>
          </a:p>
          <a:p>
            <a:pPr marL="0" indent="0">
              <a:buNone/>
            </a:pPr>
            <a:r>
              <a:rPr lang="en-AU" sz="1400" dirty="0"/>
              <a:t>&lt;/body&gt;&lt;/html&gt;</a:t>
            </a:r>
          </a:p>
        </p:txBody>
      </p:sp>
      <p:sp>
        <p:nvSpPr>
          <p:cNvPr id="6" name="TextBox 5">
            <a:extLst>
              <a:ext uri="{FF2B5EF4-FFF2-40B4-BE49-F238E27FC236}">
                <a16:creationId xmlns:a16="http://schemas.microsoft.com/office/drawing/2014/main" id="{846BBA35-D7AD-47D5-B933-BC51173E789B}"/>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16036580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E9D35-3CA6-4535-81C9-0E026FB7D77D}"/>
              </a:ext>
            </a:extLst>
          </p:cNvPr>
          <p:cNvSpPr>
            <a:spLocks noGrp="1"/>
          </p:cNvSpPr>
          <p:nvPr>
            <p:ph type="title"/>
          </p:nvPr>
        </p:nvSpPr>
        <p:spPr>
          <a:xfrm>
            <a:off x="511629" y="245382"/>
            <a:ext cx="10515600" cy="549275"/>
          </a:xfrm>
        </p:spPr>
        <p:txBody>
          <a:bodyPr>
            <a:normAutofit fontScale="90000"/>
          </a:bodyPr>
          <a:lstStyle/>
          <a:p>
            <a:r>
              <a:rPr lang="en-AU" sz="4000" dirty="0">
                <a:solidFill>
                  <a:schemeClr val="accent2">
                    <a:lumMod val="50000"/>
                  </a:schemeClr>
                </a:solidFill>
              </a:rPr>
              <a:t>Image Gallery in CSS </a:t>
            </a:r>
          </a:p>
        </p:txBody>
      </p:sp>
      <p:sp>
        <p:nvSpPr>
          <p:cNvPr id="3" name="Content Placeholder 2">
            <a:extLst>
              <a:ext uri="{FF2B5EF4-FFF2-40B4-BE49-F238E27FC236}">
                <a16:creationId xmlns:a16="http://schemas.microsoft.com/office/drawing/2014/main" id="{1865C29F-A234-46FA-999A-6B7540B5DE7D}"/>
              </a:ext>
            </a:extLst>
          </p:cNvPr>
          <p:cNvSpPr>
            <a:spLocks noGrp="1"/>
          </p:cNvSpPr>
          <p:nvPr>
            <p:ph idx="1"/>
          </p:nvPr>
        </p:nvSpPr>
        <p:spPr>
          <a:xfrm>
            <a:off x="337458" y="1030967"/>
            <a:ext cx="2797628" cy="4662261"/>
          </a:xfrm>
        </p:spPr>
        <p:txBody>
          <a:bodyPr>
            <a:noAutofit/>
          </a:bodyPr>
          <a:lstStyle/>
          <a:p>
            <a:pPr marL="0" indent="0">
              <a:buNone/>
            </a:pPr>
            <a:r>
              <a:rPr lang="en-AU" sz="1000" dirty="0"/>
              <a:t>&lt;!DOCTYPE html&gt;</a:t>
            </a:r>
          </a:p>
          <a:p>
            <a:pPr marL="0" indent="0">
              <a:buNone/>
            </a:pPr>
            <a:r>
              <a:rPr lang="en-AU" sz="1000" dirty="0"/>
              <a:t>&lt;html&gt;</a:t>
            </a:r>
          </a:p>
          <a:p>
            <a:pPr marL="0" indent="0">
              <a:buNone/>
            </a:pPr>
            <a:r>
              <a:rPr lang="en-AU" sz="1000" dirty="0"/>
              <a:t>&lt;head&gt;</a:t>
            </a:r>
          </a:p>
          <a:p>
            <a:pPr marL="0" indent="0">
              <a:buNone/>
            </a:pPr>
            <a:r>
              <a:rPr lang="en-AU" sz="1000" dirty="0"/>
              <a:t>&lt;style&gt;</a:t>
            </a:r>
          </a:p>
          <a:p>
            <a:pPr marL="0" indent="0">
              <a:buNone/>
            </a:pPr>
            <a:r>
              <a:rPr lang="en-AU" sz="1000" dirty="0" err="1"/>
              <a:t>div.gallery</a:t>
            </a:r>
            <a:r>
              <a:rPr lang="en-AU" sz="1000" dirty="0"/>
              <a:t> {</a:t>
            </a:r>
          </a:p>
          <a:p>
            <a:pPr marL="0" indent="0">
              <a:buNone/>
            </a:pPr>
            <a:r>
              <a:rPr lang="en-AU" sz="1000" dirty="0"/>
              <a:t>  margin: 5px;</a:t>
            </a:r>
          </a:p>
          <a:p>
            <a:pPr marL="0" indent="0">
              <a:buNone/>
            </a:pPr>
            <a:r>
              <a:rPr lang="en-AU" sz="1000" dirty="0"/>
              <a:t>  border: 1px solid Black;</a:t>
            </a:r>
          </a:p>
          <a:p>
            <a:pPr marL="0" indent="0">
              <a:buNone/>
            </a:pPr>
            <a:r>
              <a:rPr lang="en-AU" sz="1000" dirty="0"/>
              <a:t>  float: left;</a:t>
            </a:r>
          </a:p>
          <a:p>
            <a:pPr marL="0" indent="0">
              <a:buNone/>
            </a:pPr>
            <a:r>
              <a:rPr lang="en-AU" sz="1000" dirty="0"/>
              <a:t>  width: 180px;</a:t>
            </a:r>
          </a:p>
          <a:p>
            <a:pPr marL="0" indent="0">
              <a:buNone/>
            </a:pPr>
            <a:r>
              <a:rPr lang="en-AU" sz="1000" dirty="0"/>
              <a:t>}</a:t>
            </a:r>
            <a:r>
              <a:rPr lang="en-AU" sz="1000" dirty="0" err="1"/>
              <a:t>div.gallery:hover</a:t>
            </a:r>
            <a:r>
              <a:rPr lang="en-AU" sz="1000" dirty="0"/>
              <a:t> {</a:t>
            </a:r>
          </a:p>
          <a:p>
            <a:pPr marL="0" indent="0">
              <a:buNone/>
            </a:pPr>
            <a:r>
              <a:rPr lang="en-AU" sz="1000" dirty="0"/>
              <a:t>  border: 1px solid Red;</a:t>
            </a:r>
          </a:p>
          <a:p>
            <a:pPr marL="0" indent="0">
              <a:buNone/>
            </a:pPr>
            <a:r>
              <a:rPr lang="en-AU" sz="1000" dirty="0"/>
              <a:t>}</a:t>
            </a:r>
            <a:r>
              <a:rPr lang="en-AU" sz="1000" dirty="0" err="1"/>
              <a:t>div.gallery</a:t>
            </a:r>
            <a:r>
              <a:rPr lang="en-AU" sz="1000" dirty="0"/>
              <a:t> </a:t>
            </a:r>
            <a:r>
              <a:rPr lang="en-AU" sz="1000" dirty="0" err="1"/>
              <a:t>img</a:t>
            </a:r>
            <a:r>
              <a:rPr lang="en-AU" sz="1000" dirty="0"/>
              <a:t> {</a:t>
            </a:r>
          </a:p>
          <a:p>
            <a:pPr marL="0" indent="0">
              <a:buNone/>
            </a:pPr>
            <a:r>
              <a:rPr lang="en-AU" sz="1000" dirty="0"/>
              <a:t>  width: 100%;</a:t>
            </a:r>
          </a:p>
          <a:p>
            <a:pPr marL="0" indent="0">
              <a:buNone/>
            </a:pPr>
            <a:r>
              <a:rPr lang="en-AU" sz="1000" dirty="0"/>
              <a:t>  height: 100%;</a:t>
            </a:r>
          </a:p>
          <a:p>
            <a:pPr marL="0" indent="0">
              <a:buNone/>
            </a:pPr>
            <a:r>
              <a:rPr lang="en-AU" sz="1000" dirty="0"/>
              <a:t>}</a:t>
            </a:r>
            <a:r>
              <a:rPr lang="en-AU" sz="1000" dirty="0" err="1"/>
              <a:t>div.desc</a:t>
            </a:r>
            <a:r>
              <a:rPr lang="en-AU" sz="1000" dirty="0"/>
              <a:t> {</a:t>
            </a:r>
          </a:p>
          <a:p>
            <a:pPr marL="0" indent="0">
              <a:buNone/>
            </a:pPr>
            <a:r>
              <a:rPr lang="en-AU" sz="1000" dirty="0"/>
              <a:t>  padding: 15px;</a:t>
            </a:r>
          </a:p>
          <a:p>
            <a:pPr marL="0" indent="0">
              <a:buNone/>
            </a:pPr>
            <a:r>
              <a:rPr lang="en-AU" sz="1000" dirty="0"/>
              <a:t>  text-align: </a:t>
            </a:r>
            <a:r>
              <a:rPr lang="en-AU" sz="1000" dirty="0" err="1"/>
              <a:t>center</a:t>
            </a:r>
            <a:r>
              <a:rPr lang="en-AU" sz="1000" dirty="0"/>
              <a:t>;</a:t>
            </a:r>
          </a:p>
          <a:p>
            <a:pPr marL="0" indent="0">
              <a:buNone/>
            </a:pPr>
            <a:r>
              <a:rPr lang="en-AU" sz="1000" dirty="0"/>
              <a:t>}&lt;/style&gt;&lt;/head&gt;&lt;body&gt;</a:t>
            </a:r>
          </a:p>
        </p:txBody>
      </p:sp>
      <p:sp>
        <p:nvSpPr>
          <p:cNvPr id="5" name="TextBox 4">
            <a:extLst>
              <a:ext uri="{FF2B5EF4-FFF2-40B4-BE49-F238E27FC236}">
                <a16:creationId xmlns:a16="http://schemas.microsoft.com/office/drawing/2014/main" id="{358D1D48-44EB-4134-92C6-C2EBC9C33E4C}"/>
              </a:ext>
            </a:extLst>
          </p:cNvPr>
          <p:cNvSpPr txBox="1"/>
          <p:nvPr/>
        </p:nvSpPr>
        <p:spPr>
          <a:xfrm>
            <a:off x="4974771" y="1093105"/>
            <a:ext cx="3690257" cy="3939540"/>
          </a:xfrm>
          <a:prstGeom prst="rect">
            <a:avLst/>
          </a:prstGeom>
          <a:noFill/>
        </p:spPr>
        <p:txBody>
          <a:bodyPr wrap="square">
            <a:spAutoFit/>
          </a:bodyPr>
          <a:lstStyle/>
          <a:p>
            <a:r>
              <a:rPr lang="en-AU" sz="1000" dirty="0"/>
              <a:t>&lt;div class="gallery"&gt;</a:t>
            </a:r>
          </a:p>
          <a:p>
            <a:r>
              <a:rPr lang="en-AU" sz="1000" dirty="0"/>
              <a:t>  &lt;a </a:t>
            </a:r>
            <a:r>
              <a:rPr lang="en-AU" sz="1000" dirty="0" err="1"/>
              <a:t>href</a:t>
            </a:r>
            <a:r>
              <a:rPr lang="en-AU" sz="1000" dirty="0"/>
              <a:t>="Aus-Koala.jpg"&gt;</a:t>
            </a:r>
          </a:p>
          <a:p>
            <a:r>
              <a:rPr lang="en-AU" sz="1000" dirty="0"/>
              <a:t>    &lt;</a:t>
            </a:r>
            <a:r>
              <a:rPr lang="en-AU" sz="1000" dirty="0" err="1"/>
              <a:t>img</a:t>
            </a:r>
            <a:r>
              <a:rPr lang="en-AU" sz="1000" dirty="0"/>
              <a:t> </a:t>
            </a:r>
            <a:r>
              <a:rPr lang="en-AU" sz="1000" dirty="0" err="1"/>
              <a:t>src</a:t>
            </a:r>
            <a:r>
              <a:rPr lang="en-AU" sz="1000" dirty="0"/>
              <a:t>="Aus-Koala.jpg" alt="Koala"&gt;</a:t>
            </a:r>
          </a:p>
          <a:p>
            <a:r>
              <a:rPr lang="en-AU" sz="1000" dirty="0"/>
              <a:t>  &lt;/a&gt;</a:t>
            </a:r>
          </a:p>
          <a:p>
            <a:r>
              <a:rPr lang="en-AU" sz="1000" dirty="0"/>
              <a:t>  &lt;div class="desc"&gt;Add a description of the image here&lt;/div&gt;</a:t>
            </a:r>
          </a:p>
          <a:p>
            <a:r>
              <a:rPr lang="en-AU" sz="1000" dirty="0"/>
              <a:t>&lt;/div&gt;</a:t>
            </a:r>
          </a:p>
          <a:p>
            <a:endParaRPr lang="en-AU" sz="1000" dirty="0"/>
          </a:p>
          <a:p>
            <a:r>
              <a:rPr lang="en-AU" sz="1000" dirty="0"/>
              <a:t>&lt;div class="gallery"&gt;</a:t>
            </a:r>
          </a:p>
          <a:p>
            <a:r>
              <a:rPr lang="en-AU" sz="1000" dirty="0"/>
              <a:t>  &lt;a </a:t>
            </a:r>
            <a:r>
              <a:rPr lang="en-AU" sz="1000" dirty="0" err="1"/>
              <a:t>href</a:t>
            </a:r>
            <a:r>
              <a:rPr lang="en-AU" sz="1000" dirty="0"/>
              <a:t>="Aus-kangaroo.jpg"&gt;</a:t>
            </a:r>
          </a:p>
          <a:p>
            <a:r>
              <a:rPr lang="en-AU" sz="1000" dirty="0"/>
              <a:t>    &lt;</a:t>
            </a:r>
            <a:r>
              <a:rPr lang="en-AU" sz="1000" dirty="0" err="1"/>
              <a:t>img</a:t>
            </a:r>
            <a:r>
              <a:rPr lang="en-AU" sz="1000" dirty="0"/>
              <a:t> </a:t>
            </a:r>
            <a:r>
              <a:rPr lang="en-AU" sz="1000" dirty="0" err="1"/>
              <a:t>src</a:t>
            </a:r>
            <a:r>
              <a:rPr lang="en-AU" sz="1000" dirty="0"/>
              <a:t>="Aus-kangaroo.jpg" alt="Kangaroo"&gt;</a:t>
            </a:r>
          </a:p>
          <a:p>
            <a:r>
              <a:rPr lang="en-AU" sz="1000" dirty="0"/>
              <a:t>  &lt;/a&gt;</a:t>
            </a:r>
          </a:p>
          <a:p>
            <a:r>
              <a:rPr lang="en-AU" sz="1000" dirty="0"/>
              <a:t>  &lt;div class="desc"&gt;Add a description of the image here&lt;/div&gt;</a:t>
            </a:r>
          </a:p>
          <a:p>
            <a:r>
              <a:rPr lang="en-AU" sz="1000" dirty="0"/>
              <a:t>&lt;/div&gt;</a:t>
            </a:r>
          </a:p>
          <a:p>
            <a:endParaRPr lang="en-AU" sz="1000" dirty="0"/>
          </a:p>
          <a:p>
            <a:r>
              <a:rPr lang="en-AU" sz="1000" dirty="0"/>
              <a:t>&lt;div class="gallery"&gt;</a:t>
            </a:r>
          </a:p>
          <a:p>
            <a:r>
              <a:rPr lang="en-AU" sz="1000" dirty="0"/>
              <a:t>  &lt;a  </a:t>
            </a:r>
            <a:r>
              <a:rPr lang="en-AU" sz="1000" dirty="0" err="1"/>
              <a:t>href</a:t>
            </a:r>
            <a:r>
              <a:rPr lang="en-AU" sz="1000" dirty="0"/>
              <a:t>="Aus-Uluru.jpg"&gt;</a:t>
            </a:r>
          </a:p>
          <a:p>
            <a:r>
              <a:rPr lang="en-AU" sz="1000" dirty="0"/>
              <a:t>    &lt;</a:t>
            </a:r>
            <a:r>
              <a:rPr lang="en-AU" sz="1000" dirty="0" err="1"/>
              <a:t>img</a:t>
            </a:r>
            <a:r>
              <a:rPr lang="en-AU" sz="1000" dirty="0"/>
              <a:t> </a:t>
            </a:r>
            <a:r>
              <a:rPr lang="en-AU" sz="1000" dirty="0" err="1"/>
              <a:t>src</a:t>
            </a:r>
            <a:r>
              <a:rPr lang="en-AU" sz="1000" dirty="0"/>
              <a:t>="Aus-Uluru.jpg" alt="Uluru"&gt;</a:t>
            </a:r>
          </a:p>
          <a:p>
            <a:r>
              <a:rPr lang="en-AU" sz="1000" dirty="0"/>
              <a:t>  &lt;/a&gt;</a:t>
            </a:r>
          </a:p>
          <a:p>
            <a:r>
              <a:rPr lang="en-AU" sz="1000" dirty="0"/>
              <a:t>  &lt;div class="desc"&gt;Add a description of the image here&lt;/div&gt;</a:t>
            </a:r>
          </a:p>
          <a:p>
            <a:r>
              <a:rPr lang="en-AU" sz="1000" dirty="0"/>
              <a:t>&lt;/div&gt;</a:t>
            </a:r>
          </a:p>
          <a:p>
            <a:endParaRPr lang="en-AU" sz="1000" dirty="0"/>
          </a:p>
          <a:p>
            <a:endParaRPr lang="en-AU" sz="1000" dirty="0"/>
          </a:p>
          <a:p>
            <a:endParaRPr lang="en-AU" sz="1000" dirty="0"/>
          </a:p>
          <a:p>
            <a:r>
              <a:rPr lang="en-AU" sz="1000" dirty="0"/>
              <a:t>&lt;/body&gt;</a:t>
            </a:r>
          </a:p>
          <a:p>
            <a:r>
              <a:rPr lang="en-AU" sz="1000" dirty="0"/>
              <a:t>&lt;/html&gt;</a:t>
            </a:r>
          </a:p>
        </p:txBody>
      </p:sp>
      <p:sp>
        <p:nvSpPr>
          <p:cNvPr id="6" name="TextBox 5">
            <a:extLst>
              <a:ext uri="{FF2B5EF4-FFF2-40B4-BE49-F238E27FC236}">
                <a16:creationId xmlns:a16="http://schemas.microsoft.com/office/drawing/2014/main" id="{6D3200D6-F8C4-42F8-BAAB-B38BD49FE2EC}"/>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82930102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2EE29-F32F-43FA-A177-0D7FE2768C91}"/>
              </a:ext>
            </a:extLst>
          </p:cNvPr>
          <p:cNvSpPr>
            <a:spLocks noGrp="1"/>
          </p:cNvSpPr>
          <p:nvPr>
            <p:ph type="title"/>
          </p:nvPr>
        </p:nvSpPr>
        <p:spPr>
          <a:xfrm>
            <a:off x="435429" y="223610"/>
            <a:ext cx="10515600" cy="810533"/>
          </a:xfrm>
        </p:spPr>
        <p:txBody>
          <a:bodyPr>
            <a:normAutofit fontScale="90000"/>
          </a:bodyPr>
          <a:lstStyle/>
          <a:p>
            <a:br>
              <a:rPr lang="en-AU" b="0" i="0" dirty="0">
                <a:solidFill>
                  <a:srgbClr val="000000"/>
                </a:solidFill>
                <a:effectLst/>
                <a:latin typeface="Segoe UI" panose="020B0502040204020203" pitchFamily="34" charset="0"/>
              </a:rPr>
            </a:br>
            <a:br>
              <a:rPr lang="en-AU" b="0" i="0" dirty="0">
                <a:solidFill>
                  <a:srgbClr val="000000"/>
                </a:solidFill>
                <a:effectLst/>
                <a:latin typeface="Segoe UI" panose="020B0502040204020203" pitchFamily="34" charset="0"/>
              </a:rPr>
            </a:br>
            <a:br>
              <a:rPr lang="en-AU" b="0" i="0" dirty="0">
                <a:solidFill>
                  <a:srgbClr val="000000"/>
                </a:solidFill>
                <a:effectLst/>
                <a:latin typeface="Segoe UI" panose="020B0502040204020203" pitchFamily="34" charset="0"/>
              </a:rPr>
            </a:br>
            <a:r>
              <a:rPr lang="en-AU" sz="4000" dirty="0">
                <a:solidFill>
                  <a:schemeClr val="accent2">
                    <a:lumMod val="50000"/>
                  </a:schemeClr>
                </a:solidFill>
              </a:rPr>
              <a:t>CSS Attribute Selectors</a:t>
            </a:r>
            <a:br>
              <a:rPr lang="en-AU" sz="4000" dirty="0">
                <a:solidFill>
                  <a:schemeClr val="accent2">
                    <a:lumMod val="50000"/>
                  </a:schemeClr>
                </a:solidFill>
              </a:rPr>
            </a:br>
            <a:br>
              <a:rPr lang="en-AU" sz="4000" dirty="0">
                <a:solidFill>
                  <a:schemeClr val="accent2">
                    <a:lumMod val="50000"/>
                  </a:schemeClr>
                </a:solidFill>
              </a:rPr>
            </a:br>
            <a:br>
              <a:rPr lang="en-AU" sz="4000" dirty="0">
                <a:solidFill>
                  <a:schemeClr val="accent2">
                    <a:lumMod val="50000"/>
                  </a:schemeClr>
                </a:solidFill>
              </a:rPr>
            </a:br>
            <a:endParaRPr lang="en-AU" sz="4000" dirty="0">
              <a:solidFill>
                <a:schemeClr val="accent2">
                  <a:lumMod val="50000"/>
                </a:schemeClr>
              </a:solidFill>
            </a:endParaRPr>
          </a:p>
        </p:txBody>
      </p:sp>
      <p:sp>
        <p:nvSpPr>
          <p:cNvPr id="3" name="Content Placeholder 2">
            <a:extLst>
              <a:ext uri="{FF2B5EF4-FFF2-40B4-BE49-F238E27FC236}">
                <a16:creationId xmlns:a16="http://schemas.microsoft.com/office/drawing/2014/main" id="{4988A8F8-D57E-4E77-AC47-13BCA87B00A5}"/>
              </a:ext>
            </a:extLst>
          </p:cNvPr>
          <p:cNvSpPr>
            <a:spLocks noGrp="1"/>
          </p:cNvSpPr>
          <p:nvPr>
            <p:ph idx="1"/>
          </p:nvPr>
        </p:nvSpPr>
        <p:spPr>
          <a:xfrm>
            <a:off x="195690" y="1226910"/>
            <a:ext cx="11745686" cy="3808956"/>
          </a:xfrm>
        </p:spPr>
        <p:txBody>
          <a:bodyPr/>
          <a:lstStyle/>
          <a:p>
            <a:r>
              <a:rPr lang="en-US" dirty="0"/>
              <a:t>The [attribute] selector is used to select elements with a specified attribute.</a:t>
            </a:r>
          </a:p>
          <a:p>
            <a:pPr algn="l"/>
            <a:r>
              <a:rPr lang="en-US" b="0" i="0" dirty="0">
                <a:solidFill>
                  <a:srgbClr val="000000"/>
                </a:solidFill>
                <a:effectLst/>
              </a:rPr>
              <a:t>For example </a:t>
            </a:r>
          </a:p>
          <a:p>
            <a:pPr lvl="1"/>
            <a:r>
              <a:rPr lang="en-US" sz="2800" b="0" i="0" dirty="0">
                <a:solidFill>
                  <a:srgbClr val="000000"/>
                </a:solidFill>
                <a:effectLst/>
              </a:rPr>
              <a:t>Select all &lt;a&gt; elements with a target attribute</a:t>
            </a:r>
          </a:p>
          <a:p>
            <a:pPr marL="1828800" lvl="4" indent="0">
              <a:buNone/>
            </a:pPr>
            <a:br>
              <a:rPr lang="en-US" b="0" i="0" dirty="0">
                <a:solidFill>
                  <a:srgbClr val="000000"/>
                </a:solidFill>
                <a:effectLst/>
                <a:latin typeface="Verdana" panose="020B0604030504040204" pitchFamily="34" charset="0"/>
              </a:rPr>
            </a:br>
            <a:r>
              <a:rPr lang="en-AU" sz="3200" b="0" i="0" dirty="0">
                <a:solidFill>
                  <a:srgbClr val="A52A2A"/>
                </a:solidFill>
                <a:effectLst/>
                <a:latin typeface="Calibri" panose="020F0502020204030204" pitchFamily="34" charset="0"/>
                <a:cs typeface="Calibri" panose="020F0502020204030204" pitchFamily="34" charset="0"/>
              </a:rPr>
              <a:t>a[target] </a:t>
            </a:r>
          </a:p>
          <a:p>
            <a:pPr marL="1828800" lvl="4" indent="0">
              <a:buNone/>
            </a:pPr>
            <a:r>
              <a:rPr lang="en-AU" sz="3200" b="0" i="0" dirty="0">
                <a:solidFill>
                  <a:srgbClr val="000000"/>
                </a:solidFill>
                <a:effectLst/>
                <a:latin typeface="Calibri" panose="020F0502020204030204" pitchFamily="34" charset="0"/>
                <a:cs typeface="Calibri" panose="020F0502020204030204" pitchFamily="34" charset="0"/>
              </a:rPr>
              <a:t>{</a:t>
            </a:r>
            <a:br>
              <a:rPr lang="en-AU" sz="3200" b="0" i="0" dirty="0">
                <a:solidFill>
                  <a:srgbClr val="FF0000"/>
                </a:solidFill>
                <a:effectLst/>
                <a:latin typeface="Calibri" panose="020F0502020204030204" pitchFamily="34" charset="0"/>
                <a:cs typeface="Calibri" panose="020F0502020204030204" pitchFamily="34" charset="0"/>
              </a:rPr>
            </a:br>
            <a:r>
              <a:rPr lang="en-AU" sz="3200" b="0" i="0" dirty="0">
                <a:solidFill>
                  <a:srgbClr val="FF0000"/>
                </a:solidFill>
                <a:effectLst/>
                <a:latin typeface="Calibri" panose="020F0502020204030204" pitchFamily="34" charset="0"/>
                <a:cs typeface="Calibri" panose="020F0502020204030204" pitchFamily="34" charset="0"/>
              </a:rPr>
              <a:t>  background-</a:t>
            </a:r>
            <a:r>
              <a:rPr lang="en-AU" sz="3200" b="0" i="0" dirty="0" err="1">
                <a:solidFill>
                  <a:srgbClr val="FF0000"/>
                </a:solidFill>
                <a:effectLst/>
                <a:latin typeface="Calibri" panose="020F0502020204030204" pitchFamily="34" charset="0"/>
                <a:cs typeface="Calibri" panose="020F0502020204030204" pitchFamily="34" charset="0"/>
              </a:rPr>
              <a:t>color</a:t>
            </a:r>
            <a:r>
              <a:rPr lang="en-AU" sz="3200" b="0" i="0" dirty="0">
                <a:solidFill>
                  <a:srgbClr val="000000"/>
                </a:solidFill>
                <a:effectLst/>
                <a:latin typeface="Calibri" panose="020F0502020204030204" pitchFamily="34" charset="0"/>
                <a:cs typeface="Calibri" panose="020F0502020204030204" pitchFamily="34" charset="0"/>
              </a:rPr>
              <a:t>:</a:t>
            </a:r>
            <a:r>
              <a:rPr lang="en-AU" sz="3200" b="0" i="0" dirty="0">
                <a:solidFill>
                  <a:srgbClr val="0000CD"/>
                </a:solidFill>
                <a:effectLst/>
                <a:latin typeface="Calibri" panose="020F0502020204030204" pitchFamily="34" charset="0"/>
                <a:cs typeface="Calibri" panose="020F0502020204030204" pitchFamily="34" charset="0"/>
              </a:rPr>
              <a:t> yellow</a:t>
            </a:r>
            <a:r>
              <a:rPr lang="en-AU" sz="3200" b="0" i="0" dirty="0">
                <a:solidFill>
                  <a:srgbClr val="000000"/>
                </a:solidFill>
                <a:effectLst/>
                <a:latin typeface="Calibri" panose="020F0502020204030204" pitchFamily="34" charset="0"/>
                <a:cs typeface="Calibri" panose="020F0502020204030204" pitchFamily="34" charset="0"/>
              </a:rPr>
              <a:t>;</a:t>
            </a:r>
            <a:br>
              <a:rPr lang="en-AU" sz="3200" b="0" i="0" dirty="0">
                <a:solidFill>
                  <a:srgbClr val="FF0000"/>
                </a:solidFill>
                <a:effectLst/>
                <a:latin typeface="Calibri" panose="020F0502020204030204" pitchFamily="34" charset="0"/>
                <a:cs typeface="Calibri" panose="020F0502020204030204" pitchFamily="34" charset="0"/>
              </a:rPr>
            </a:br>
            <a:r>
              <a:rPr lang="en-AU" sz="3200" b="0" i="0" dirty="0">
                <a:solidFill>
                  <a:srgbClr val="000000"/>
                </a:solidFill>
                <a:effectLst/>
                <a:latin typeface="Calibri" panose="020F0502020204030204" pitchFamily="34" charset="0"/>
                <a:cs typeface="Calibri" panose="020F0502020204030204" pitchFamily="34" charset="0"/>
              </a:rPr>
              <a:t>}</a:t>
            </a:r>
            <a:endParaRPr lang="en-AU" sz="3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2D6E859D-67CD-49ED-A8F4-474168864690}"/>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25849489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2EE29-F32F-43FA-A177-0D7FE2768C91}"/>
              </a:ext>
            </a:extLst>
          </p:cNvPr>
          <p:cNvSpPr>
            <a:spLocks noGrp="1"/>
          </p:cNvSpPr>
          <p:nvPr>
            <p:ph type="title"/>
          </p:nvPr>
        </p:nvSpPr>
        <p:spPr>
          <a:xfrm>
            <a:off x="435429" y="223610"/>
            <a:ext cx="10515600" cy="494847"/>
          </a:xfrm>
        </p:spPr>
        <p:txBody>
          <a:bodyPr>
            <a:normAutofit fontScale="90000"/>
          </a:bodyPr>
          <a:lstStyle/>
          <a:p>
            <a:br>
              <a:rPr lang="en-AU" b="0" i="0" dirty="0">
                <a:solidFill>
                  <a:srgbClr val="000000"/>
                </a:solidFill>
                <a:effectLst/>
                <a:latin typeface="Segoe UI" panose="020B0502040204020203" pitchFamily="34" charset="0"/>
              </a:rPr>
            </a:br>
            <a:br>
              <a:rPr lang="en-AU" b="0" i="0" dirty="0">
                <a:solidFill>
                  <a:srgbClr val="000000"/>
                </a:solidFill>
                <a:effectLst/>
                <a:latin typeface="Segoe UI" panose="020B0502040204020203" pitchFamily="34" charset="0"/>
              </a:rPr>
            </a:br>
            <a:br>
              <a:rPr lang="en-AU" b="0" i="0" dirty="0">
                <a:solidFill>
                  <a:srgbClr val="000000"/>
                </a:solidFill>
                <a:effectLst/>
                <a:latin typeface="Segoe UI" panose="020B0502040204020203" pitchFamily="34" charset="0"/>
              </a:rPr>
            </a:br>
            <a:r>
              <a:rPr lang="en-AU" sz="4000" dirty="0">
                <a:solidFill>
                  <a:schemeClr val="accent2">
                    <a:lumMod val="50000"/>
                  </a:schemeClr>
                </a:solidFill>
              </a:rPr>
              <a:t>CSS Attribute Selectors</a:t>
            </a:r>
            <a:br>
              <a:rPr lang="en-AU" sz="4000" dirty="0">
                <a:solidFill>
                  <a:schemeClr val="accent2">
                    <a:lumMod val="50000"/>
                  </a:schemeClr>
                </a:solidFill>
              </a:rPr>
            </a:br>
            <a:br>
              <a:rPr lang="en-AU" sz="4000" dirty="0">
                <a:solidFill>
                  <a:schemeClr val="accent2">
                    <a:lumMod val="50000"/>
                  </a:schemeClr>
                </a:solidFill>
              </a:rPr>
            </a:br>
            <a:br>
              <a:rPr lang="en-AU" sz="4000" dirty="0">
                <a:solidFill>
                  <a:schemeClr val="accent2">
                    <a:lumMod val="50000"/>
                  </a:schemeClr>
                </a:solidFill>
              </a:rPr>
            </a:br>
            <a:endParaRPr lang="en-AU" sz="4000" dirty="0">
              <a:solidFill>
                <a:schemeClr val="accent2">
                  <a:lumMod val="50000"/>
                </a:schemeClr>
              </a:solidFill>
            </a:endParaRPr>
          </a:p>
        </p:txBody>
      </p:sp>
      <p:sp>
        <p:nvSpPr>
          <p:cNvPr id="3" name="Content Placeholder 2">
            <a:extLst>
              <a:ext uri="{FF2B5EF4-FFF2-40B4-BE49-F238E27FC236}">
                <a16:creationId xmlns:a16="http://schemas.microsoft.com/office/drawing/2014/main" id="{4988A8F8-D57E-4E77-AC47-13BCA87B00A5}"/>
              </a:ext>
            </a:extLst>
          </p:cNvPr>
          <p:cNvSpPr>
            <a:spLocks noGrp="1"/>
          </p:cNvSpPr>
          <p:nvPr>
            <p:ph idx="1"/>
          </p:nvPr>
        </p:nvSpPr>
        <p:spPr>
          <a:xfrm>
            <a:off x="3984171" y="1034143"/>
            <a:ext cx="4223657" cy="4477204"/>
          </a:xfrm>
        </p:spPr>
        <p:txBody>
          <a:bodyPr>
            <a:noAutofit/>
          </a:bodyPr>
          <a:lstStyle/>
          <a:p>
            <a:pPr marL="0" indent="0">
              <a:buNone/>
            </a:pPr>
            <a:r>
              <a:rPr lang="en-AU" sz="1050" dirty="0"/>
              <a:t>&lt;!DOCTYPE html&gt;</a:t>
            </a:r>
          </a:p>
          <a:p>
            <a:pPr marL="0" indent="0">
              <a:buNone/>
            </a:pPr>
            <a:r>
              <a:rPr lang="en-AU" sz="1050" dirty="0"/>
              <a:t>&lt;html&gt;</a:t>
            </a:r>
          </a:p>
          <a:p>
            <a:pPr marL="0" indent="0">
              <a:buNone/>
            </a:pPr>
            <a:r>
              <a:rPr lang="en-AU" sz="1050" dirty="0"/>
              <a:t>&lt;head&gt;</a:t>
            </a:r>
          </a:p>
          <a:p>
            <a:pPr marL="0" indent="0">
              <a:buNone/>
            </a:pPr>
            <a:r>
              <a:rPr lang="en-AU" sz="1050" dirty="0"/>
              <a:t>&lt;style&gt;</a:t>
            </a:r>
          </a:p>
          <a:p>
            <a:pPr marL="0" indent="0">
              <a:buNone/>
            </a:pPr>
            <a:r>
              <a:rPr lang="en-AU" sz="1050" dirty="0"/>
              <a:t>a[target] {</a:t>
            </a:r>
          </a:p>
          <a:p>
            <a:pPr marL="0" indent="0">
              <a:buNone/>
            </a:pPr>
            <a:r>
              <a:rPr lang="en-AU" sz="1050" dirty="0"/>
              <a:t>  background-</a:t>
            </a:r>
            <a:r>
              <a:rPr lang="en-AU" sz="1050" dirty="0" err="1"/>
              <a:t>color</a:t>
            </a:r>
            <a:r>
              <a:rPr lang="en-AU" sz="1050" dirty="0"/>
              <a:t>: yellow;</a:t>
            </a:r>
          </a:p>
          <a:p>
            <a:pPr marL="0" indent="0">
              <a:buNone/>
            </a:pPr>
            <a:r>
              <a:rPr lang="en-AU" sz="1050" dirty="0"/>
              <a:t>}</a:t>
            </a:r>
          </a:p>
          <a:p>
            <a:pPr marL="0" indent="0">
              <a:buNone/>
            </a:pPr>
            <a:r>
              <a:rPr lang="en-AU" sz="1050" dirty="0"/>
              <a:t>&lt;/style&gt;</a:t>
            </a:r>
          </a:p>
          <a:p>
            <a:pPr marL="0" indent="0">
              <a:buNone/>
            </a:pPr>
            <a:r>
              <a:rPr lang="en-AU" sz="1050" dirty="0"/>
              <a:t>&lt;/head&gt;</a:t>
            </a:r>
          </a:p>
          <a:p>
            <a:pPr marL="0" indent="0">
              <a:buNone/>
            </a:pPr>
            <a:r>
              <a:rPr lang="en-AU" sz="1050" dirty="0"/>
              <a:t>&lt;body&gt;</a:t>
            </a:r>
          </a:p>
          <a:p>
            <a:pPr marL="0" indent="0">
              <a:buNone/>
            </a:pPr>
            <a:r>
              <a:rPr lang="en-AU" sz="1050" dirty="0"/>
              <a:t>&lt;h2&gt;CSS [attribute] Selector&lt;/h2&gt;</a:t>
            </a:r>
          </a:p>
          <a:p>
            <a:pPr marL="0" indent="0">
              <a:buNone/>
            </a:pPr>
            <a:r>
              <a:rPr lang="en-AU" sz="1050" dirty="0"/>
              <a:t>&lt;p&gt;The links with a target attribute gets a yellow background:&lt;/p&gt;</a:t>
            </a:r>
          </a:p>
          <a:p>
            <a:pPr marL="0" indent="0">
              <a:buNone/>
            </a:pPr>
            <a:r>
              <a:rPr lang="en-AU" sz="1050" dirty="0"/>
              <a:t>&lt;a </a:t>
            </a:r>
            <a:r>
              <a:rPr lang="en-AU" sz="1050" dirty="0" err="1"/>
              <a:t>href</a:t>
            </a:r>
            <a:r>
              <a:rPr lang="en-AU" sz="1050" dirty="0"/>
              <a:t>="https://www.w3schools.com"&gt;w3schools.com&lt;/a&gt;</a:t>
            </a:r>
          </a:p>
          <a:p>
            <a:pPr marL="0" indent="0">
              <a:buNone/>
            </a:pPr>
            <a:r>
              <a:rPr lang="en-AU" sz="1050" dirty="0"/>
              <a:t>&lt;a </a:t>
            </a:r>
            <a:r>
              <a:rPr lang="en-AU" sz="1050" dirty="0" err="1"/>
              <a:t>href</a:t>
            </a:r>
            <a:r>
              <a:rPr lang="en-AU" sz="1050" dirty="0"/>
              <a:t>="http://www.disney.com" target="_blank"&gt;disney.com&lt;/a&gt;</a:t>
            </a:r>
          </a:p>
          <a:p>
            <a:pPr marL="0" indent="0">
              <a:buNone/>
            </a:pPr>
            <a:r>
              <a:rPr lang="en-AU" sz="1050" dirty="0"/>
              <a:t>&lt;a </a:t>
            </a:r>
            <a:r>
              <a:rPr lang="en-AU" sz="1050" dirty="0" err="1"/>
              <a:t>href</a:t>
            </a:r>
            <a:r>
              <a:rPr lang="en-AU" sz="1050" dirty="0"/>
              <a:t>="http://www.wikipedia.org" target="_top"&gt;wikipedia.org&lt;/a&gt;</a:t>
            </a:r>
          </a:p>
          <a:p>
            <a:pPr marL="0" indent="0">
              <a:buNone/>
            </a:pPr>
            <a:r>
              <a:rPr lang="en-AU" sz="1050" dirty="0"/>
              <a:t>&lt;/body&gt;</a:t>
            </a:r>
          </a:p>
          <a:p>
            <a:pPr marL="0" indent="0">
              <a:buNone/>
            </a:pPr>
            <a:r>
              <a:rPr lang="en-AU" sz="1050" dirty="0"/>
              <a:t>&lt;/html&gt;</a:t>
            </a:r>
          </a:p>
        </p:txBody>
      </p:sp>
      <p:sp>
        <p:nvSpPr>
          <p:cNvPr id="4" name="TextBox 3">
            <a:extLst>
              <a:ext uri="{FF2B5EF4-FFF2-40B4-BE49-F238E27FC236}">
                <a16:creationId xmlns:a16="http://schemas.microsoft.com/office/drawing/2014/main" id="{A2ED2641-4774-407A-B719-1488C1CF0F4B}"/>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101414132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76F75-2CEC-4B3B-899F-05340026130C}"/>
              </a:ext>
            </a:extLst>
          </p:cNvPr>
          <p:cNvSpPr>
            <a:spLocks noGrp="1"/>
          </p:cNvSpPr>
          <p:nvPr>
            <p:ph type="title"/>
          </p:nvPr>
        </p:nvSpPr>
        <p:spPr>
          <a:xfrm>
            <a:off x="838200" y="365125"/>
            <a:ext cx="10515600" cy="560161"/>
          </a:xfrm>
        </p:spPr>
        <p:txBody>
          <a:bodyPr>
            <a:noAutofit/>
          </a:bodyPr>
          <a:lstStyle/>
          <a:p>
            <a:r>
              <a:rPr lang="en-AU" sz="3600" dirty="0">
                <a:solidFill>
                  <a:schemeClr val="accent2">
                    <a:lumMod val="50000"/>
                  </a:schemeClr>
                </a:solidFill>
              </a:rPr>
              <a:t>Other CSS Attribute Selectors</a:t>
            </a:r>
          </a:p>
        </p:txBody>
      </p:sp>
      <p:sp>
        <p:nvSpPr>
          <p:cNvPr id="3" name="Content Placeholder 2">
            <a:extLst>
              <a:ext uri="{FF2B5EF4-FFF2-40B4-BE49-F238E27FC236}">
                <a16:creationId xmlns:a16="http://schemas.microsoft.com/office/drawing/2014/main" id="{A9F07F2A-9F1E-4654-867E-F6C514B13D89}"/>
              </a:ext>
            </a:extLst>
          </p:cNvPr>
          <p:cNvSpPr>
            <a:spLocks noGrp="1"/>
          </p:cNvSpPr>
          <p:nvPr>
            <p:ph idx="1"/>
          </p:nvPr>
        </p:nvSpPr>
        <p:spPr>
          <a:xfrm>
            <a:off x="356191" y="1254832"/>
            <a:ext cx="10515600" cy="3808956"/>
          </a:xfrm>
        </p:spPr>
        <p:txBody>
          <a:bodyPr>
            <a:noAutofit/>
          </a:bodyPr>
          <a:lstStyle/>
          <a:p>
            <a:endParaRPr lang="en-AU" dirty="0">
              <a:latin typeface="Calibri" panose="020F0502020204030204" pitchFamily="34" charset="0"/>
              <a:cs typeface="Calibri" panose="020F0502020204030204" pitchFamily="34" charset="0"/>
            </a:endParaRPr>
          </a:p>
          <a:p>
            <a:r>
              <a:rPr lang="en-AU" dirty="0">
                <a:latin typeface="Calibri" panose="020F0502020204030204" pitchFamily="34" charset="0"/>
                <a:cs typeface="Calibri" panose="020F0502020204030204" pitchFamily="34" charset="0"/>
              </a:rPr>
              <a:t>[attribute="value"] Selector</a:t>
            </a:r>
          </a:p>
          <a:p>
            <a:r>
              <a:rPr lang="en-AU" dirty="0">
                <a:latin typeface="Calibri" panose="020F0502020204030204" pitchFamily="34" charset="0"/>
                <a:cs typeface="Calibri" panose="020F0502020204030204" pitchFamily="34" charset="0"/>
              </a:rPr>
              <a:t>[attribute*="value"] Selector</a:t>
            </a:r>
          </a:p>
          <a:p>
            <a:r>
              <a:rPr lang="en-AU" dirty="0">
                <a:latin typeface="Calibri" panose="020F0502020204030204" pitchFamily="34" charset="0"/>
                <a:cs typeface="Calibri" panose="020F0502020204030204" pitchFamily="34" charset="0"/>
              </a:rPr>
              <a:t>[attribute$="value"]Selector</a:t>
            </a:r>
          </a:p>
          <a:p>
            <a:r>
              <a:rPr lang="en-AU" dirty="0">
                <a:latin typeface="Calibri" panose="020F0502020204030204" pitchFamily="34" charset="0"/>
                <a:cs typeface="Calibri" panose="020F0502020204030204" pitchFamily="34" charset="0"/>
              </a:rPr>
              <a:t>[attribute^="value"] Selector</a:t>
            </a:r>
            <a:br>
              <a:rPr lang="en-AU" dirty="0">
                <a:latin typeface="Calibri" panose="020F0502020204030204" pitchFamily="34" charset="0"/>
                <a:cs typeface="Calibri" panose="020F0502020204030204" pitchFamily="34" charset="0"/>
              </a:rPr>
            </a:br>
            <a:br>
              <a:rPr lang="en-AU" dirty="0">
                <a:latin typeface="Calibri" panose="020F0502020204030204" pitchFamily="34" charset="0"/>
                <a:cs typeface="Calibri" panose="020F0502020204030204" pitchFamily="34" charset="0"/>
              </a:rPr>
            </a:br>
            <a:br>
              <a:rPr lang="en-AU" dirty="0">
                <a:latin typeface="Calibri" panose="020F0502020204030204" pitchFamily="34" charset="0"/>
                <a:cs typeface="Calibri" panose="020F0502020204030204" pitchFamily="34" charset="0"/>
              </a:rPr>
            </a:br>
            <a:br>
              <a:rPr lang="en-AU" dirty="0">
                <a:latin typeface="Calibri" panose="020F0502020204030204" pitchFamily="34" charset="0"/>
                <a:cs typeface="Calibri" panose="020F0502020204030204" pitchFamily="34" charset="0"/>
              </a:rPr>
            </a:br>
            <a:br>
              <a:rPr lang="en-AU" dirty="0">
                <a:latin typeface="Calibri" panose="020F0502020204030204" pitchFamily="34" charset="0"/>
                <a:cs typeface="Calibri" panose="020F0502020204030204" pitchFamily="34" charset="0"/>
              </a:rPr>
            </a:br>
            <a:br>
              <a:rPr lang="en-AU" dirty="0">
                <a:latin typeface="Calibri" panose="020F0502020204030204" pitchFamily="34" charset="0"/>
                <a:cs typeface="Calibri" panose="020F0502020204030204" pitchFamily="34" charset="0"/>
              </a:rPr>
            </a:br>
            <a:br>
              <a:rPr lang="en-AU" dirty="0">
                <a:latin typeface="Calibri" panose="020F0502020204030204" pitchFamily="34" charset="0"/>
                <a:cs typeface="Calibri" panose="020F0502020204030204" pitchFamily="34" charset="0"/>
              </a:rPr>
            </a:br>
            <a:br>
              <a:rPr lang="en-AU" dirty="0">
                <a:latin typeface="Calibri" panose="020F0502020204030204" pitchFamily="34" charset="0"/>
                <a:cs typeface="Calibri" panose="020F0502020204030204" pitchFamily="34" charset="0"/>
              </a:rPr>
            </a:br>
            <a:br>
              <a:rPr lang="en-AU" dirty="0">
                <a:latin typeface="Calibri" panose="020F0502020204030204" pitchFamily="34" charset="0"/>
                <a:cs typeface="Calibri" panose="020F0502020204030204" pitchFamily="34" charset="0"/>
              </a:rPr>
            </a:br>
            <a:br>
              <a:rPr lang="en-AU" dirty="0">
                <a:latin typeface="Calibri" panose="020F0502020204030204" pitchFamily="34" charset="0"/>
                <a:cs typeface="Calibri" panose="020F0502020204030204" pitchFamily="34" charset="0"/>
              </a:rPr>
            </a:br>
            <a:br>
              <a:rPr lang="en-AU" dirty="0">
                <a:latin typeface="Calibri" panose="020F0502020204030204" pitchFamily="34" charset="0"/>
                <a:cs typeface="Calibri" panose="020F0502020204030204" pitchFamily="34" charset="0"/>
              </a:rPr>
            </a:br>
            <a:br>
              <a:rPr lang="en-AU" dirty="0">
                <a:latin typeface="Calibri" panose="020F0502020204030204" pitchFamily="34" charset="0"/>
                <a:cs typeface="Calibri" panose="020F0502020204030204" pitchFamily="34" charset="0"/>
              </a:rPr>
            </a:br>
            <a:endParaRPr lang="en-AU"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515F31BA-3E3E-4CE6-94C2-37CC6D1D9303}"/>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359642124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2EE29-F32F-43FA-A177-0D7FE2768C91}"/>
              </a:ext>
            </a:extLst>
          </p:cNvPr>
          <p:cNvSpPr>
            <a:spLocks noGrp="1"/>
          </p:cNvSpPr>
          <p:nvPr>
            <p:ph type="title"/>
          </p:nvPr>
        </p:nvSpPr>
        <p:spPr>
          <a:xfrm>
            <a:off x="435429" y="223610"/>
            <a:ext cx="10515600" cy="810533"/>
          </a:xfrm>
        </p:spPr>
        <p:txBody>
          <a:bodyPr>
            <a:normAutofit fontScale="90000"/>
          </a:bodyPr>
          <a:lstStyle/>
          <a:p>
            <a:br>
              <a:rPr lang="en-AU" b="0" i="0" dirty="0">
                <a:solidFill>
                  <a:srgbClr val="000000"/>
                </a:solidFill>
                <a:effectLst/>
                <a:latin typeface="Segoe UI" panose="020B0502040204020203" pitchFamily="34" charset="0"/>
              </a:rPr>
            </a:br>
            <a:br>
              <a:rPr lang="en-AU" b="0" i="0" dirty="0">
                <a:solidFill>
                  <a:srgbClr val="000000"/>
                </a:solidFill>
                <a:effectLst/>
                <a:latin typeface="Segoe UI" panose="020B0502040204020203" pitchFamily="34" charset="0"/>
              </a:rPr>
            </a:br>
            <a:br>
              <a:rPr lang="en-AU" b="0" i="0" dirty="0">
                <a:solidFill>
                  <a:srgbClr val="000000"/>
                </a:solidFill>
                <a:effectLst/>
                <a:latin typeface="Segoe UI" panose="020B0502040204020203" pitchFamily="34" charset="0"/>
              </a:rPr>
            </a:br>
            <a:r>
              <a:rPr lang="en-AU" sz="4000" dirty="0">
                <a:solidFill>
                  <a:schemeClr val="accent2">
                    <a:lumMod val="50000"/>
                  </a:schemeClr>
                </a:solidFill>
              </a:rPr>
              <a:t>[attribute="value"] Selector</a:t>
            </a:r>
            <a:br>
              <a:rPr lang="en-AU" sz="4000" dirty="0">
                <a:solidFill>
                  <a:schemeClr val="accent2">
                    <a:lumMod val="50000"/>
                  </a:schemeClr>
                </a:solidFill>
              </a:rPr>
            </a:br>
            <a:br>
              <a:rPr lang="en-AU" sz="4000" dirty="0">
                <a:solidFill>
                  <a:schemeClr val="accent2">
                    <a:lumMod val="50000"/>
                  </a:schemeClr>
                </a:solidFill>
              </a:rPr>
            </a:br>
            <a:br>
              <a:rPr lang="en-AU" sz="4000" dirty="0">
                <a:solidFill>
                  <a:schemeClr val="accent2">
                    <a:lumMod val="50000"/>
                  </a:schemeClr>
                </a:solidFill>
              </a:rPr>
            </a:br>
            <a:br>
              <a:rPr lang="en-AU" sz="4000" dirty="0">
                <a:solidFill>
                  <a:schemeClr val="accent2">
                    <a:lumMod val="50000"/>
                  </a:schemeClr>
                </a:solidFill>
              </a:rPr>
            </a:br>
            <a:endParaRPr lang="en-AU" sz="4000" dirty="0">
              <a:solidFill>
                <a:schemeClr val="accent2">
                  <a:lumMod val="50000"/>
                </a:schemeClr>
              </a:solidFill>
            </a:endParaRPr>
          </a:p>
        </p:txBody>
      </p:sp>
      <p:sp>
        <p:nvSpPr>
          <p:cNvPr id="3" name="Content Placeholder 2">
            <a:extLst>
              <a:ext uri="{FF2B5EF4-FFF2-40B4-BE49-F238E27FC236}">
                <a16:creationId xmlns:a16="http://schemas.microsoft.com/office/drawing/2014/main" id="{4988A8F8-D57E-4E77-AC47-13BCA87B00A5}"/>
              </a:ext>
            </a:extLst>
          </p:cNvPr>
          <p:cNvSpPr>
            <a:spLocks noGrp="1"/>
          </p:cNvSpPr>
          <p:nvPr>
            <p:ph idx="1"/>
          </p:nvPr>
        </p:nvSpPr>
        <p:spPr>
          <a:xfrm>
            <a:off x="5693229" y="957942"/>
            <a:ext cx="5029200" cy="4767944"/>
          </a:xfrm>
        </p:spPr>
        <p:txBody>
          <a:bodyPr>
            <a:noAutofit/>
          </a:bodyPr>
          <a:lstStyle/>
          <a:p>
            <a:pPr marL="0" indent="0">
              <a:buNone/>
            </a:pPr>
            <a:r>
              <a:rPr lang="en-AU" sz="1200" dirty="0"/>
              <a:t>&lt;!DOCTYPE html&gt;</a:t>
            </a:r>
          </a:p>
          <a:p>
            <a:pPr marL="0" indent="0">
              <a:buNone/>
            </a:pPr>
            <a:r>
              <a:rPr lang="en-AU" sz="1200" dirty="0"/>
              <a:t>&lt;html&gt;</a:t>
            </a:r>
          </a:p>
          <a:p>
            <a:pPr marL="0" indent="0">
              <a:buNone/>
            </a:pPr>
            <a:r>
              <a:rPr lang="en-AU" sz="1200" dirty="0"/>
              <a:t>&lt;head&gt;</a:t>
            </a:r>
          </a:p>
          <a:p>
            <a:pPr marL="0" indent="0">
              <a:buNone/>
            </a:pPr>
            <a:r>
              <a:rPr lang="en-AU" sz="1200" dirty="0"/>
              <a:t>&lt;style&gt;</a:t>
            </a:r>
          </a:p>
          <a:p>
            <a:pPr marL="0" indent="0">
              <a:buNone/>
            </a:pPr>
            <a:r>
              <a:rPr lang="en-AU" sz="1200" dirty="0"/>
              <a:t>a</a:t>
            </a:r>
            <a:r>
              <a:rPr lang="en-AU" sz="1200" dirty="0">
                <a:solidFill>
                  <a:srgbClr val="FF0000"/>
                </a:solidFill>
              </a:rPr>
              <a:t>[target=_blank]</a:t>
            </a:r>
            <a:r>
              <a:rPr lang="en-AU" sz="1200" dirty="0"/>
              <a:t> {</a:t>
            </a:r>
          </a:p>
          <a:p>
            <a:pPr marL="0" indent="0">
              <a:buNone/>
            </a:pPr>
            <a:r>
              <a:rPr lang="en-AU" sz="1200" dirty="0"/>
              <a:t>  background-</a:t>
            </a:r>
            <a:r>
              <a:rPr lang="en-AU" sz="1200" dirty="0" err="1"/>
              <a:t>color</a:t>
            </a:r>
            <a:r>
              <a:rPr lang="en-AU" sz="1200" dirty="0"/>
              <a:t>: yellow;</a:t>
            </a:r>
          </a:p>
          <a:p>
            <a:pPr marL="0" indent="0">
              <a:buNone/>
            </a:pPr>
            <a:r>
              <a:rPr lang="en-AU" sz="1200" dirty="0"/>
              <a:t>}</a:t>
            </a:r>
          </a:p>
          <a:p>
            <a:pPr marL="0" indent="0">
              <a:buNone/>
            </a:pPr>
            <a:r>
              <a:rPr lang="en-AU" sz="1200" dirty="0"/>
              <a:t>&lt;/style&gt;</a:t>
            </a:r>
          </a:p>
          <a:p>
            <a:pPr marL="0" indent="0">
              <a:buNone/>
            </a:pPr>
            <a:r>
              <a:rPr lang="en-AU" sz="1200" dirty="0"/>
              <a:t>&lt;/head&gt;</a:t>
            </a:r>
          </a:p>
          <a:p>
            <a:pPr marL="0" indent="0">
              <a:buNone/>
            </a:pPr>
            <a:r>
              <a:rPr lang="en-AU" sz="1200" dirty="0"/>
              <a:t>&lt;body&gt;</a:t>
            </a:r>
          </a:p>
          <a:p>
            <a:pPr marL="0" indent="0">
              <a:buNone/>
            </a:pPr>
            <a:r>
              <a:rPr lang="en-AU" sz="1200" dirty="0"/>
              <a:t>&lt;h2&gt;CSS [attribute="value"] Selector&lt;/h2&gt;</a:t>
            </a:r>
          </a:p>
          <a:p>
            <a:pPr marL="0" indent="0">
              <a:buNone/>
            </a:pPr>
            <a:r>
              <a:rPr lang="en-AU" sz="1200" dirty="0"/>
              <a:t>&lt;p&gt;The link with target="_blank" gets a yellow background:&lt;/p&gt;</a:t>
            </a:r>
          </a:p>
          <a:p>
            <a:pPr marL="0" indent="0">
              <a:buNone/>
            </a:pPr>
            <a:r>
              <a:rPr lang="en-AU" sz="1200" dirty="0"/>
              <a:t>&lt;a </a:t>
            </a:r>
            <a:r>
              <a:rPr lang="en-AU" sz="1200" dirty="0" err="1"/>
              <a:t>href</a:t>
            </a:r>
            <a:r>
              <a:rPr lang="en-AU" sz="1200" dirty="0"/>
              <a:t>="https://www.w3schools.com"&gt;w3schools.com&lt;/a&gt;</a:t>
            </a:r>
          </a:p>
          <a:p>
            <a:pPr marL="0" indent="0">
              <a:buNone/>
            </a:pPr>
            <a:r>
              <a:rPr lang="en-AU" sz="1200" dirty="0"/>
              <a:t>&lt;a </a:t>
            </a:r>
            <a:r>
              <a:rPr lang="en-AU" sz="1200" dirty="0" err="1"/>
              <a:t>href</a:t>
            </a:r>
            <a:r>
              <a:rPr lang="en-AU" sz="1200" dirty="0"/>
              <a:t>="http://www.disney.com" </a:t>
            </a:r>
            <a:r>
              <a:rPr lang="en-AU" sz="1200" b="1" dirty="0">
                <a:solidFill>
                  <a:srgbClr val="FF0000"/>
                </a:solidFill>
              </a:rPr>
              <a:t>target="_blank"&gt;</a:t>
            </a:r>
            <a:r>
              <a:rPr lang="en-AU" sz="1200" dirty="0"/>
              <a:t>disney.com&lt;/a&gt;</a:t>
            </a:r>
          </a:p>
          <a:p>
            <a:pPr marL="0" indent="0">
              <a:buNone/>
            </a:pPr>
            <a:r>
              <a:rPr lang="en-AU" sz="1200" dirty="0"/>
              <a:t>&lt;a </a:t>
            </a:r>
            <a:r>
              <a:rPr lang="en-AU" sz="1200" dirty="0" err="1"/>
              <a:t>href</a:t>
            </a:r>
            <a:r>
              <a:rPr lang="en-AU" sz="1200" dirty="0"/>
              <a:t>="http://www.wikipedia.org"&gt;wikipedia.org&lt;/a&gt;</a:t>
            </a:r>
          </a:p>
          <a:p>
            <a:pPr marL="0" indent="0">
              <a:buNone/>
            </a:pPr>
            <a:r>
              <a:rPr lang="en-AU" sz="1200" dirty="0"/>
              <a:t>&lt;/body&gt;&lt;/html&gt;</a:t>
            </a:r>
          </a:p>
          <a:p>
            <a:pPr marL="0" indent="0">
              <a:buNone/>
            </a:pPr>
            <a:endParaRPr lang="en-AU" sz="1200" dirty="0"/>
          </a:p>
          <a:p>
            <a:pPr marL="0" indent="0">
              <a:buNone/>
            </a:pPr>
            <a:endParaRPr lang="en-AU" sz="1200" dirty="0"/>
          </a:p>
          <a:p>
            <a:pPr marL="0" indent="0">
              <a:buNone/>
            </a:pPr>
            <a:endParaRPr lang="en-AU" sz="1200" dirty="0"/>
          </a:p>
        </p:txBody>
      </p:sp>
      <p:sp>
        <p:nvSpPr>
          <p:cNvPr id="4" name="TextBox 3">
            <a:extLst>
              <a:ext uri="{FF2B5EF4-FFF2-40B4-BE49-F238E27FC236}">
                <a16:creationId xmlns:a16="http://schemas.microsoft.com/office/drawing/2014/main" id="{E5E9E572-6534-488E-A692-67F9EAF4083F}"/>
              </a:ext>
            </a:extLst>
          </p:cNvPr>
          <p:cNvSpPr txBox="1"/>
          <p:nvPr/>
        </p:nvSpPr>
        <p:spPr>
          <a:xfrm>
            <a:off x="185059" y="1830486"/>
            <a:ext cx="5312227" cy="923330"/>
          </a:xfrm>
          <a:prstGeom prst="rect">
            <a:avLst/>
          </a:prstGeom>
          <a:noFill/>
        </p:spPr>
        <p:txBody>
          <a:bodyPr wrap="square">
            <a:spAutoFit/>
          </a:bodyPr>
          <a:lstStyle/>
          <a:p>
            <a:r>
              <a:rPr lang="en-US" dirty="0"/>
              <a:t>The [attribute="value"] selector is used to select elements with a specified attribute and value.</a:t>
            </a:r>
          </a:p>
          <a:p>
            <a:endParaRPr lang="en-US" dirty="0"/>
          </a:p>
        </p:txBody>
      </p:sp>
      <p:sp>
        <p:nvSpPr>
          <p:cNvPr id="5" name="TextBox 4">
            <a:extLst>
              <a:ext uri="{FF2B5EF4-FFF2-40B4-BE49-F238E27FC236}">
                <a16:creationId xmlns:a16="http://schemas.microsoft.com/office/drawing/2014/main" id="{F1AF09D3-1967-4555-A8D2-BF4B88EFC841}"/>
              </a:ext>
            </a:extLst>
          </p:cNvPr>
          <p:cNvSpPr txBox="1"/>
          <p:nvPr/>
        </p:nvSpPr>
        <p:spPr>
          <a:xfrm>
            <a:off x="7881797" y="5510442"/>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25116678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2EE29-F32F-43FA-A177-0D7FE2768C91}"/>
              </a:ext>
            </a:extLst>
          </p:cNvPr>
          <p:cNvSpPr>
            <a:spLocks noGrp="1"/>
          </p:cNvSpPr>
          <p:nvPr>
            <p:ph type="title"/>
          </p:nvPr>
        </p:nvSpPr>
        <p:spPr>
          <a:xfrm>
            <a:off x="435429" y="223610"/>
            <a:ext cx="10515600" cy="810533"/>
          </a:xfrm>
        </p:spPr>
        <p:txBody>
          <a:bodyPr>
            <a:normAutofit fontScale="90000"/>
          </a:bodyPr>
          <a:lstStyle/>
          <a:p>
            <a:br>
              <a:rPr lang="en-AU" b="0" i="0" dirty="0">
                <a:solidFill>
                  <a:srgbClr val="000000"/>
                </a:solidFill>
                <a:effectLst/>
                <a:latin typeface="Segoe UI" panose="020B0502040204020203" pitchFamily="34" charset="0"/>
              </a:rPr>
            </a:br>
            <a:br>
              <a:rPr lang="en-AU" b="0" i="0" dirty="0">
                <a:solidFill>
                  <a:srgbClr val="000000"/>
                </a:solidFill>
                <a:effectLst/>
                <a:latin typeface="Segoe UI" panose="020B0502040204020203" pitchFamily="34" charset="0"/>
              </a:rPr>
            </a:br>
            <a:br>
              <a:rPr lang="en-AU" b="0" i="0" dirty="0">
                <a:solidFill>
                  <a:srgbClr val="000000"/>
                </a:solidFill>
                <a:effectLst/>
                <a:latin typeface="Segoe UI" panose="020B0502040204020203" pitchFamily="34" charset="0"/>
              </a:rPr>
            </a:br>
            <a:r>
              <a:rPr lang="en-AU" sz="4000" dirty="0">
                <a:solidFill>
                  <a:schemeClr val="accent2">
                    <a:lumMod val="50000"/>
                  </a:schemeClr>
                </a:solidFill>
              </a:rPr>
              <a:t>[attribute*="value"] Selector</a:t>
            </a:r>
            <a:br>
              <a:rPr lang="en-AU" sz="4000" dirty="0">
                <a:solidFill>
                  <a:schemeClr val="accent2">
                    <a:lumMod val="50000"/>
                  </a:schemeClr>
                </a:solidFill>
              </a:rPr>
            </a:br>
            <a:br>
              <a:rPr lang="en-AU" sz="4000" dirty="0">
                <a:solidFill>
                  <a:schemeClr val="accent2">
                    <a:lumMod val="50000"/>
                  </a:schemeClr>
                </a:solidFill>
              </a:rPr>
            </a:br>
            <a:br>
              <a:rPr lang="en-AU" sz="4000" dirty="0">
                <a:solidFill>
                  <a:schemeClr val="accent2">
                    <a:lumMod val="50000"/>
                  </a:schemeClr>
                </a:solidFill>
              </a:rPr>
            </a:br>
            <a:br>
              <a:rPr lang="en-AU" sz="4000" dirty="0">
                <a:solidFill>
                  <a:schemeClr val="accent2">
                    <a:lumMod val="50000"/>
                  </a:schemeClr>
                </a:solidFill>
              </a:rPr>
            </a:br>
            <a:endParaRPr lang="en-AU" sz="4000" dirty="0">
              <a:solidFill>
                <a:schemeClr val="accent2">
                  <a:lumMod val="50000"/>
                </a:schemeClr>
              </a:solidFill>
            </a:endParaRPr>
          </a:p>
        </p:txBody>
      </p:sp>
      <p:sp>
        <p:nvSpPr>
          <p:cNvPr id="3" name="Content Placeholder 2">
            <a:extLst>
              <a:ext uri="{FF2B5EF4-FFF2-40B4-BE49-F238E27FC236}">
                <a16:creationId xmlns:a16="http://schemas.microsoft.com/office/drawing/2014/main" id="{4988A8F8-D57E-4E77-AC47-13BCA87B00A5}"/>
              </a:ext>
            </a:extLst>
          </p:cNvPr>
          <p:cNvSpPr>
            <a:spLocks noGrp="1"/>
          </p:cNvSpPr>
          <p:nvPr>
            <p:ph idx="1"/>
          </p:nvPr>
        </p:nvSpPr>
        <p:spPr>
          <a:xfrm>
            <a:off x="7162800" y="879248"/>
            <a:ext cx="5029200" cy="4767944"/>
          </a:xfrm>
        </p:spPr>
        <p:txBody>
          <a:bodyPr>
            <a:noAutofit/>
          </a:bodyPr>
          <a:lstStyle/>
          <a:p>
            <a:pPr marL="0" indent="0">
              <a:buNone/>
            </a:pPr>
            <a:r>
              <a:rPr lang="en-US" sz="1400" dirty="0"/>
              <a:t>&lt;!DOCTYPE html&gt;</a:t>
            </a:r>
          </a:p>
          <a:p>
            <a:pPr marL="0" indent="0">
              <a:buNone/>
            </a:pPr>
            <a:r>
              <a:rPr lang="en-US" sz="1400" dirty="0"/>
              <a:t>&lt;html&gt;</a:t>
            </a:r>
          </a:p>
          <a:p>
            <a:pPr marL="0" indent="0">
              <a:buNone/>
            </a:pPr>
            <a:r>
              <a:rPr lang="en-US" sz="1400" dirty="0"/>
              <a:t>&lt;head&gt;</a:t>
            </a:r>
          </a:p>
          <a:p>
            <a:pPr marL="0" indent="0">
              <a:buNone/>
            </a:pPr>
            <a:r>
              <a:rPr lang="en-US" sz="1400" dirty="0"/>
              <a:t>&lt;style&gt; </a:t>
            </a:r>
          </a:p>
          <a:p>
            <a:pPr marL="0" indent="0">
              <a:buNone/>
            </a:pPr>
            <a:r>
              <a:rPr lang="en-US" sz="1400" dirty="0"/>
              <a:t>[class*="</a:t>
            </a:r>
            <a:r>
              <a:rPr lang="en-US" sz="1400" dirty="0" err="1"/>
              <a:t>te</a:t>
            </a:r>
            <a:r>
              <a:rPr lang="en-US" sz="1400" dirty="0"/>
              <a:t>"] {</a:t>
            </a:r>
          </a:p>
          <a:p>
            <a:pPr marL="0" indent="0">
              <a:buNone/>
            </a:pPr>
            <a:r>
              <a:rPr lang="en-US" sz="1400" dirty="0"/>
              <a:t>  background: yellow;}</a:t>
            </a:r>
          </a:p>
          <a:p>
            <a:pPr marL="0" indent="0">
              <a:buNone/>
            </a:pPr>
            <a:r>
              <a:rPr lang="en-US" sz="1400" dirty="0"/>
              <a:t>&lt;/style&gt;</a:t>
            </a:r>
          </a:p>
          <a:p>
            <a:pPr marL="0" indent="0">
              <a:buNone/>
            </a:pPr>
            <a:r>
              <a:rPr lang="en-US" sz="1400" dirty="0"/>
              <a:t>&lt;/head&gt;</a:t>
            </a:r>
          </a:p>
          <a:p>
            <a:pPr marL="0" indent="0">
              <a:buNone/>
            </a:pPr>
            <a:r>
              <a:rPr lang="en-US" sz="1400" dirty="0"/>
              <a:t>&lt;body&gt;</a:t>
            </a:r>
          </a:p>
          <a:p>
            <a:pPr marL="0" indent="0">
              <a:buNone/>
            </a:pPr>
            <a:r>
              <a:rPr lang="en-US" sz="1400" dirty="0"/>
              <a:t>&lt;h2&gt;CSS [attribute*="value"] Selector&lt;/h2&gt;</a:t>
            </a:r>
          </a:p>
          <a:p>
            <a:pPr marL="0" indent="0">
              <a:buNone/>
            </a:pPr>
            <a:r>
              <a:rPr lang="en-US" sz="1400" dirty="0"/>
              <a:t>&lt;div class="</a:t>
            </a:r>
            <a:r>
              <a:rPr lang="en-US" sz="1400" dirty="0" err="1"/>
              <a:t>first_test</a:t>
            </a:r>
            <a:r>
              <a:rPr lang="en-US" sz="1400" dirty="0"/>
              <a:t>"&gt;The first div element.&lt;/div&gt;</a:t>
            </a:r>
          </a:p>
          <a:p>
            <a:pPr marL="0" indent="0">
              <a:buNone/>
            </a:pPr>
            <a:r>
              <a:rPr lang="en-US" sz="1400" dirty="0"/>
              <a:t>&lt;div class="second"&gt;The second div element.&lt;/div&gt;</a:t>
            </a:r>
          </a:p>
          <a:p>
            <a:pPr marL="0" indent="0">
              <a:buNone/>
            </a:pPr>
            <a:r>
              <a:rPr lang="en-US" sz="1400" dirty="0"/>
              <a:t>&lt;div class="my-test"&gt;The third div element.&lt;/div&gt;</a:t>
            </a:r>
          </a:p>
          <a:p>
            <a:pPr marL="0" indent="0">
              <a:buNone/>
            </a:pPr>
            <a:r>
              <a:rPr lang="en-US" sz="1400" dirty="0"/>
              <a:t>&lt;p class="my"&gt;This is some text in a paragraph.&lt;/p&gt;</a:t>
            </a:r>
          </a:p>
          <a:p>
            <a:pPr marL="0" indent="0">
              <a:buNone/>
            </a:pPr>
            <a:r>
              <a:rPr lang="en-US" sz="1400" dirty="0"/>
              <a:t>&lt;/body&gt;&lt;/html&gt;</a:t>
            </a:r>
          </a:p>
          <a:p>
            <a:pPr marL="0" indent="0">
              <a:buNone/>
            </a:pPr>
            <a:endParaRPr lang="en-AU" sz="1400" dirty="0"/>
          </a:p>
        </p:txBody>
      </p:sp>
      <p:sp>
        <p:nvSpPr>
          <p:cNvPr id="6" name="TextBox 5">
            <a:extLst>
              <a:ext uri="{FF2B5EF4-FFF2-40B4-BE49-F238E27FC236}">
                <a16:creationId xmlns:a16="http://schemas.microsoft.com/office/drawing/2014/main" id="{BC947D7B-8A45-4A1B-897A-E12E7E4F2252}"/>
              </a:ext>
            </a:extLst>
          </p:cNvPr>
          <p:cNvSpPr txBox="1"/>
          <p:nvPr/>
        </p:nvSpPr>
        <p:spPr>
          <a:xfrm>
            <a:off x="674916" y="1951672"/>
            <a:ext cx="5312227" cy="1477328"/>
          </a:xfrm>
          <a:prstGeom prst="rect">
            <a:avLst/>
          </a:prstGeom>
          <a:noFill/>
        </p:spPr>
        <p:txBody>
          <a:bodyPr wrap="square">
            <a:spAutoFit/>
          </a:bodyPr>
          <a:lstStyle/>
          <a:p>
            <a:r>
              <a:rPr lang="en-US" dirty="0"/>
              <a:t>The [attribute*="value"] selector is used to select elements whose attribute value contains a specified value.</a:t>
            </a:r>
          </a:p>
          <a:p>
            <a:endParaRPr lang="en-US" dirty="0"/>
          </a:p>
          <a:p>
            <a:endParaRPr lang="en-US" dirty="0"/>
          </a:p>
        </p:txBody>
      </p:sp>
    </p:spTree>
    <p:extLst>
      <p:ext uri="{BB962C8B-B14F-4D97-AF65-F5344CB8AC3E}">
        <p14:creationId xmlns:p14="http://schemas.microsoft.com/office/powerpoint/2010/main" val="276143922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C8ED4-3FD2-4A1E-AEBD-E634F5FF391C}"/>
              </a:ext>
            </a:extLst>
          </p:cNvPr>
          <p:cNvSpPr>
            <a:spLocks noGrp="1"/>
          </p:cNvSpPr>
          <p:nvPr>
            <p:ph type="title"/>
          </p:nvPr>
        </p:nvSpPr>
        <p:spPr>
          <a:xfrm>
            <a:off x="320876" y="190955"/>
            <a:ext cx="11571514" cy="505732"/>
          </a:xfrm>
        </p:spPr>
        <p:txBody>
          <a:bodyPr>
            <a:normAutofit fontScale="90000"/>
          </a:bodyPr>
          <a:lstStyle/>
          <a:p>
            <a:br>
              <a:rPr lang="en-AU" b="0" i="0" dirty="0">
                <a:solidFill>
                  <a:srgbClr val="000000"/>
                </a:solidFill>
                <a:effectLst/>
                <a:latin typeface="Segoe UI" panose="020B0502040204020203" pitchFamily="34" charset="0"/>
              </a:rPr>
            </a:br>
            <a:br>
              <a:rPr lang="en-AU" b="0" i="0" dirty="0">
                <a:solidFill>
                  <a:srgbClr val="000000"/>
                </a:solidFill>
                <a:effectLst/>
                <a:latin typeface="Segoe UI" panose="020B0502040204020203" pitchFamily="34" charset="0"/>
              </a:rPr>
            </a:br>
            <a:br>
              <a:rPr lang="en-AU" b="0" i="0" dirty="0">
                <a:solidFill>
                  <a:srgbClr val="000000"/>
                </a:solidFill>
                <a:effectLst/>
                <a:latin typeface="Segoe UI" panose="020B0502040204020203" pitchFamily="34" charset="0"/>
              </a:rPr>
            </a:br>
            <a:br>
              <a:rPr lang="en-AU" b="0" i="0" dirty="0">
                <a:solidFill>
                  <a:srgbClr val="000000"/>
                </a:solidFill>
                <a:effectLst/>
                <a:latin typeface="Segoe UI" panose="020B0502040204020203" pitchFamily="34" charset="0"/>
              </a:rPr>
            </a:br>
            <a:r>
              <a:rPr lang="en-AU" sz="4400" dirty="0">
                <a:solidFill>
                  <a:schemeClr val="accent2">
                    <a:lumMod val="50000"/>
                  </a:schemeClr>
                </a:solidFill>
              </a:rPr>
              <a:t>[attribute$="value"]Selector</a:t>
            </a:r>
            <a:br>
              <a:rPr lang="en-AU" sz="4400" dirty="0">
                <a:solidFill>
                  <a:schemeClr val="accent2">
                    <a:lumMod val="50000"/>
                  </a:schemeClr>
                </a:solidFill>
              </a:rPr>
            </a:br>
            <a:br>
              <a:rPr lang="en-AU" sz="4400" dirty="0">
                <a:solidFill>
                  <a:schemeClr val="accent2">
                    <a:lumMod val="50000"/>
                  </a:schemeClr>
                </a:solidFill>
              </a:rPr>
            </a:br>
            <a:br>
              <a:rPr lang="en-AU" sz="4400" dirty="0">
                <a:solidFill>
                  <a:schemeClr val="accent2">
                    <a:lumMod val="50000"/>
                  </a:schemeClr>
                </a:solidFill>
              </a:rPr>
            </a:br>
            <a:br>
              <a:rPr lang="en-AU" sz="4400" dirty="0">
                <a:solidFill>
                  <a:schemeClr val="accent2">
                    <a:lumMod val="50000"/>
                  </a:schemeClr>
                </a:solidFill>
              </a:rPr>
            </a:br>
            <a:endParaRPr lang="en-AU" dirty="0"/>
          </a:p>
        </p:txBody>
      </p:sp>
      <p:sp>
        <p:nvSpPr>
          <p:cNvPr id="3" name="Content Placeholder 2">
            <a:extLst>
              <a:ext uri="{FF2B5EF4-FFF2-40B4-BE49-F238E27FC236}">
                <a16:creationId xmlns:a16="http://schemas.microsoft.com/office/drawing/2014/main" id="{E1794A8A-35E0-4F14-B4EB-609D34B8B10C}"/>
              </a:ext>
            </a:extLst>
          </p:cNvPr>
          <p:cNvSpPr>
            <a:spLocks noGrp="1"/>
          </p:cNvSpPr>
          <p:nvPr>
            <p:ph idx="1"/>
          </p:nvPr>
        </p:nvSpPr>
        <p:spPr>
          <a:xfrm>
            <a:off x="7081158" y="891834"/>
            <a:ext cx="3864428" cy="4813073"/>
          </a:xfrm>
        </p:spPr>
        <p:txBody>
          <a:bodyPr>
            <a:noAutofit/>
          </a:bodyPr>
          <a:lstStyle/>
          <a:p>
            <a:pPr marL="0" indent="0">
              <a:buNone/>
            </a:pPr>
            <a:r>
              <a:rPr lang="en-US" sz="1200" dirty="0"/>
              <a:t>&lt;!DOCTYPE html&gt;</a:t>
            </a:r>
          </a:p>
          <a:p>
            <a:pPr marL="0" indent="0">
              <a:buNone/>
            </a:pPr>
            <a:r>
              <a:rPr lang="en-US" sz="1200" dirty="0"/>
              <a:t>&lt;html&gt;</a:t>
            </a:r>
          </a:p>
          <a:p>
            <a:pPr marL="0" indent="0">
              <a:buNone/>
            </a:pPr>
            <a:r>
              <a:rPr lang="en-US" sz="1200" dirty="0"/>
              <a:t>&lt;head&gt;</a:t>
            </a:r>
          </a:p>
          <a:p>
            <a:pPr marL="0" indent="0">
              <a:buNone/>
            </a:pPr>
            <a:r>
              <a:rPr lang="en-US" sz="1200" dirty="0"/>
              <a:t>&lt;style&gt; </a:t>
            </a:r>
          </a:p>
          <a:p>
            <a:pPr marL="0" indent="0">
              <a:buNone/>
            </a:pPr>
            <a:r>
              <a:rPr lang="en-US" sz="1200" dirty="0"/>
              <a:t>[class$="test"] {</a:t>
            </a:r>
          </a:p>
          <a:p>
            <a:pPr marL="0" indent="0">
              <a:buNone/>
            </a:pPr>
            <a:r>
              <a:rPr lang="en-US" sz="1200" dirty="0"/>
              <a:t>  background: yellow;</a:t>
            </a:r>
          </a:p>
          <a:p>
            <a:pPr marL="0" indent="0">
              <a:buNone/>
            </a:pPr>
            <a:r>
              <a:rPr lang="en-US" sz="1200" dirty="0"/>
              <a:t>}</a:t>
            </a:r>
          </a:p>
          <a:p>
            <a:pPr marL="0" indent="0">
              <a:buNone/>
            </a:pPr>
            <a:r>
              <a:rPr lang="en-US" sz="1200" dirty="0"/>
              <a:t>&lt;/style&gt;</a:t>
            </a:r>
          </a:p>
          <a:p>
            <a:pPr marL="0" indent="0">
              <a:buNone/>
            </a:pPr>
            <a:r>
              <a:rPr lang="en-US" sz="1200" dirty="0"/>
              <a:t>&lt;/head&gt;</a:t>
            </a:r>
          </a:p>
          <a:p>
            <a:pPr marL="0" indent="0">
              <a:buNone/>
            </a:pPr>
            <a:r>
              <a:rPr lang="en-US" sz="1200" dirty="0"/>
              <a:t>&lt;body&gt;</a:t>
            </a:r>
          </a:p>
          <a:p>
            <a:pPr marL="0" indent="0">
              <a:buNone/>
            </a:pPr>
            <a:r>
              <a:rPr lang="en-US" sz="1200" dirty="0"/>
              <a:t>&lt;h2&gt;CSS [attribute$="value"] Selector&lt;/h2&gt;</a:t>
            </a:r>
          </a:p>
          <a:p>
            <a:pPr marL="0" indent="0">
              <a:buNone/>
            </a:pPr>
            <a:r>
              <a:rPr lang="en-US" sz="1200" dirty="0"/>
              <a:t>&lt;div class="</a:t>
            </a:r>
            <a:r>
              <a:rPr lang="en-US" sz="1200" dirty="0" err="1"/>
              <a:t>first_test</a:t>
            </a:r>
            <a:r>
              <a:rPr lang="en-US" sz="1200" dirty="0"/>
              <a:t>"&gt;The first div element.&lt;/div&gt;</a:t>
            </a:r>
          </a:p>
          <a:p>
            <a:pPr marL="0" indent="0">
              <a:buNone/>
            </a:pPr>
            <a:r>
              <a:rPr lang="en-US" sz="1200" dirty="0"/>
              <a:t>&lt;div class="second"&gt;The second div element.&lt;/div&gt;</a:t>
            </a:r>
          </a:p>
          <a:p>
            <a:pPr marL="0" indent="0">
              <a:buNone/>
            </a:pPr>
            <a:r>
              <a:rPr lang="en-US" sz="1200" dirty="0"/>
              <a:t>&lt;div class="my-test"&gt;The third div element.&lt;/div&gt;</a:t>
            </a:r>
          </a:p>
          <a:p>
            <a:pPr marL="0" indent="0">
              <a:buNone/>
            </a:pPr>
            <a:r>
              <a:rPr lang="en-US" sz="1200" dirty="0"/>
              <a:t>&lt;p class="my"&gt;This is some text in a paragraph.&lt;/p&gt;</a:t>
            </a:r>
          </a:p>
          <a:p>
            <a:pPr marL="0" indent="0">
              <a:buNone/>
            </a:pPr>
            <a:r>
              <a:rPr lang="en-US" sz="1200" dirty="0"/>
              <a:t>&lt;/body&gt;&lt;/html&gt;</a:t>
            </a:r>
          </a:p>
          <a:p>
            <a:pPr marL="0" indent="0">
              <a:buNone/>
            </a:pPr>
            <a:endParaRPr lang="en-AU" sz="1200" dirty="0"/>
          </a:p>
        </p:txBody>
      </p:sp>
      <p:sp>
        <p:nvSpPr>
          <p:cNvPr id="6" name="TextBox 5">
            <a:extLst>
              <a:ext uri="{FF2B5EF4-FFF2-40B4-BE49-F238E27FC236}">
                <a16:creationId xmlns:a16="http://schemas.microsoft.com/office/drawing/2014/main" id="{81D2491B-425C-4DBA-99D0-D603FAB542B6}"/>
              </a:ext>
            </a:extLst>
          </p:cNvPr>
          <p:cNvSpPr txBox="1"/>
          <p:nvPr/>
        </p:nvSpPr>
        <p:spPr>
          <a:xfrm>
            <a:off x="217714" y="2080148"/>
            <a:ext cx="6379029" cy="58477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rPr>
              <a:t>The </a:t>
            </a:r>
            <a:r>
              <a:rPr kumimoji="0" lang="en-US" altLang="en-US" sz="1600" b="0" i="0" u="none" strike="noStrike" cap="none" normalizeH="0" baseline="0" dirty="0">
                <a:ln>
                  <a:noFill/>
                </a:ln>
                <a:solidFill>
                  <a:srgbClr val="DC143C"/>
                </a:solidFill>
                <a:effectLst/>
              </a:rPr>
              <a:t>[attribute$="value"]</a:t>
            </a:r>
            <a:r>
              <a:rPr kumimoji="0" lang="en-US" altLang="en-US" sz="1600" b="0" i="0" u="none" strike="noStrike" cap="none" normalizeH="0" baseline="0" dirty="0">
                <a:ln>
                  <a:noFill/>
                </a:ln>
                <a:solidFill>
                  <a:srgbClr val="000000"/>
                </a:solidFill>
                <a:effectLst/>
              </a:rPr>
              <a:t> selector is used to select elements whose attribute value ends with a specified value.</a:t>
            </a:r>
            <a:r>
              <a:rPr kumimoji="0" lang="en-US" altLang="en-US" sz="1600" b="0" i="0" u="none" strike="noStrike" cap="none" normalizeH="0" baseline="0" dirty="0">
                <a:ln>
                  <a:noFill/>
                </a:ln>
                <a:solidFill>
                  <a:schemeClr val="tx1"/>
                </a:solidFill>
                <a:effectLst/>
              </a:rPr>
              <a:t> </a:t>
            </a:r>
          </a:p>
        </p:txBody>
      </p:sp>
      <p:sp>
        <p:nvSpPr>
          <p:cNvPr id="5" name="TextBox 4">
            <a:extLst>
              <a:ext uri="{FF2B5EF4-FFF2-40B4-BE49-F238E27FC236}">
                <a16:creationId xmlns:a16="http://schemas.microsoft.com/office/drawing/2014/main" id="{F4317F8C-AAFF-439B-AA23-98278F35F85B}"/>
              </a:ext>
            </a:extLst>
          </p:cNvPr>
          <p:cNvSpPr txBox="1"/>
          <p:nvPr/>
        </p:nvSpPr>
        <p:spPr>
          <a:xfrm>
            <a:off x="8789852" y="5489463"/>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55342192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C8ED4-3FD2-4A1E-AEBD-E634F5FF391C}"/>
              </a:ext>
            </a:extLst>
          </p:cNvPr>
          <p:cNvSpPr>
            <a:spLocks noGrp="1"/>
          </p:cNvSpPr>
          <p:nvPr>
            <p:ph type="title"/>
          </p:nvPr>
        </p:nvSpPr>
        <p:spPr>
          <a:xfrm>
            <a:off x="310243" y="190955"/>
            <a:ext cx="11571514" cy="505732"/>
          </a:xfrm>
        </p:spPr>
        <p:txBody>
          <a:bodyPr>
            <a:normAutofit fontScale="90000"/>
          </a:bodyPr>
          <a:lstStyle/>
          <a:p>
            <a:br>
              <a:rPr lang="en-AU" b="0" i="0" dirty="0">
                <a:solidFill>
                  <a:srgbClr val="000000"/>
                </a:solidFill>
                <a:effectLst/>
                <a:latin typeface="Segoe UI" panose="020B0502040204020203" pitchFamily="34" charset="0"/>
              </a:rPr>
            </a:br>
            <a:br>
              <a:rPr lang="en-AU" b="0" i="0" dirty="0">
                <a:solidFill>
                  <a:srgbClr val="000000"/>
                </a:solidFill>
                <a:effectLst/>
                <a:latin typeface="Segoe UI" panose="020B0502040204020203" pitchFamily="34" charset="0"/>
              </a:rPr>
            </a:br>
            <a:br>
              <a:rPr lang="en-AU" b="0" i="0" dirty="0">
                <a:solidFill>
                  <a:srgbClr val="000000"/>
                </a:solidFill>
                <a:effectLst/>
                <a:latin typeface="Segoe UI" panose="020B0502040204020203" pitchFamily="34" charset="0"/>
              </a:rPr>
            </a:br>
            <a:br>
              <a:rPr lang="en-AU" b="0" i="0" dirty="0">
                <a:solidFill>
                  <a:srgbClr val="000000"/>
                </a:solidFill>
                <a:effectLst/>
                <a:latin typeface="Segoe UI" panose="020B0502040204020203" pitchFamily="34" charset="0"/>
              </a:rPr>
            </a:br>
            <a:r>
              <a:rPr lang="en-AU" sz="4400" dirty="0">
                <a:solidFill>
                  <a:schemeClr val="accent2">
                    <a:lumMod val="50000"/>
                  </a:schemeClr>
                </a:solidFill>
              </a:rPr>
              <a:t>[attribute^="value"] Selector</a:t>
            </a:r>
            <a:br>
              <a:rPr lang="en-AU" sz="4400" dirty="0">
                <a:solidFill>
                  <a:schemeClr val="accent2">
                    <a:lumMod val="50000"/>
                  </a:schemeClr>
                </a:solidFill>
              </a:rPr>
            </a:br>
            <a:br>
              <a:rPr lang="en-AU" sz="4400" dirty="0">
                <a:solidFill>
                  <a:schemeClr val="accent2">
                    <a:lumMod val="50000"/>
                  </a:schemeClr>
                </a:solidFill>
              </a:rPr>
            </a:br>
            <a:br>
              <a:rPr lang="en-AU" sz="4400" dirty="0">
                <a:solidFill>
                  <a:schemeClr val="accent2">
                    <a:lumMod val="50000"/>
                  </a:schemeClr>
                </a:solidFill>
              </a:rPr>
            </a:br>
            <a:br>
              <a:rPr lang="en-AU" sz="4400" dirty="0">
                <a:solidFill>
                  <a:schemeClr val="accent2">
                    <a:lumMod val="50000"/>
                  </a:schemeClr>
                </a:solidFill>
              </a:rPr>
            </a:br>
            <a:endParaRPr lang="en-AU" dirty="0"/>
          </a:p>
        </p:txBody>
      </p:sp>
      <p:sp>
        <p:nvSpPr>
          <p:cNvPr id="3" name="Content Placeholder 2">
            <a:extLst>
              <a:ext uri="{FF2B5EF4-FFF2-40B4-BE49-F238E27FC236}">
                <a16:creationId xmlns:a16="http://schemas.microsoft.com/office/drawing/2014/main" id="{E1794A8A-35E0-4F14-B4EB-609D34B8B10C}"/>
              </a:ext>
            </a:extLst>
          </p:cNvPr>
          <p:cNvSpPr>
            <a:spLocks noGrp="1"/>
          </p:cNvSpPr>
          <p:nvPr>
            <p:ph idx="1"/>
          </p:nvPr>
        </p:nvSpPr>
        <p:spPr>
          <a:xfrm>
            <a:off x="7081158" y="1022463"/>
            <a:ext cx="3864428" cy="4813073"/>
          </a:xfrm>
        </p:spPr>
        <p:txBody>
          <a:bodyPr>
            <a:noAutofit/>
          </a:bodyPr>
          <a:lstStyle/>
          <a:p>
            <a:pPr marL="0" indent="0">
              <a:buNone/>
            </a:pPr>
            <a:r>
              <a:rPr lang="en-US" sz="1200" dirty="0"/>
              <a:t>&lt;!DOCTYPE html&gt;</a:t>
            </a:r>
          </a:p>
          <a:p>
            <a:pPr marL="0" indent="0">
              <a:buNone/>
            </a:pPr>
            <a:r>
              <a:rPr lang="en-US" sz="1200" dirty="0"/>
              <a:t>&lt;html&gt;</a:t>
            </a:r>
          </a:p>
          <a:p>
            <a:pPr marL="0" indent="0">
              <a:buNone/>
            </a:pPr>
            <a:r>
              <a:rPr lang="en-US" sz="1200" dirty="0"/>
              <a:t>&lt;head&gt;</a:t>
            </a:r>
          </a:p>
          <a:p>
            <a:pPr marL="0" indent="0">
              <a:buNone/>
            </a:pPr>
            <a:r>
              <a:rPr lang="en-US" sz="1200" dirty="0"/>
              <a:t>&lt;style&gt;</a:t>
            </a:r>
          </a:p>
          <a:p>
            <a:pPr marL="0" indent="0">
              <a:buNone/>
            </a:pPr>
            <a:r>
              <a:rPr lang="en-US" sz="1200" dirty="0"/>
              <a:t>[class^="top"] {</a:t>
            </a:r>
          </a:p>
          <a:p>
            <a:pPr marL="0" indent="0">
              <a:buNone/>
            </a:pPr>
            <a:r>
              <a:rPr lang="en-US" sz="1200" dirty="0"/>
              <a:t>  background: yellow;</a:t>
            </a:r>
          </a:p>
          <a:p>
            <a:pPr marL="0" indent="0">
              <a:buNone/>
            </a:pPr>
            <a:r>
              <a:rPr lang="en-US" sz="1200" dirty="0"/>
              <a:t>}</a:t>
            </a:r>
          </a:p>
          <a:p>
            <a:pPr marL="0" indent="0">
              <a:buNone/>
            </a:pPr>
            <a:r>
              <a:rPr lang="en-US" sz="1200" dirty="0"/>
              <a:t>&lt;/style&gt;</a:t>
            </a:r>
          </a:p>
          <a:p>
            <a:pPr marL="0" indent="0">
              <a:buNone/>
            </a:pPr>
            <a:r>
              <a:rPr lang="en-US" sz="1200" dirty="0"/>
              <a:t>&lt;/head&gt;</a:t>
            </a:r>
          </a:p>
          <a:p>
            <a:pPr marL="0" indent="0">
              <a:buNone/>
            </a:pPr>
            <a:r>
              <a:rPr lang="en-US" sz="1200" dirty="0"/>
              <a:t>&lt;body&gt;</a:t>
            </a:r>
          </a:p>
          <a:p>
            <a:pPr marL="0" indent="0">
              <a:buNone/>
            </a:pPr>
            <a:r>
              <a:rPr lang="en-US" sz="1200" dirty="0"/>
              <a:t>&lt;h2&gt;CSS [attribute^="value"] Selector&lt;/h2&gt;</a:t>
            </a:r>
          </a:p>
          <a:p>
            <a:pPr marL="0" indent="0">
              <a:buNone/>
            </a:pPr>
            <a:r>
              <a:rPr lang="en-US" sz="1200" dirty="0"/>
              <a:t>&lt;h1 class="top-header"&gt;Welcome&lt;/h1&gt;</a:t>
            </a:r>
          </a:p>
          <a:p>
            <a:pPr marL="0" indent="0">
              <a:buNone/>
            </a:pPr>
            <a:r>
              <a:rPr lang="en-US" sz="1200" dirty="0"/>
              <a:t>&lt;p class="top-text"&gt;Hello world!&lt;/p&gt;</a:t>
            </a:r>
          </a:p>
          <a:p>
            <a:pPr marL="0" indent="0">
              <a:buNone/>
            </a:pPr>
            <a:r>
              <a:rPr lang="en-US" sz="1200" dirty="0"/>
              <a:t>&lt;p class="content"&gt;Are you learning CSS?&lt;/p&gt;</a:t>
            </a:r>
          </a:p>
          <a:p>
            <a:pPr marL="0" indent="0">
              <a:buNone/>
            </a:pPr>
            <a:r>
              <a:rPr lang="en-US" sz="1200" dirty="0"/>
              <a:t>&lt;/body&gt;</a:t>
            </a:r>
          </a:p>
          <a:p>
            <a:pPr marL="0" indent="0">
              <a:buNone/>
            </a:pPr>
            <a:r>
              <a:rPr lang="en-US" sz="1200" dirty="0"/>
              <a:t>&lt;/html&gt;</a:t>
            </a:r>
          </a:p>
        </p:txBody>
      </p:sp>
      <p:sp>
        <p:nvSpPr>
          <p:cNvPr id="6" name="TextBox 5">
            <a:extLst>
              <a:ext uri="{FF2B5EF4-FFF2-40B4-BE49-F238E27FC236}">
                <a16:creationId xmlns:a16="http://schemas.microsoft.com/office/drawing/2014/main" id="{81D2491B-425C-4DBA-99D0-D603FAB542B6}"/>
              </a:ext>
            </a:extLst>
          </p:cNvPr>
          <p:cNvSpPr txBox="1"/>
          <p:nvPr/>
        </p:nvSpPr>
        <p:spPr>
          <a:xfrm>
            <a:off x="500743" y="2080149"/>
            <a:ext cx="6063343" cy="646331"/>
          </a:xfrm>
          <a:prstGeom prst="rect">
            <a:avLst/>
          </a:prstGeom>
          <a:noFill/>
        </p:spPr>
        <p:txBody>
          <a:bodyPr wrap="square">
            <a:spAutoFit/>
          </a:bodyPr>
          <a:lstStyle/>
          <a:p>
            <a:pPr eaLnBrk="0" fontAlgn="base" hangingPunct="0">
              <a:spcBef>
                <a:spcPct val="0"/>
              </a:spcBef>
              <a:spcAft>
                <a:spcPct val="0"/>
              </a:spcAft>
            </a:pPr>
            <a:r>
              <a:rPr kumimoji="0" lang="en-US" altLang="en-US" b="0" i="0" u="none" strike="noStrike" cap="none" normalizeH="0" baseline="0" dirty="0">
                <a:ln>
                  <a:noFill/>
                </a:ln>
                <a:solidFill>
                  <a:srgbClr val="000000"/>
                </a:solidFill>
                <a:effectLst/>
              </a:rPr>
              <a:t>The</a:t>
            </a:r>
            <a:r>
              <a:rPr kumimoji="0" lang="en-US" altLang="en-US" b="0" i="0" u="none" strike="noStrike" cap="none" normalizeH="0" baseline="0" dirty="0">
                <a:ln>
                  <a:noFill/>
                </a:ln>
                <a:solidFill>
                  <a:srgbClr val="FF0000"/>
                </a:solidFill>
                <a:effectLst/>
              </a:rPr>
              <a:t> [attribute^="value"] </a:t>
            </a:r>
            <a:r>
              <a:rPr kumimoji="0" lang="en-US" altLang="en-US" b="0" i="0" u="none" strike="noStrike" cap="none" normalizeH="0" baseline="0" dirty="0">
                <a:ln>
                  <a:noFill/>
                </a:ln>
                <a:solidFill>
                  <a:srgbClr val="000000"/>
                </a:solidFill>
                <a:effectLst/>
              </a:rPr>
              <a:t>selector is used to select elements whose attribute value begins with a specified value. </a:t>
            </a:r>
          </a:p>
        </p:txBody>
      </p:sp>
      <p:sp>
        <p:nvSpPr>
          <p:cNvPr id="7" name="TextBox 6">
            <a:extLst>
              <a:ext uri="{FF2B5EF4-FFF2-40B4-BE49-F238E27FC236}">
                <a16:creationId xmlns:a16="http://schemas.microsoft.com/office/drawing/2014/main" id="{B6193FF7-F358-4AD6-B373-3FF1C56CD58F}"/>
              </a:ext>
            </a:extLst>
          </p:cNvPr>
          <p:cNvSpPr txBox="1"/>
          <p:nvPr/>
        </p:nvSpPr>
        <p:spPr>
          <a:xfrm>
            <a:off x="9402253" y="5455403"/>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204199415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E9D35-3CA6-4535-81C9-0E026FB7D77D}"/>
              </a:ext>
            </a:extLst>
          </p:cNvPr>
          <p:cNvSpPr>
            <a:spLocks noGrp="1"/>
          </p:cNvSpPr>
          <p:nvPr>
            <p:ph type="title"/>
          </p:nvPr>
        </p:nvSpPr>
        <p:spPr>
          <a:xfrm>
            <a:off x="511629" y="245382"/>
            <a:ext cx="10515600" cy="549275"/>
          </a:xfrm>
        </p:spPr>
        <p:txBody>
          <a:bodyPr>
            <a:normAutofit fontScale="90000"/>
          </a:bodyPr>
          <a:lstStyle/>
          <a:p>
            <a:r>
              <a:rPr lang="en-AU" sz="4000" dirty="0">
                <a:solidFill>
                  <a:schemeClr val="accent2">
                    <a:lumMod val="50000"/>
                  </a:schemeClr>
                </a:solidFill>
              </a:rPr>
              <a:t>Forms in CSS</a:t>
            </a:r>
          </a:p>
        </p:txBody>
      </p:sp>
      <p:sp>
        <p:nvSpPr>
          <p:cNvPr id="3" name="Content Placeholder 2">
            <a:extLst>
              <a:ext uri="{FF2B5EF4-FFF2-40B4-BE49-F238E27FC236}">
                <a16:creationId xmlns:a16="http://schemas.microsoft.com/office/drawing/2014/main" id="{1865C29F-A234-46FA-999A-6B7540B5DE7D}"/>
              </a:ext>
            </a:extLst>
          </p:cNvPr>
          <p:cNvSpPr>
            <a:spLocks noGrp="1"/>
          </p:cNvSpPr>
          <p:nvPr>
            <p:ph idx="1"/>
          </p:nvPr>
        </p:nvSpPr>
        <p:spPr>
          <a:xfrm>
            <a:off x="402772" y="983569"/>
            <a:ext cx="4005942" cy="4890862"/>
          </a:xfrm>
        </p:spPr>
        <p:txBody>
          <a:bodyPr>
            <a:noAutofit/>
          </a:bodyPr>
          <a:lstStyle/>
          <a:p>
            <a:pPr marL="0" indent="0">
              <a:buNone/>
            </a:pPr>
            <a:r>
              <a:rPr lang="en-AU" sz="1400" dirty="0"/>
              <a:t>&lt;!DOCTYPE html&gt;</a:t>
            </a:r>
          </a:p>
          <a:p>
            <a:pPr marL="0" indent="0">
              <a:buNone/>
            </a:pPr>
            <a:r>
              <a:rPr lang="en-AU" sz="1400" dirty="0"/>
              <a:t>&lt;html&gt;</a:t>
            </a:r>
          </a:p>
          <a:p>
            <a:pPr marL="0" indent="0">
              <a:buNone/>
            </a:pPr>
            <a:r>
              <a:rPr lang="en-AU" sz="1400" dirty="0"/>
              <a:t>&lt;style&gt; input[type=text], select {</a:t>
            </a:r>
          </a:p>
          <a:p>
            <a:pPr marL="0" indent="0">
              <a:buNone/>
            </a:pPr>
            <a:r>
              <a:rPr lang="en-AU" sz="1400" dirty="0"/>
              <a:t>  width: 100%;</a:t>
            </a:r>
          </a:p>
          <a:p>
            <a:pPr marL="0" indent="0">
              <a:buNone/>
            </a:pPr>
            <a:r>
              <a:rPr lang="en-AU" sz="1400" dirty="0"/>
              <a:t>  padding: 12px 20px;</a:t>
            </a:r>
          </a:p>
          <a:p>
            <a:pPr marL="0" indent="0">
              <a:buNone/>
            </a:pPr>
            <a:r>
              <a:rPr lang="en-AU" sz="1400" dirty="0"/>
              <a:t>  margin: 8px 0;</a:t>
            </a:r>
          </a:p>
          <a:p>
            <a:pPr marL="0" indent="0">
              <a:buNone/>
            </a:pPr>
            <a:r>
              <a:rPr lang="en-AU" sz="1400" dirty="0"/>
              <a:t>  display: inline-block;</a:t>
            </a:r>
          </a:p>
          <a:p>
            <a:pPr marL="0" indent="0">
              <a:buNone/>
            </a:pPr>
            <a:r>
              <a:rPr lang="en-AU" sz="1400" dirty="0"/>
              <a:t>  border: 1px solid Grey;</a:t>
            </a:r>
          </a:p>
          <a:p>
            <a:pPr marL="0" indent="0">
              <a:buNone/>
            </a:pPr>
            <a:r>
              <a:rPr lang="en-AU" sz="1400" dirty="0"/>
              <a:t>  box-sizing: border-box;</a:t>
            </a:r>
          </a:p>
          <a:p>
            <a:pPr marL="0" indent="0">
              <a:buNone/>
            </a:pPr>
            <a:r>
              <a:rPr lang="en-AU" sz="1400" dirty="0"/>
              <a:t>} input[type=submit] {</a:t>
            </a:r>
          </a:p>
          <a:p>
            <a:pPr marL="0" indent="0">
              <a:buNone/>
            </a:pPr>
            <a:r>
              <a:rPr lang="en-AU" sz="1400" dirty="0"/>
              <a:t>  width: 100%;background-</a:t>
            </a:r>
            <a:r>
              <a:rPr lang="en-AU" sz="1400" dirty="0" err="1"/>
              <a:t>color</a:t>
            </a:r>
            <a:r>
              <a:rPr lang="en-AU" sz="1400" dirty="0"/>
              <a:t>: Green;</a:t>
            </a:r>
          </a:p>
          <a:p>
            <a:pPr marL="0" indent="0">
              <a:buNone/>
            </a:pPr>
            <a:r>
              <a:rPr lang="en-AU" sz="1400" dirty="0"/>
              <a:t>  </a:t>
            </a:r>
            <a:r>
              <a:rPr lang="en-AU" sz="1400" dirty="0" err="1"/>
              <a:t>color</a:t>
            </a:r>
            <a:r>
              <a:rPr lang="en-AU" sz="1400" dirty="0"/>
              <a:t>: </a:t>
            </a:r>
            <a:r>
              <a:rPr lang="en-AU" sz="1400" dirty="0" err="1"/>
              <a:t>white;padding</a:t>
            </a:r>
            <a:r>
              <a:rPr lang="en-AU" sz="1400" dirty="0"/>
              <a:t>: 14px 20px;</a:t>
            </a:r>
          </a:p>
          <a:p>
            <a:pPr marL="0" indent="0">
              <a:buNone/>
            </a:pPr>
            <a:r>
              <a:rPr lang="en-AU" sz="1400" dirty="0"/>
              <a:t>  margin: 8px 0;border: none;</a:t>
            </a:r>
          </a:p>
          <a:p>
            <a:pPr marL="0" indent="0">
              <a:buNone/>
            </a:pPr>
            <a:r>
              <a:rPr lang="en-AU" sz="1400" dirty="0"/>
              <a:t>  border-radius: 4px; cursor: pointer;</a:t>
            </a:r>
          </a:p>
          <a:p>
            <a:pPr marL="0" indent="0">
              <a:buNone/>
            </a:pPr>
            <a:r>
              <a:rPr lang="en-AU" sz="1400" dirty="0"/>
              <a:t>}</a:t>
            </a:r>
          </a:p>
          <a:p>
            <a:pPr marL="0" indent="0">
              <a:buNone/>
            </a:pPr>
            <a:endParaRPr lang="en-AU" sz="1400" dirty="0"/>
          </a:p>
          <a:p>
            <a:pPr marL="0" indent="0">
              <a:buNone/>
            </a:pPr>
            <a:endParaRPr lang="en-AU" sz="1400" dirty="0"/>
          </a:p>
        </p:txBody>
      </p:sp>
      <p:sp>
        <p:nvSpPr>
          <p:cNvPr id="5" name="TextBox 4">
            <a:extLst>
              <a:ext uri="{FF2B5EF4-FFF2-40B4-BE49-F238E27FC236}">
                <a16:creationId xmlns:a16="http://schemas.microsoft.com/office/drawing/2014/main" id="{358D1D48-44EB-4134-92C6-C2EBC9C33E4C}"/>
              </a:ext>
            </a:extLst>
          </p:cNvPr>
          <p:cNvSpPr txBox="1"/>
          <p:nvPr/>
        </p:nvSpPr>
        <p:spPr>
          <a:xfrm>
            <a:off x="5192485" y="983569"/>
            <a:ext cx="3690257" cy="4616648"/>
          </a:xfrm>
          <a:prstGeom prst="rect">
            <a:avLst/>
          </a:prstGeom>
          <a:noFill/>
        </p:spPr>
        <p:txBody>
          <a:bodyPr wrap="square">
            <a:spAutoFit/>
          </a:bodyPr>
          <a:lstStyle/>
          <a:p>
            <a:pPr marL="0" indent="0">
              <a:buNone/>
            </a:pPr>
            <a:r>
              <a:rPr lang="en-AU" sz="1050" dirty="0"/>
              <a:t>input[type=submit]:hover {</a:t>
            </a:r>
          </a:p>
          <a:p>
            <a:pPr marL="0" indent="0">
              <a:buNone/>
            </a:pPr>
            <a:r>
              <a:rPr lang="en-AU" sz="1050" dirty="0"/>
              <a:t>  background-</a:t>
            </a:r>
            <a:r>
              <a:rPr lang="en-AU" sz="1050" dirty="0" err="1"/>
              <a:t>color</a:t>
            </a:r>
            <a:r>
              <a:rPr lang="en-AU" sz="1050" dirty="0"/>
              <a:t>: Red;</a:t>
            </a:r>
          </a:p>
          <a:p>
            <a:pPr marL="0" indent="0">
              <a:buNone/>
            </a:pPr>
            <a:r>
              <a:rPr lang="en-AU" sz="1050" dirty="0"/>
              <a:t>}</a:t>
            </a:r>
          </a:p>
          <a:p>
            <a:pPr marL="0" indent="0">
              <a:buNone/>
            </a:pPr>
            <a:endParaRPr lang="en-AU" sz="1050" dirty="0"/>
          </a:p>
          <a:p>
            <a:pPr marL="0" indent="0">
              <a:buNone/>
            </a:pPr>
            <a:r>
              <a:rPr lang="en-AU" sz="1050" dirty="0"/>
              <a:t>div {</a:t>
            </a:r>
          </a:p>
          <a:p>
            <a:pPr marL="0" indent="0">
              <a:buNone/>
            </a:pPr>
            <a:r>
              <a:rPr lang="en-AU" sz="1050" dirty="0"/>
              <a:t>  border-radius: 5px;</a:t>
            </a:r>
          </a:p>
          <a:p>
            <a:pPr marL="0" indent="0">
              <a:buNone/>
            </a:pPr>
            <a:r>
              <a:rPr lang="en-AU" sz="1050" dirty="0"/>
              <a:t>  background-</a:t>
            </a:r>
            <a:r>
              <a:rPr lang="en-AU" sz="1050" dirty="0" err="1"/>
              <a:t>color</a:t>
            </a:r>
            <a:r>
              <a:rPr lang="en-AU" sz="1050" dirty="0"/>
              <a:t>: Grey;</a:t>
            </a:r>
          </a:p>
          <a:p>
            <a:pPr marL="0" indent="0">
              <a:buNone/>
            </a:pPr>
            <a:r>
              <a:rPr lang="en-AU" sz="1050" dirty="0"/>
              <a:t>  padding: 20px;</a:t>
            </a:r>
          </a:p>
          <a:p>
            <a:pPr marL="0" indent="0">
              <a:buNone/>
            </a:pPr>
            <a:r>
              <a:rPr lang="en-AU" sz="1050" dirty="0"/>
              <a:t>}</a:t>
            </a:r>
          </a:p>
          <a:p>
            <a:pPr marL="0" indent="0">
              <a:buNone/>
            </a:pPr>
            <a:r>
              <a:rPr lang="en-AU" sz="1050" dirty="0"/>
              <a:t>&lt;/style&gt;</a:t>
            </a:r>
          </a:p>
          <a:p>
            <a:pPr marL="0" indent="0">
              <a:buNone/>
            </a:pPr>
            <a:r>
              <a:rPr lang="en-AU" sz="1050" dirty="0"/>
              <a:t>&lt;body&gt;</a:t>
            </a:r>
          </a:p>
          <a:p>
            <a:pPr marL="0" indent="0">
              <a:buNone/>
            </a:pPr>
            <a:r>
              <a:rPr lang="en-AU" sz="1050" dirty="0"/>
              <a:t>&lt;h3&gt;Using CSS to style an HTML Form&lt;/h3&gt;</a:t>
            </a:r>
          </a:p>
          <a:p>
            <a:pPr marL="0" indent="0">
              <a:buNone/>
            </a:pPr>
            <a:r>
              <a:rPr lang="en-AU" sz="1050" dirty="0"/>
              <a:t>&lt;div&gt;</a:t>
            </a:r>
          </a:p>
          <a:p>
            <a:pPr marL="0" indent="0">
              <a:buNone/>
            </a:pPr>
            <a:r>
              <a:rPr lang="en-AU" sz="1050" dirty="0"/>
              <a:t>  &lt;form&gt;</a:t>
            </a:r>
          </a:p>
          <a:p>
            <a:pPr marL="0" indent="0">
              <a:buNone/>
            </a:pPr>
            <a:r>
              <a:rPr lang="en-AU" sz="1050" dirty="0"/>
              <a:t>    &lt;label for="</a:t>
            </a:r>
            <a:r>
              <a:rPr lang="en-AU" sz="1050" dirty="0" err="1"/>
              <a:t>fname</a:t>
            </a:r>
            <a:r>
              <a:rPr lang="en-AU" sz="1050" dirty="0"/>
              <a:t>"&gt;First Name&lt;/label&gt;</a:t>
            </a:r>
          </a:p>
          <a:p>
            <a:pPr marL="0" indent="0">
              <a:buNone/>
            </a:pPr>
            <a:r>
              <a:rPr lang="en-AU" sz="1050" dirty="0"/>
              <a:t>    &lt;input type="text" placeholder="Your name.."&gt;</a:t>
            </a:r>
          </a:p>
          <a:p>
            <a:pPr marL="0" indent="0">
              <a:buNone/>
            </a:pPr>
            <a:endParaRPr lang="en-AU" sz="1050" dirty="0"/>
          </a:p>
          <a:p>
            <a:pPr marL="0" indent="0">
              <a:buNone/>
            </a:pPr>
            <a:r>
              <a:rPr lang="en-AU" sz="1050" dirty="0"/>
              <a:t>    &lt;label for="</a:t>
            </a:r>
            <a:r>
              <a:rPr lang="en-AU" sz="1050" dirty="0" err="1"/>
              <a:t>lname</a:t>
            </a:r>
            <a:r>
              <a:rPr lang="en-AU" sz="1050" dirty="0"/>
              <a:t>"&gt;Last Name&lt;/label&gt;</a:t>
            </a:r>
          </a:p>
          <a:p>
            <a:pPr marL="0" indent="0">
              <a:buNone/>
            </a:pPr>
            <a:r>
              <a:rPr lang="en-AU" sz="1050" dirty="0"/>
              <a:t>    &lt;input type="text" placeholder="Your last name.."&gt;</a:t>
            </a:r>
          </a:p>
          <a:p>
            <a:pPr marL="0" indent="0">
              <a:buNone/>
            </a:pPr>
            <a:endParaRPr lang="en-AU" sz="1050" dirty="0"/>
          </a:p>
          <a:p>
            <a:pPr marL="0" indent="0">
              <a:buNone/>
            </a:pPr>
            <a:r>
              <a:rPr lang="en-AU" sz="1050" dirty="0"/>
              <a:t>    &lt;label for="country"&gt;Country&lt;/label&gt;</a:t>
            </a:r>
          </a:p>
          <a:p>
            <a:pPr marL="0" indent="0">
              <a:buNone/>
            </a:pPr>
            <a:r>
              <a:rPr lang="en-AU" sz="1050" dirty="0"/>
              <a:t>    &lt;select id="country" name="country"&gt;</a:t>
            </a:r>
          </a:p>
          <a:p>
            <a:pPr marL="0" indent="0">
              <a:buNone/>
            </a:pPr>
            <a:r>
              <a:rPr lang="en-AU" sz="1050" dirty="0"/>
              <a:t>      &lt;option value="</a:t>
            </a:r>
            <a:r>
              <a:rPr lang="en-AU" sz="1050" dirty="0" err="1"/>
              <a:t>australia</a:t>
            </a:r>
            <a:r>
              <a:rPr lang="en-AU" sz="1050" dirty="0"/>
              <a:t>"&gt;Australia&lt;/option&gt;</a:t>
            </a:r>
          </a:p>
          <a:p>
            <a:pPr marL="0" indent="0">
              <a:buNone/>
            </a:pPr>
            <a:r>
              <a:rPr lang="en-AU" sz="1050" dirty="0"/>
              <a:t>      &lt;option value="</a:t>
            </a:r>
            <a:r>
              <a:rPr lang="en-AU" sz="1050" dirty="0" err="1"/>
              <a:t>canada</a:t>
            </a:r>
            <a:r>
              <a:rPr lang="en-AU" sz="1050" dirty="0"/>
              <a:t>"&gt;Canada&lt;/option&gt;</a:t>
            </a:r>
          </a:p>
          <a:p>
            <a:pPr marL="0" indent="0">
              <a:buNone/>
            </a:pPr>
            <a:r>
              <a:rPr lang="en-AU" sz="1050" dirty="0"/>
              <a:t>    &lt;/select&gt;</a:t>
            </a:r>
          </a:p>
          <a:p>
            <a:pPr marL="0" indent="0">
              <a:buNone/>
            </a:pPr>
            <a:r>
              <a:rPr lang="en-AU" sz="1050" dirty="0"/>
              <a:t>    &lt;input type="submit" value="Submit"&gt;  &lt;/form&gt;</a:t>
            </a:r>
          </a:p>
          <a:p>
            <a:pPr marL="0" indent="0">
              <a:buNone/>
            </a:pPr>
            <a:r>
              <a:rPr lang="en-AU" sz="1050" dirty="0"/>
              <a:t>&lt;/div&gt;&lt;/body&gt; &lt;/html&gt;</a:t>
            </a:r>
          </a:p>
        </p:txBody>
      </p:sp>
      <p:sp>
        <p:nvSpPr>
          <p:cNvPr id="6" name="TextBox 5">
            <a:extLst>
              <a:ext uri="{FF2B5EF4-FFF2-40B4-BE49-F238E27FC236}">
                <a16:creationId xmlns:a16="http://schemas.microsoft.com/office/drawing/2014/main" id="{75A3EB14-777A-412E-9417-49757E3A2F25}"/>
              </a:ext>
            </a:extLst>
          </p:cNvPr>
          <p:cNvSpPr txBox="1"/>
          <p:nvPr/>
        </p:nvSpPr>
        <p:spPr>
          <a:xfrm>
            <a:off x="8190141" y="5384773"/>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380309436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0F45B-36E4-4B5C-9B1A-E5645BBEB4CB}"/>
              </a:ext>
            </a:extLst>
          </p:cNvPr>
          <p:cNvSpPr>
            <a:spLocks noGrp="1"/>
          </p:cNvSpPr>
          <p:nvPr>
            <p:ph type="title"/>
          </p:nvPr>
        </p:nvSpPr>
        <p:spPr>
          <a:xfrm>
            <a:off x="424543" y="200207"/>
            <a:ext cx="10515600" cy="581932"/>
          </a:xfrm>
        </p:spPr>
        <p:txBody>
          <a:bodyPr>
            <a:noAutofit/>
          </a:bodyPr>
          <a:lstStyle/>
          <a:p>
            <a:r>
              <a:rPr lang="en-US" sz="3600" dirty="0">
                <a:solidFill>
                  <a:schemeClr val="accent2">
                    <a:lumMod val="50000"/>
                  </a:schemeClr>
                </a:solidFill>
              </a:rPr>
              <a:t>Form input with icon/image</a:t>
            </a:r>
            <a:endParaRPr lang="en-AU" sz="3600" dirty="0">
              <a:solidFill>
                <a:schemeClr val="accent2">
                  <a:lumMod val="50000"/>
                </a:schemeClr>
              </a:solidFill>
            </a:endParaRPr>
          </a:p>
        </p:txBody>
      </p:sp>
      <p:sp>
        <p:nvSpPr>
          <p:cNvPr id="3" name="Content Placeholder 2">
            <a:extLst>
              <a:ext uri="{FF2B5EF4-FFF2-40B4-BE49-F238E27FC236}">
                <a16:creationId xmlns:a16="http://schemas.microsoft.com/office/drawing/2014/main" id="{0E2C3DE1-47B2-4745-990E-F38F1CFE63B8}"/>
              </a:ext>
            </a:extLst>
          </p:cNvPr>
          <p:cNvSpPr>
            <a:spLocks noGrp="1"/>
          </p:cNvSpPr>
          <p:nvPr>
            <p:ph idx="1"/>
          </p:nvPr>
        </p:nvSpPr>
        <p:spPr>
          <a:xfrm>
            <a:off x="424543" y="911225"/>
            <a:ext cx="3483428" cy="4847318"/>
          </a:xfrm>
        </p:spPr>
        <p:txBody>
          <a:bodyPr>
            <a:noAutofit/>
          </a:bodyPr>
          <a:lstStyle/>
          <a:p>
            <a:pPr marL="0" indent="0">
              <a:buNone/>
            </a:pPr>
            <a:r>
              <a:rPr lang="en-AU" sz="1200" dirty="0"/>
              <a:t>&lt;!DOCTYPE html&gt;</a:t>
            </a:r>
          </a:p>
          <a:p>
            <a:pPr marL="0" indent="0">
              <a:buNone/>
            </a:pPr>
            <a:r>
              <a:rPr lang="en-AU" sz="1200" dirty="0"/>
              <a:t>&lt;html&gt;</a:t>
            </a:r>
          </a:p>
          <a:p>
            <a:pPr marL="0" indent="0">
              <a:buNone/>
            </a:pPr>
            <a:r>
              <a:rPr lang="en-AU" sz="1200" dirty="0"/>
              <a:t>&lt;head&gt;</a:t>
            </a:r>
          </a:p>
          <a:p>
            <a:pPr marL="0" indent="0">
              <a:buNone/>
            </a:pPr>
            <a:r>
              <a:rPr lang="en-AU" sz="1200" dirty="0"/>
              <a:t>&lt;style&gt; </a:t>
            </a:r>
          </a:p>
          <a:p>
            <a:pPr marL="0" indent="0">
              <a:buNone/>
            </a:pPr>
            <a:r>
              <a:rPr lang="en-AU" sz="1200" dirty="0"/>
              <a:t>input[type=text] {</a:t>
            </a:r>
          </a:p>
          <a:p>
            <a:pPr marL="0" indent="0">
              <a:buNone/>
            </a:pPr>
            <a:r>
              <a:rPr lang="en-AU" sz="1200" dirty="0"/>
              <a:t>  width: 100%;</a:t>
            </a:r>
          </a:p>
          <a:p>
            <a:pPr marL="0" indent="0">
              <a:buNone/>
            </a:pPr>
            <a:r>
              <a:rPr lang="en-AU" sz="1200" dirty="0"/>
              <a:t>  box-sizing: border-box;</a:t>
            </a:r>
          </a:p>
          <a:p>
            <a:pPr marL="0" indent="0">
              <a:buNone/>
            </a:pPr>
            <a:r>
              <a:rPr lang="en-AU" sz="1200" dirty="0"/>
              <a:t>  border: 2px solid black;</a:t>
            </a:r>
          </a:p>
          <a:p>
            <a:pPr marL="0" indent="0">
              <a:buNone/>
            </a:pPr>
            <a:r>
              <a:rPr lang="en-AU" sz="1200" dirty="0"/>
              <a:t>  font-size: 16px;</a:t>
            </a:r>
          </a:p>
          <a:p>
            <a:pPr marL="0" indent="0">
              <a:buNone/>
            </a:pPr>
            <a:r>
              <a:rPr lang="en-AU" sz="1200" dirty="0"/>
              <a:t>  background-</a:t>
            </a:r>
            <a:r>
              <a:rPr lang="en-AU" sz="1200" dirty="0" err="1"/>
              <a:t>color</a:t>
            </a:r>
            <a:r>
              <a:rPr lang="en-AU" sz="1200" dirty="0"/>
              <a:t>: white;</a:t>
            </a:r>
          </a:p>
          <a:p>
            <a:pPr marL="0" indent="0">
              <a:buNone/>
            </a:pPr>
            <a:r>
              <a:rPr lang="en-AU" sz="1200" dirty="0"/>
              <a:t>  background-image: </a:t>
            </a:r>
            <a:r>
              <a:rPr lang="en-AU" sz="1200" dirty="0" err="1"/>
              <a:t>url</a:t>
            </a:r>
            <a:r>
              <a:rPr lang="en-AU" sz="1200" dirty="0"/>
              <a:t>('</a:t>
            </a:r>
            <a:r>
              <a:rPr lang="en-AU" sz="1200" dirty="0" err="1"/>
              <a:t>search.jpg</a:t>
            </a:r>
            <a:r>
              <a:rPr lang="en-AU" sz="1200" dirty="0"/>
              <a:t>');</a:t>
            </a:r>
          </a:p>
          <a:p>
            <a:pPr marL="0" indent="0">
              <a:buNone/>
            </a:pPr>
            <a:r>
              <a:rPr lang="en-AU" sz="1200" dirty="0"/>
              <a:t>  background-position: 0px 0px; </a:t>
            </a:r>
          </a:p>
          <a:p>
            <a:pPr marL="0" indent="0">
              <a:buNone/>
            </a:pPr>
            <a:r>
              <a:rPr lang="en-AU" sz="1200" dirty="0"/>
              <a:t>  background-repeat: no-repeat;</a:t>
            </a:r>
          </a:p>
          <a:p>
            <a:pPr marL="0" indent="0">
              <a:buNone/>
            </a:pPr>
            <a:r>
              <a:rPr lang="en-AU" sz="1200" dirty="0"/>
              <a:t>  padding: 10px 50px;}</a:t>
            </a:r>
          </a:p>
          <a:p>
            <a:pPr marL="0" indent="0">
              <a:buNone/>
            </a:pPr>
            <a:r>
              <a:rPr lang="en-AU" sz="1200" dirty="0"/>
              <a:t>&lt;/style&gt;</a:t>
            </a:r>
          </a:p>
          <a:p>
            <a:pPr marL="0" indent="0">
              <a:buNone/>
            </a:pPr>
            <a:endParaRPr lang="en-AU" sz="1200" dirty="0"/>
          </a:p>
        </p:txBody>
      </p:sp>
      <p:sp>
        <p:nvSpPr>
          <p:cNvPr id="5" name="TextBox 4">
            <a:extLst>
              <a:ext uri="{FF2B5EF4-FFF2-40B4-BE49-F238E27FC236}">
                <a16:creationId xmlns:a16="http://schemas.microsoft.com/office/drawing/2014/main" id="{593B11B8-94CD-4F93-AB09-E38880570BB7}"/>
              </a:ext>
            </a:extLst>
          </p:cNvPr>
          <p:cNvSpPr txBox="1"/>
          <p:nvPr/>
        </p:nvSpPr>
        <p:spPr>
          <a:xfrm>
            <a:off x="5551714" y="1223736"/>
            <a:ext cx="4386943" cy="1785104"/>
          </a:xfrm>
          <a:prstGeom prst="rect">
            <a:avLst/>
          </a:prstGeom>
          <a:noFill/>
        </p:spPr>
        <p:txBody>
          <a:bodyPr wrap="square">
            <a:spAutoFit/>
          </a:bodyPr>
          <a:lstStyle/>
          <a:p>
            <a:pPr marL="0" indent="0">
              <a:buNone/>
            </a:pPr>
            <a:r>
              <a:rPr lang="en-AU" sz="1100" dirty="0"/>
              <a:t>&lt;/head&gt;</a:t>
            </a:r>
          </a:p>
          <a:p>
            <a:pPr marL="0" indent="0">
              <a:buNone/>
            </a:pPr>
            <a:r>
              <a:rPr lang="en-AU" sz="1100" dirty="0"/>
              <a:t>&lt;body&gt;</a:t>
            </a:r>
          </a:p>
          <a:p>
            <a:pPr marL="0" indent="0">
              <a:buNone/>
            </a:pPr>
            <a:r>
              <a:rPr lang="en-AU" sz="1100" dirty="0"/>
              <a:t>&lt;p&gt;Input with icon:&lt;/p&gt;</a:t>
            </a:r>
          </a:p>
          <a:p>
            <a:pPr marL="0" indent="0">
              <a:buNone/>
            </a:pPr>
            <a:endParaRPr lang="en-AU" sz="1100" dirty="0"/>
          </a:p>
          <a:p>
            <a:pPr marL="0" indent="0">
              <a:buNone/>
            </a:pPr>
            <a:r>
              <a:rPr lang="en-AU" sz="1100" dirty="0"/>
              <a:t>&lt;form&gt;</a:t>
            </a:r>
          </a:p>
          <a:p>
            <a:pPr marL="0" indent="0">
              <a:buNone/>
            </a:pPr>
            <a:r>
              <a:rPr lang="en-AU" sz="1100" dirty="0"/>
              <a:t>  &lt;input type="text" name="search" placeholder="Search.."&gt;</a:t>
            </a:r>
          </a:p>
          <a:p>
            <a:pPr marL="0" indent="0">
              <a:buNone/>
            </a:pPr>
            <a:r>
              <a:rPr lang="en-AU" sz="1100" dirty="0"/>
              <a:t>&lt;/form&gt;</a:t>
            </a:r>
          </a:p>
          <a:p>
            <a:pPr marL="0" indent="0">
              <a:buNone/>
            </a:pPr>
            <a:endParaRPr lang="en-AU" sz="1100" dirty="0"/>
          </a:p>
          <a:p>
            <a:pPr marL="0" indent="0">
              <a:buNone/>
            </a:pPr>
            <a:r>
              <a:rPr lang="en-AU" sz="1100" dirty="0"/>
              <a:t>&lt;/body&gt;</a:t>
            </a:r>
          </a:p>
          <a:p>
            <a:pPr marL="0" indent="0">
              <a:buNone/>
            </a:pPr>
            <a:r>
              <a:rPr lang="en-AU" sz="1100" dirty="0"/>
              <a:t>&lt;/html&gt;</a:t>
            </a:r>
          </a:p>
        </p:txBody>
      </p:sp>
      <p:sp>
        <p:nvSpPr>
          <p:cNvPr id="6" name="TextBox 5">
            <a:extLst>
              <a:ext uri="{FF2B5EF4-FFF2-40B4-BE49-F238E27FC236}">
                <a16:creationId xmlns:a16="http://schemas.microsoft.com/office/drawing/2014/main" id="{836C7915-527F-4934-A846-2E319FCA6985}"/>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273290421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759B2-B88F-4EED-80FC-DFE4ED4CBE28}"/>
              </a:ext>
            </a:extLst>
          </p:cNvPr>
          <p:cNvSpPr>
            <a:spLocks noGrp="1"/>
          </p:cNvSpPr>
          <p:nvPr>
            <p:ph type="title"/>
          </p:nvPr>
        </p:nvSpPr>
        <p:spPr>
          <a:xfrm>
            <a:off x="468086" y="234496"/>
            <a:ext cx="10515600" cy="385989"/>
          </a:xfrm>
        </p:spPr>
        <p:txBody>
          <a:bodyPr>
            <a:normAutofit fontScale="90000"/>
          </a:bodyPr>
          <a:lstStyle/>
          <a:p>
            <a:r>
              <a:rPr lang="en-US" sz="3600" dirty="0">
                <a:solidFill>
                  <a:schemeClr val="accent2">
                    <a:lumMod val="50000"/>
                  </a:schemeClr>
                </a:solidFill>
              </a:rPr>
              <a:t> Button Sizes</a:t>
            </a:r>
            <a:endParaRPr lang="en-AU" sz="3600" dirty="0">
              <a:solidFill>
                <a:schemeClr val="accent2">
                  <a:lumMod val="50000"/>
                </a:schemeClr>
              </a:solidFill>
            </a:endParaRPr>
          </a:p>
        </p:txBody>
      </p:sp>
      <p:sp>
        <p:nvSpPr>
          <p:cNvPr id="3" name="Content Placeholder 2">
            <a:extLst>
              <a:ext uri="{FF2B5EF4-FFF2-40B4-BE49-F238E27FC236}">
                <a16:creationId xmlns:a16="http://schemas.microsoft.com/office/drawing/2014/main" id="{1F13BC24-68BB-4C20-9D34-39DCB4FA4169}"/>
              </a:ext>
            </a:extLst>
          </p:cNvPr>
          <p:cNvSpPr>
            <a:spLocks noGrp="1"/>
          </p:cNvSpPr>
          <p:nvPr>
            <p:ph idx="1"/>
          </p:nvPr>
        </p:nvSpPr>
        <p:spPr>
          <a:xfrm>
            <a:off x="468086" y="794204"/>
            <a:ext cx="2710543" cy="4836433"/>
          </a:xfrm>
        </p:spPr>
        <p:txBody>
          <a:bodyPr>
            <a:noAutofit/>
          </a:bodyPr>
          <a:lstStyle/>
          <a:p>
            <a:pPr marL="0" indent="0">
              <a:buNone/>
            </a:pPr>
            <a:r>
              <a:rPr lang="en-AU" sz="1100" dirty="0"/>
              <a:t>&lt;!DOCTYPE html&gt;</a:t>
            </a:r>
          </a:p>
          <a:p>
            <a:pPr marL="0" indent="0">
              <a:buNone/>
            </a:pPr>
            <a:r>
              <a:rPr lang="en-AU" sz="1100" dirty="0"/>
              <a:t>&lt;html&gt;</a:t>
            </a:r>
          </a:p>
          <a:p>
            <a:pPr marL="0" indent="0">
              <a:buNone/>
            </a:pPr>
            <a:r>
              <a:rPr lang="en-AU" sz="1100" dirty="0"/>
              <a:t>&lt;head&gt;</a:t>
            </a:r>
          </a:p>
          <a:p>
            <a:pPr marL="0" indent="0">
              <a:buNone/>
            </a:pPr>
            <a:r>
              <a:rPr lang="en-AU" sz="1100" dirty="0"/>
              <a:t>&lt;style&gt;</a:t>
            </a:r>
          </a:p>
          <a:p>
            <a:pPr marL="0" indent="0">
              <a:buNone/>
            </a:pPr>
            <a:r>
              <a:rPr lang="en-AU" sz="1100" dirty="0"/>
              <a:t>.button {</a:t>
            </a:r>
          </a:p>
          <a:p>
            <a:pPr marL="0" indent="0">
              <a:buNone/>
            </a:pPr>
            <a:r>
              <a:rPr lang="en-AU" sz="1100" dirty="0"/>
              <a:t>  background-</a:t>
            </a:r>
            <a:r>
              <a:rPr lang="en-AU" sz="1100" dirty="0" err="1"/>
              <a:t>color</a:t>
            </a:r>
            <a:r>
              <a:rPr lang="en-AU" sz="1100" dirty="0"/>
              <a:t>:  Green;</a:t>
            </a:r>
          </a:p>
          <a:p>
            <a:pPr marL="0" indent="0">
              <a:buNone/>
            </a:pPr>
            <a:r>
              <a:rPr lang="en-AU" sz="1100" dirty="0"/>
              <a:t>  border: none;</a:t>
            </a:r>
          </a:p>
          <a:p>
            <a:pPr marL="0" indent="0">
              <a:buNone/>
            </a:pPr>
            <a:r>
              <a:rPr lang="en-AU" sz="1100" dirty="0"/>
              <a:t>  </a:t>
            </a:r>
            <a:r>
              <a:rPr lang="en-AU" sz="1100" dirty="0" err="1"/>
              <a:t>color</a:t>
            </a:r>
            <a:r>
              <a:rPr lang="en-AU" sz="1100" dirty="0"/>
              <a:t>: white;</a:t>
            </a:r>
          </a:p>
          <a:p>
            <a:pPr marL="0" indent="0">
              <a:buNone/>
            </a:pPr>
            <a:r>
              <a:rPr lang="en-AU" sz="1100" dirty="0"/>
              <a:t>  text-align: </a:t>
            </a:r>
            <a:r>
              <a:rPr lang="en-AU" sz="1100" dirty="0" err="1"/>
              <a:t>center</a:t>
            </a:r>
            <a:r>
              <a:rPr lang="en-AU" sz="1100" dirty="0"/>
              <a:t>;</a:t>
            </a:r>
          </a:p>
          <a:p>
            <a:pPr marL="0" indent="0">
              <a:buNone/>
            </a:pPr>
            <a:r>
              <a:rPr lang="en-AU" sz="1100" dirty="0"/>
              <a:t>  text-decoration: none;</a:t>
            </a:r>
          </a:p>
          <a:p>
            <a:pPr marL="0" indent="0">
              <a:buNone/>
            </a:pPr>
            <a:r>
              <a:rPr lang="en-AU" sz="1100" dirty="0"/>
              <a:t>  font-size: 16px;</a:t>
            </a:r>
          </a:p>
          <a:p>
            <a:pPr marL="0" indent="0">
              <a:buNone/>
            </a:pPr>
            <a:r>
              <a:rPr lang="en-AU" sz="1100" dirty="0"/>
              <a:t>  cursor: pointer;}</a:t>
            </a:r>
          </a:p>
          <a:p>
            <a:pPr marL="0" indent="0">
              <a:buNone/>
            </a:pPr>
            <a:r>
              <a:rPr lang="en-AU" sz="1100" dirty="0"/>
              <a:t>.button1 {padding: 10px 24px;}</a:t>
            </a:r>
          </a:p>
          <a:p>
            <a:pPr marL="0" indent="0">
              <a:buNone/>
            </a:pPr>
            <a:r>
              <a:rPr lang="en-AU" sz="1100" dirty="0"/>
              <a:t>.button2 {padding: 12px 28px;}</a:t>
            </a:r>
          </a:p>
          <a:p>
            <a:pPr marL="0" indent="0">
              <a:buNone/>
            </a:pPr>
            <a:r>
              <a:rPr lang="en-AU" sz="1100" dirty="0"/>
              <a:t>.button3 {padding: 14px 40px;}</a:t>
            </a:r>
          </a:p>
          <a:p>
            <a:pPr marL="0" indent="0">
              <a:buNone/>
            </a:pPr>
            <a:r>
              <a:rPr lang="en-AU" sz="1100" dirty="0"/>
              <a:t>.button4 {padding: 32px 16px;}</a:t>
            </a:r>
          </a:p>
          <a:p>
            <a:pPr marL="0" indent="0">
              <a:buNone/>
            </a:pPr>
            <a:r>
              <a:rPr lang="en-AU" sz="1100" dirty="0"/>
              <a:t>&lt;/style&gt;&lt;/head&gt;&lt;body&gt;</a:t>
            </a:r>
          </a:p>
        </p:txBody>
      </p:sp>
      <p:sp>
        <p:nvSpPr>
          <p:cNvPr id="5" name="TextBox 4">
            <a:extLst>
              <a:ext uri="{FF2B5EF4-FFF2-40B4-BE49-F238E27FC236}">
                <a16:creationId xmlns:a16="http://schemas.microsoft.com/office/drawing/2014/main" id="{458457AB-931D-4C61-BC0C-8D29287272BE}"/>
              </a:ext>
            </a:extLst>
          </p:cNvPr>
          <p:cNvSpPr txBox="1"/>
          <p:nvPr/>
        </p:nvSpPr>
        <p:spPr>
          <a:xfrm>
            <a:off x="4789716" y="1303109"/>
            <a:ext cx="4582886" cy="2031325"/>
          </a:xfrm>
          <a:prstGeom prst="rect">
            <a:avLst/>
          </a:prstGeom>
          <a:noFill/>
        </p:spPr>
        <p:txBody>
          <a:bodyPr wrap="square">
            <a:spAutoFit/>
          </a:bodyPr>
          <a:lstStyle/>
          <a:p>
            <a:r>
              <a:rPr lang="en-AU" sz="1400" dirty="0"/>
              <a:t>&lt;h2&gt;Button Sizes&lt;/h2&gt;</a:t>
            </a:r>
          </a:p>
          <a:p>
            <a:r>
              <a:rPr lang="en-AU" sz="1400" dirty="0"/>
              <a:t>&lt;p&gt;Change the padding of a button with the padding property:&lt;/p&gt;</a:t>
            </a:r>
          </a:p>
          <a:p>
            <a:r>
              <a:rPr lang="en-AU" sz="1400" dirty="0"/>
              <a:t>&lt;button class="button button1"&gt;10px 24px&lt;/button&gt;</a:t>
            </a:r>
          </a:p>
          <a:p>
            <a:r>
              <a:rPr lang="en-AU" sz="1400" dirty="0"/>
              <a:t>&lt;button class="button button2"&gt;12px 28px&lt;/button&gt;</a:t>
            </a:r>
          </a:p>
          <a:p>
            <a:r>
              <a:rPr lang="en-AU" sz="1400" dirty="0"/>
              <a:t>&lt;button class="button button3"&gt;14px 40px&lt;/button&gt;</a:t>
            </a:r>
          </a:p>
          <a:p>
            <a:r>
              <a:rPr lang="en-AU" sz="1400" dirty="0"/>
              <a:t>&lt;button class="button button4"&gt;32px 16px&lt;/button&gt;</a:t>
            </a:r>
          </a:p>
          <a:p>
            <a:r>
              <a:rPr lang="en-AU" sz="1400" dirty="0"/>
              <a:t>&lt;/body&gt;</a:t>
            </a:r>
          </a:p>
          <a:p>
            <a:r>
              <a:rPr lang="en-AU" sz="1400" dirty="0"/>
              <a:t>&lt;/html&gt;</a:t>
            </a:r>
            <a:endParaRPr lang="en-AU" sz="900" dirty="0"/>
          </a:p>
        </p:txBody>
      </p:sp>
      <p:sp>
        <p:nvSpPr>
          <p:cNvPr id="6" name="TextBox 5">
            <a:extLst>
              <a:ext uri="{FF2B5EF4-FFF2-40B4-BE49-F238E27FC236}">
                <a16:creationId xmlns:a16="http://schemas.microsoft.com/office/drawing/2014/main" id="{B2512E2A-8E14-495E-AB27-7C579784E6E1}"/>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179679501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299E4-050A-41B4-ADF5-6E2DF4D5B4A8}"/>
              </a:ext>
            </a:extLst>
          </p:cNvPr>
          <p:cNvSpPr>
            <a:spLocks noGrp="1"/>
          </p:cNvSpPr>
          <p:nvPr>
            <p:ph type="title"/>
          </p:nvPr>
        </p:nvSpPr>
        <p:spPr>
          <a:xfrm>
            <a:off x="631372" y="278039"/>
            <a:ext cx="10515600" cy="473075"/>
          </a:xfrm>
        </p:spPr>
        <p:txBody>
          <a:bodyPr>
            <a:noAutofit/>
          </a:bodyPr>
          <a:lstStyle/>
          <a:p>
            <a:r>
              <a:rPr lang="en-US" sz="3600" dirty="0">
                <a:solidFill>
                  <a:schemeClr val="accent2">
                    <a:lumMod val="50000"/>
                  </a:schemeClr>
                </a:solidFill>
              </a:rPr>
              <a:t>Rounded Buttons</a:t>
            </a:r>
            <a:endParaRPr lang="en-AU" sz="3600" dirty="0">
              <a:solidFill>
                <a:schemeClr val="accent2">
                  <a:lumMod val="50000"/>
                </a:schemeClr>
              </a:solidFill>
            </a:endParaRPr>
          </a:p>
        </p:txBody>
      </p:sp>
      <p:sp>
        <p:nvSpPr>
          <p:cNvPr id="3" name="Content Placeholder 2">
            <a:extLst>
              <a:ext uri="{FF2B5EF4-FFF2-40B4-BE49-F238E27FC236}">
                <a16:creationId xmlns:a16="http://schemas.microsoft.com/office/drawing/2014/main" id="{B62CD8CA-89FC-4750-B162-6C6383F03B6A}"/>
              </a:ext>
            </a:extLst>
          </p:cNvPr>
          <p:cNvSpPr>
            <a:spLocks noGrp="1"/>
          </p:cNvSpPr>
          <p:nvPr>
            <p:ph idx="1"/>
          </p:nvPr>
        </p:nvSpPr>
        <p:spPr>
          <a:xfrm>
            <a:off x="914402" y="965654"/>
            <a:ext cx="2601684" cy="4705804"/>
          </a:xfrm>
        </p:spPr>
        <p:txBody>
          <a:bodyPr>
            <a:noAutofit/>
          </a:bodyPr>
          <a:lstStyle/>
          <a:p>
            <a:pPr marL="0" indent="0">
              <a:buNone/>
            </a:pPr>
            <a:r>
              <a:rPr lang="en-AU" sz="1200" dirty="0"/>
              <a:t>&lt;!DOCTYPE html&gt;</a:t>
            </a:r>
          </a:p>
          <a:p>
            <a:pPr marL="0" indent="0">
              <a:buNone/>
            </a:pPr>
            <a:r>
              <a:rPr lang="en-AU" sz="1200" dirty="0"/>
              <a:t>&lt;html&gt;</a:t>
            </a:r>
          </a:p>
          <a:p>
            <a:pPr marL="0" indent="0">
              <a:buNone/>
            </a:pPr>
            <a:r>
              <a:rPr lang="en-AU" sz="1200" dirty="0"/>
              <a:t>&lt;head&gt;</a:t>
            </a:r>
          </a:p>
          <a:p>
            <a:pPr marL="0" indent="0">
              <a:buNone/>
            </a:pPr>
            <a:r>
              <a:rPr lang="en-AU" sz="1200" dirty="0"/>
              <a:t>&lt;style&gt;</a:t>
            </a:r>
          </a:p>
          <a:p>
            <a:pPr marL="0" indent="0">
              <a:buNone/>
            </a:pPr>
            <a:r>
              <a:rPr lang="en-AU" sz="1200" dirty="0"/>
              <a:t>.button {</a:t>
            </a:r>
          </a:p>
          <a:p>
            <a:pPr marL="0" indent="0">
              <a:buNone/>
            </a:pPr>
            <a:r>
              <a:rPr lang="en-AU" sz="1200" dirty="0"/>
              <a:t>  background-</a:t>
            </a:r>
            <a:r>
              <a:rPr lang="en-AU" sz="1200" dirty="0" err="1"/>
              <a:t>color</a:t>
            </a:r>
            <a:r>
              <a:rPr lang="en-AU" sz="1200" dirty="0"/>
              <a:t>: Green; </a:t>
            </a:r>
          </a:p>
          <a:p>
            <a:pPr marL="0" indent="0">
              <a:buNone/>
            </a:pPr>
            <a:r>
              <a:rPr lang="en-AU" sz="1200" dirty="0"/>
              <a:t>  border: none;</a:t>
            </a:r>
          </a:p>
          <a:p>
            <a:pPr marL="0" indent="0">
              <a:buNone/>
            </a:pPr>
            <a:r>
              <a:rPr lang="en-AU" sz="1200" dirty="0"/>
              <a:t>  </a:t>
            </a:r>
            <a:r>
              <a:rPr lang="en-AU" sz="1200" dirty="0" err="1"/>
              <a:t>color</a:t>
            </a:r>
            <a:r>
              <a:rPr lang="en-AU" sz="1200" dirty="0"/>
              <a:t>: White;</a:t>
            </a:r>
          </a:p>
          <a:p>
            <a:pPr marL="0" indent="0">
              <a:buNone/>
            </a:pPr>
            <a:r>
              <a:rPr lang="en-AU" sz="1200" dirty="0"/>
              <a:t>  padding: 20px;</a:t>
            </a:r>
          </a:p>
          <a:p>
            <a:pPr marL="0" indent="0">
              <a:buNone/>
            </a:pPr>
            <a:r>
              <a:rPr lang="en-AU" sz="1200" dirty="0"/>
              <a:t>  text-align: </a:t>
            </a:r>
            <a:r>
              <a:rPr lang="en-AU" sz="1200" dirty="0" err="1"/>
              <a:t>center</a:t>
            </a:r>
            <a:r>
              <a:rPr lang="en-AU" sz="1200" dirty="0"/>
              <a:t>;</a:t>
            </a:r>
          </a:p>
          <a:p>
            <a:pPr marL="0" indent="0">
              <a:buNone/>
            </a:pPr>
            <a:r>
              <a:rPr lang="en-AU" sz="1200" dirty="0"/>
              <a:t>  text-decoration: none;</a:t>
            </a:r>
          </a:p>
          <a:p>
            <a:pPr marL="0" indent="0">
              <a:buNone/>
            </a:pPr>
            <a:r>
              <a:rPr lang="en-AU" sz="1200" dirty="0"/>
              <a:t>  font-size: 16px;</a:t>
            </a:r>
          </a:p>
          <a:p>
            <a:pPr marL="0" indent="0">
              <a:buNone/>
            </a:pPr>
            <a:r>
              <a:rPr lang="en-AU" sz="1200" dirty="0"/>
              <a:t>  margin: 4px 2px;</a:t>
            </a:r>
          </a:p>
          <a:p>
            <a:pPr marL="0" indent="0">
              <a:buNone/>
            </a:pPr>
            <a:r>
              <a:rPr lang="en-AU" sz="1200" dirty="0"/>
              <a:t>  cursor: pointer;</a:t>
            </a:r>
          </a:p>
          <a:p>
            <a:pPr marL="0" indent="0">
              <a:buNone/>
            </a:pPr>
            <a:r>
              <a:rPr lang="en-AU" sz="1200" dirty="0"/>
              <a:t>}</a:t>
            </a:r>
          </a:p>
          <a:p>
            <a:pPr marL="0" indent="0">
              <a:buNone/>
            </a:pPr>
            <a:endParaRPr lang="en-AU" sz="1200" dirty="0"/>
          </a:p>
        </p:txBody>
      </p:sp>
      <p:sp>
        <p:nvSpPr>
          <p:cNvPr id="5" name="TextBox 4">
            <a:extLst>
              <a:ext uri="{FF2B5EF4-FFF2-40B4-BE49-F238E27FC236}">
                <a16:creationId xmlns:a16="http://schemas.microsoft.com/office/drawing/2014/main" id="{BE416DAB-8412-43EC-9F76-D2C38C94C2D3}"/>
              </a:ext>
            </a:extLst>
          </p:cNvPr>
          <p:cNvSpPr txBox="1"/>
          <p:nvPr/>
        </p:nvSpPr>
        <p:spPr>
          <a:xfrm>
            <a:off x="5442857" y="1201964"/>
            <a:ext cx="6096000" cy="3785652"/>
          </a:xfrm>
          <a:prstGeom prst="rect">
            <a:avLst/>
          </a:prstGeom>
          <a:noFill/>
        </p:spPr>
        <p:txBody>
          <a:bodyPr wrap="square">
            <a:spAutoFit/>
          </a:bodyPr>
          <a:lstStyle/>
          <a:p>
            <a:pPr marL="0" indent="0">
              <a:buNone/>
            </a:pPr>
            <a:r>
              <a:rPr lang="en-AU" sz="1200" dirty="0"/>
              <a:t>.button1 {border-radius: 2px;}</a:t>
            </a:r>
          </a:p>
          <a:p>
            <a:pPr marL="0" indent="0">
              <a:buNone/>
            </a:pPr>
            <a:r>
              <a:rPr lang="en-AU" sz="1200" dirty="0"/>
              <a:t>.button2 {border-radius: 4px;}</a:t>
            </a:r>
          </a:p>
          <a:p>
            <a:pPr marL="0" indent="0">
              <a:buNone/>
            </a:pPr>
            <a:r>
              <a:rPr lang="en-AU" sz="1200" dirty="0"/>
              <a:t>.button3 {border-radius: 8px;}</a:t>
            </a:r>
          </a:p>
          <a:p>
            <a:pPr marL="0" indent="0">
              <a:buNone/>
            </a:pPr>
            <a:r>
              <a:rPr lang="en-AU" sz="1200" dirty="0"/>
              <a:t>.button4 {border-radius: 12px;}</a:t>
            </a:r>
          </a:p>
          <a:p>
            <a:pPr marL="0" indent="0">
              <a:buNone/>
            </a:pPr>
            <a:r>
              <a:rPr lang="en-AU" sz="1200" dirty="0"/>
              <a:t>.button5 {border-radius: 50px;}</a:t>
            </a:r>
          </a:p>
          <a:p>
            <a:pPr marL="0" indent="0">
              <a:buNone/>
            </a:pPr>
            <a:r>
              <a:rPr lang="en-AU" sz="1200" dirty="0"/>
              <a:t>&lt;/style&gt;</a:t>
            </a:r>
          </a:p>
          <a:p>
            <a:pPr marL="0" indent="0">
              <a:buNone/>
            </a:pPr>
            <a:r>
              <a:rPr lang="en-AU" sz="1200" dirty="0"/>
              <a:t>&lt;/head&gt;</a:t>
            </a:r>
          </a:p>
          <a:p>
            <a:pPr marL="0" indent="0">
              <a:buNone/>
            </a:pPr>
            <a:r>
              <a:rPr lang="en-AU" sz="1200" dirty="0"/>
              <a:t>&lt;body&gt;</a:t>
            </a:r>
          </a:p>
          <a:p>
            <a:pPr marL="0" indent="0">
              <a:buNone/>
            </a:pPr>
            <a:r>
              <a:rPr lang="en-AU" sz="1200" dirty="0"/>
              <a:t>&lt;h2&gt;Rounded Buttons&lt;/h2&gt;</a:t>
            </a:r>
          </a:p>
          <a:p>
            <a:pPr marL="0" indent="0">
              <a:buNone/>
            </a:pPr>
            <a:r>
              <a:rPr lang="en-AU" sz="1200" dirty="0"/>
              <a:t>&lt;p&gt;Add rounded corners to a button with the border-radius property:&lt;/p&gt;</a:t>
            </a:r>
          </a:p>
          <a:p>
            <a:pPr marL="0" indent="0">
              <a:buNone/>
            </a:pPr>
            <a:endParaRPr lang="en-AU" sz="1200" dirty="0"/>
          </a:p>
          <a:p>
            <a:pPr marL="0" indent="0">
              <a:buNone/>
            </a:pPr>
            <a:r>
              <a:rPr lang="en-AU" sz="1200" dirty="0"/>
              <a:t>&lt;button class="button button1"&gt;2px&lt;/button&gt;</a:t>
            </a:r>
          </a:p>
          <a:p>
            <a:pPr marL="0" indent="0">
              <a:buNone/>
            </a:pPr>
            <a:r>
              <a:rPr lang="en-AU" sz="1200" dirty="0"/>
              <a:t>&lt;button class="button button2"&gt;4px&lt;/button&gt;</a:t>
            </a:r>
          </a:p>
          <a:p>
            <a:pPr marL="0" indent="0">
              <a:buNone/>
            </a:pPr>
            <a:r>
              <a:rPr lang="en-AU" sz="1200" dirty="0"/>
              <a:t>&lt;button class="button button3"&gt;8px&lt;/button&gt;</a:t>
            </a:r>
          </a:p>
          <a:p>
            <a:pPr marL="0" indent="0">
              <a:buNone/>
            </a:pPr>
            <a:r>
              <a:rPr lang="en-AU" sz="1200" dirty="0"/>
              <a:t>&lt;button class="button button4"&gt;12px&lt;/button&gt;</a:t>
            </a:r>
          </a:p>
          <a:p>
            <a:pPr marL="0" indent="0">
              <a:buNone/>
            </a:pPr>
            <a:r>
              <a:rPr lang="en-AU" sz="1200" dirty="0"/>
              <a:t>&lt;button class="button button5"&gt;50px&lt;/button&gt;</a:t>
            </a:r>
          </a:p>
          <a:p>
            <a:pPr marL="0" indent="0">
              <a:buNone/>
            </a:pPr>
            <a:endParaRPr lang="en-AU" sz="1200" dirty="0"/>
          </a:p>
          <a:p>
            <a:pPr marL="0" indent="0">
              <a:buNone/>
            </a:pPr>
            <a:r>
              <a:rPr lang="en-AU" sz="1200" dirty="0"/>
              <a:t>&lt;/body&gt;</a:t>
            </a:r>
          </a:p>
          <a:p>
            <a:pPr marL="0" indent="0">
              <a:buNone/>
            </a:pPr>
            <a:r>
              <a:rPr lang="en-AU" sz="1200" dirty="0"/>
              <a:t>&lt;/html&gt;</a:t>
            </a:r>
          </a:p>
          <a:p>
            <a:pPr marL="0" indent="0">
              <a:buNone/>
            </a:pPr>
            <a:endParaRPr lang="en-AU" sz="1200" dirty="0"/>
          </a:p>
        </p:txBody>
      </p:sp>
      <p:sp>
        <p:nvSpPr>
          <p:cNvPr id="6" name="TextBox 5">
            <a:extLst>
              <a:ext uri="{FF2B5EF4-FFF2-40B4-BE49-F238E27FC236}">
                <a16:creationId xmlns:a16="http://schemas.microsoft.com/office/drawing/2014/main" id="{6B08E487-AADA-4454-9B1E-BF5B42FBF906}"/>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191744596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09590-D7DA-4FA6-A3D4-894B495F2A86}"/>
              </a:ext>
            </a:extLst>
          </p:cNvPr>
          <p:cNvSpPr>
            <a:spLocks noGrp="1"/>
          </p:cNvSpPr>
          <p:nvPr>
            <p:ph type="title"/>
          </p:nvPr>
        </p:nvSpPr>
        <p:spPr>
          <a:xfrm>
            <a:off x="544285" y="288926"/>
            <a:ext cx="10515600" cy="745217"/>
          </a:xfrm>
        </p:spPr>
        <p:txBody>
          <a:bodyPr/>
          <a:lstStyle/>
          <a:p>
            <a:r>
              <a:rPr lang="en-US" sz="3600" dirty="0">
                <a:solidFill>
                  <a:schemeClr val="accent2">
                    <a:lumMod val="50000"/>
                  </a:schemeClr>
                </a:solidFill>
              </a:rPr>
              <a:t>CSS Opacity/Transparency</a:t>
            </a:r>
            <a:endParaRPr lang="en-AU" sz="3600" dirty="0">
              <a:solidFill>
                <a:schemeClr val="accent2">
                  <a:lumMod val="50000"/>
                </a:schemeClr>
              </a:solidFill>
            </a:endParaRPr>
          </a:p>
        </p:txBody>
      </p:sp>
      <p:sp>
        <p:nvSpPr>
          <p:cNvPr id="3" name="Content Placeholder 2">
            <a:extLst>
              <a:ext uri="{FF2B5EF4-FFF2-40B4-BE49-F238E27FC236}">
                <a16:creationId xmlns:a16="http://schemas.microsoft.com/office/drawing/2014/main" id="{AF4BD64F-5582-4C6F-9CB5-6E46F5DF0366}"/>
              </a:ext>
            </a:extLst>
          </p:cNvPr>
          <p:cNvSpPr>
            <a:spLocks noGrp="1"/>
          </p:cNvSpPr>
          <p:nvPr>
            <p:ph idx="1"/>
          </p:nvPr>
        </p:nvSpPr>
        <p:spPr>
          <a:xfrm>
            <a:off x="283028" y="1085396"/>
            <a:ext cx="11615058" cy="3808956"/>
          </a:xfrm>
        </p:spPr>
        <p:txBody>
          <a:bodyPr>
            <a:normAutofit/>
          </a:bodyPr>
          <a:lstStyle/>
          <a:p>
            <a:r>
              <a:rPr lang="en-US" sz="2400" dirty="0"/>
              <a:t>The opacity property specifies the opacity/transparency of an element.</a:t>
            </a:r>
          </a:p>
          <a:p>
            <a:r>
              <a:rPr kumimoji="0" lang="en-US" altLang="en-US" sz="2400" b="0" i="0" u="none" strike="noStrike" cap="none" normalizeH="0" baseline="0" dirty="0">
                <a:ln>
                  <a:noFill/>
                </a:ln>
                <a:solidFill>
                  <a:srgbClr val="000000"/>
                </a:solidFill>
                <a:effectLst/>
              </a:rPr>
              <a:t>The </a:t>
            </a:r>
            <a:r>
              <a:rPr kumimoji="0" lang="en-US" altLang="en-US" sz="2400" b="0" i="0" u="none" strike="noStrike" cap="none" normalizeH="0" baseline="0" dirty="0">
                <a:ln>
                  <a:noFill/>
                </a:ln>
                <a:solidFill>
                  <a:srgbClr val="DC143C"/>
                </a:solidFill>
                <a:effectLst/>
              </a:rPr>
              <a:t>opacity</a:t>
            </a:r>
            <a:r>
              <a:rPr kumimoji="0" lang="en-US" altLang="en-US" sz="2400" b="0" i="0" u="none" strike="noStrike" cap="none" normalizeH="0" baseline="0" dirty="0">
                <a:ln>
                  <a:noFill/>
                </a:ln>
                <a:solidFill>
                  <a:srgbClr val="000000"/>
                </a:solidFill>
                <a:effectLst/>
              </a:rPr>
              <a:t> property can take a value from 0.0 - 1.0. </a:t>
            </a:r>
            <a:endParaRPr kumimoji="0" lang="en-US" altLang="en-US" sz="2400" b="0" i="0" u="none" strike="noStrike" cap="none" normalizeH="0" baseline="0" dirty="0">
              <a:ln>
                <a:noFill/>
              </a:ln>
              <a:solidFill>
                <a:schemeClr val="tx1"/>
              </a:solidFill>
              <a:effectLst/>
            </a:endParaRPr>
          </a:p>
          <a:p>
            <a:endParaRPr lang="en-AU" sz="2400" dirty="0"/>
          </a:p>
        </p:txBody>
      </p:sp>
      <p:pic>
        <p:nvPicPr>
          <p:cNvPr id="7" name="Picture 6">
            <a:extLst>
              <a:ext uri="{FF2B5EF4-FFF2-40B4-BE49-F238E27FC236}">
                <a16:creationId xmlns:a16="http://schemas.microsoft.com/office/drawing/2014/main" id="{1FAF1A03-8E7A-4EE1-99DB-27D3DA3C4303}"/>
              </a:ext>
            </a:extLst>
          </p:cNvPr>
          <p:cNvPicPr>
            <a:picLocks noChangeAspect="1"/>
          </p:cNvPicPr>
          <p:nvPr/>
        </p:nvPicPr>
        <p:blipFill>
          <a:blip r:embed="rId2"/>
          <a:stretch>
            <a:fillRect/>
          </a:stretch>
        </p:blipFill>
        <p:spPr>
          <a:xfrm>
            <a:off x="1202515" y="2407058"/>
            <a:ext cx="9776083" cy="2773136"/>
          </a:xfrm>
          <a:prstGeom prst="rect">
            <a:avLst/>
          </a:prstGeom>
        </p:spPr>
      </p:pic>
      <p:sp>
        <p:nvSpPr>
          <p:cNvPr id="8" name="TextBox 7">
            <a:extLst>
              <a:ext uri="{FF2B5EF4-FFF2-40B4-BE49-F238E27FC236}">
                <a16:creationId xmlns:a16="http://schemas.microsoft.com/office/drawing/2014/main" id="{FD344AF0-D9B1-4D46-875D-CC2530C4EB24}"/>
              </a:ext>
            </a:extLst>
          </p:cNvPr>
          <p:cNvSpPr txBox="1"/>
          <p:nvPr/>
        </p:nvSpPr>
        <p:spPr>
          <a:xfrm>
            <a:off x="8923788" y="5444771"/>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154695203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4780B-263E-40EA-B9CD-C0A474171394}"/>
              </a:ext>
            </a:extLst>
          </p:cNvPr>
          <p:cNvSpPr>
            <a:spLocks noGrp="1"/>
          </p:cNvSpPr>
          <p:nvPr>
            <p:ph type="title"/>
          </p:nvPr>
        </p:nvSpPr>
        <p:spPr>
          <a:xfrm>
            <a:off x="457200" y="354239"/>
            <a:ext cx="10515600" cy="658132"/>
          </a:xfrm>
        </p:spPr>
        <p:txBody>
          <a:bodyPr>
            <a:normAutofit fontScale="90000"/>
          </a:bodyPr>
          <a:lstStyle/>
          <a:p>
            <a:r>
              <a:rPr lang="en-US" sz="4400" dirty="0">
                <a:solidFill>
                  <a:schemeClr val="accent2">
                    <a:lumMod val="50000"/>
                  </a:schemeClr>
                </a:solidFill>
              </a:rPr>
              <a:t>CSS Opacity/Transparency</a:t>
            </a:r>
            <a:endParaRPr lang="en-AU" dirty="0"/>
          </a:p>
        </p:txBody>
      </p:sp>
      <p:sp>
        <p:nvSpPr>
          <p:cNvPr id="3" name="Content Placeholder 2">
            <a:extLst>
              <a:ext uri="{FF2B5EF4-FFF2-40B4-BE49-F238E27FC236}">
                <a16:creationId xmlns:a16="http://schemas.microsoft.com/office/drawing/2014/main" id="{504AB7C3-FDCB-4D76-978C-3BA364AED0ED}"/>
              </a:ext>
            </a:extLst>
          </p:cNvPr>
          <p:cNvSpPr>
            <a:spLocks noGrp="1"/>
          </p:cNvSpPr>
          <p:nvPr>
            <p:ph idx="1"/>
          </p:nvPr>
        </p:nvSpPr>
        <p:spPr>
          <a:xfrm>
            <a:off x="870858" y="1426550"/>
            <a:ext cx="3189514" cy="3808956"/>
          </a:xfrm>
        </p:spPr>
        <p:txBody>
          <a:bodyPr>
            <a:noAutofit/>
          </a:bodyPr>
          <a:lstStyle/>
          <a:p>
            <a:pPr marL="0" indent="0">
              <a:buNone/>
            </a:pPr>
            <a:r>
              <a:rPr lang="en-AU" sz="1200" dirty="0"/>
              <a:t>&lt;!DOCTYPE html&gt;</a:t>
            </a:r>
          </a:p>
          <a:p>
            <a:pPr marL="0" indent="0">
              <a:buNone/>
            </a:pPr>
            <a:r>
              <a:rPr lang="en-AU" sz="1200" dirty="0"/>
              <a:t>&lt;html&gt;</a:t>
            </a:r>
          </a:p>
          <a:p>
            <a:pPr marL="0" indent="0">
              <a:buNone/>
            </a:pPr>
            <a:r>
              <a:rPr lang="en-AU" sz="1200" dirty="0"/>
              <a:t>&lt;head&gt;</a:t>
            </a:r>
          </a:p>
          <a:p>
            <a:pPr marL="0" indent="0">
              <a:buNone/>
            </a:pPr>
            <a:r>
              <a:rPr lang="en-AU" sz="1200" dirty="0"/>
              <a:t>&lt;style&gt;</a:t>
            </a:r>
          </a:p>
          <a:p>
            <a:pPr marL="0" indent="0">
              <a:buNone/>
            </a:pPr>
            <a:r>
              <a:rPr lang="en-AU" sz="1200" dirty="0" err="1"/>
              <a:t>img</a:t>
            </a:r>
            <a:r>
              <a:rPr lang="en-AU" sz="1200" dirty="0"/>
              <a:t> {</a:t>
            </a:r>
          </a:p>
          <a:p>
            <a:pPr marL="0" indent="0">
              <a:buNone/>
            </a:pPr>
            <a:r>
              <a:rPr lang="en-AU" sz="1200" dirty="0"/>
              <a:t>  opacity: 0.5;</a:t>
            </a:r>
          </a:p>
          <a:p>
            <a:pPr marL="0" indent="0">
              <a:buNone/>
            </a:pPr>
            <a:r>
              <a:rPr lang="en-AU" sz="1200" dirty="0"/>
              <a:t>}</a:t>
            </a:r>
          </a:p>
          <a:p>
            <a:pPr marL="0" indent="0">
              <a:buNone/>
            </a:pPr>
            <a:r>
              <a:rPr lang="en-AU" sz="1200" dirty="0" err="1"/>
              <a:t>img:hover</a:t>
            </a:r>
            <a:r>
              <a:rPr lang="en-AU" sz="1200" dirty="0"/>
              <a:t> {</a:t>
            </a:r>
          </a:p>
          <a:p>
            <a:pPr marL="0" indent="0">
              <a:buNone/>
            </a:pPr>
            <a:r>
              <a:rPr lang="en-AU" sz="1200" dirty="0"/>
              <a:t>  opacity: 1.0;</a:t>
            </a:r>
          </a:p>
          <a:p>
            <a:pPr marL="0" indent="0">
              <a:buNone/>
            </a:pPr>
            <a:r>
              <a:rPr lang="en-AU" sz="1200" dirty="0"/>
              <a:t>}</a:t>
            </a:r>
          </a:p>
          <a:p>
            <a:pPr marL="0" indent="0">
              <a:buNone/>
            </a:pPr>
            <a:r>
              <a:rPr lang="en-AU" sz="1200" dirty="0"/>
              <a:t>&lt;/style&gt;</a:t>
            </a:r>
          </a:p>
          <a:p>
            <a:pPr marL="0" indent="0">
              <a:buNone/>
            </a:pPr>
            <a:r>
              <a:rPr lang="en-AU" sz="1200" dirty="0"/>
              <a:t>&lt;/head&gt;</a:t>
            </a:r>
          </a:p>
          <a:p>
            <a:pPr marL="0" indent="0">
              <a:buNone/>
            </a:pPr>
            <a:r>
              <a:rPr lang="en-AU" sz="1200" dirty="0"/>
              <a:t>&lt;body&gt;</a:t>
            </a:r>
          </a:p>
          <a:p>
            <a:pPr marL="0" indent="0">
              <a:buNone/>
            </a:pPr>
            <a:endParaRPr lang="en-AU" sz="1200" dirty="0"/>
          </a:p>
        </p:txBody>
      </p:sp>
      <p:sp>
        <p:nvSpPr>
          <p:cNvPr id="5" name="TextBox 4">
            <a:extLst>
              <a:ext uri="{FF2B5EF4-FFF2-40B4-BE49-F238E27FC236}">
                <a16:creationId xmlns:a16="http://schemas.microsoft.com/office/drawing/2014/main" id="{B2C47078-70F4-4B82-917E-70B271E10897}"/>
              </a:ext>
            </a:extLst>
          </p:cNvPr>
          <p:cNvSpPr txBox="1"/>
          <p:nvPr/>
        </p:nvSpPr>
        <p:spPr>
          <a:xfrm>
            <a:off x="4876800" y="1490008"/>
            <a:ext cx="6096000" cy="1938992"/>
          </a:xfrm>
          <a:prstGeom prst="rect">
            <a:avLst/>
          </a:prstGeom>
          <a:noFill/>
        </p:spPr>
        <p:txBody>
          <a:bodyPr wrap="square">
            <a:spAutoFit/>
          </a:bodyPr>
          <a:lstStyle/>
          <a:p>
            <a:pPr marL="0" indent="0">
              <a:buNone/>
            </a:pPr>
            <a:r>
              <a:rPr lang="en-AU" sz="1200" dirty="0"/>
              <a:t>&lt;h1&gt;Image Transparency&lt;/h1&gt;</a:t>
            </a:r>
          </a:p>
          <a:p>
            <a:pPr marL="0" indent="0">
              <a:buNone/>
            </a:pPr>
            <a:r>
              <a:rPr lang="en-AU" sz="1200" dirty="0"/>
              <a:t>&lt;p&gt;The opacity property is often used together with the :hover selector to change the opacity on mouse-over:&lt;/p&gt;</a:t>
            </a:r>
          </a:p>
          <a:p>
            <a:pPr marL="0" indent="0">
              <a:buNone/>
            </a:pPr>
            <a:endParaRPr lang="en-AU" sz="1200" dirty="0"/>
          </a:p>
          <a:p>
            <a:pPr marL="0" indent="0">
              <a:buNone/>
            </a:pPr>
            <a:r>
              <a:rPr lang="en-AU" sz="1200" dirty="0"/>
              <a:t>&lt;</a:t>
            </a:r>
            <a:r>
              <a:rPr lang="en-AU" sz="1200" dirty="0" err="1"/>
              <a:t>img</a:t>
            </a:r>
            <a:r>
              <a:rPr lang="en-AU" sz="1200" dirty="0"/>
              <a:t> </a:t>
            </a:r>
            <a:r>
              <a:rPr lang="en-AU" sz="1200" dirty="0" err="1"/>
              <a:t>src</a:t>
            </a:r>
            <a:r>
              <a:rPr lang="en-AU" sz="1200" dirty="0"/>
              <a:t>="Aus-kangaroo.jpg" alt="Kangaroo" width="170" height="100"&gt;</a:t>
            </a:r>
          </a:p>
          <a:p>
            <a:pPr marL="0" indent="0">
              <a:buNone/>
            </a:pPr>
            <a:r>
              <a:rPr lang="en-AU" sz="1200" dirty="0"/>
              <a:t>&lt;</a:t>
            </a:r>
            <a:r>
              <a:rPr lang="en-AU" sz="1200" dirty="0" err="1"/>
              <a:t>img</a:t>
            </a:r>
            <a:r>
              <a:rPr lang="en-AU" sz="1200" dirty="0"/>
              <a:t> </a:t>
            </a:r>
            <a:r>
              <a:rPr lang="en-AU" sz="1200" dirty="0" err="1"/>
              <a:t>src</a:t>
            </a:r>
            <a:r>
              <a:rPr lang="en-AU" sz="1200" dirty="0"/>
              <a:t>="Aus-Koala.jpg" alt="Koala" width="170" height="100"&gt;</a:t>
            </a:r>
          </a:p>
          <a:p>
            <a:pPr marL="0" indent="0">
              <a:buNone/>
            </a:pPr>
            <a:r>
              <a:rPr lang="en-AU" sz="1200" dirty="0"/>
              <a:t>&lt;</a:t>
            </a:r>
            <a:r>
              <a:rPr lang="en-AU" sz="1200" dirty="0" err="1"/>
              <a:t>img</a:t>
            </a:r>
            <a:r>
              <a:rPr lang="en-AU" sz="1200" dirty="0"/>
              <a:t> </a:t>
            </a:r>
            <a:r>
              <a:rPr lang="en-AU" sz="1200" dirty="0" err="1"/>
              <a:t>src</a:t>
            </a:r>
            <a:r>
              <a:rPr lang="en-AU" sz="1200" dirty="0"/>
              <a:t>="Aus-Uluru.jpg" alt="Uluru" width="170" height="100"&gt;</a:t>
            </a:r>
          </a:p>
          <a:p>
            <a:pPr marL="0" indent="0">
              <a:buNone/>
            </a:pPr>
            <a:endParaRPr lang="en-AU" sz="1200" dirty="0"/>
          </a:p>
          <a:p>
            <a:pPr marL="0" indent="0">
              <a:buNone/>
            </a:pPr>
            <a:r>
              <a:rPr lang="en-AU" sz="1200" dirty="0"/>
              <a:t>&lt;/body&gt;</a:t>
            </a:r>
          </a:p>
          <a:p>
            <a:pPr marL="0" indent="0">
              <a:buNone/>
            </a:pPr>
            <a:r>
              <a:rPr lang="en-AU" sz="1200" dirty="0"/>
              <a:t>&lt;/html&gt;</a:t>
            </a:r>
          </a:p>
        </p:txBody>
      </p:sp>
      <p:sp>
        <p:nvSpPr>
          <p:cNvPr id="6" name="TextBox 5">
            <a:extLst>
              <a:ext uri="{FF2B5EF4-FFF2-40B4-BE49-F238E27FC236}">
                <a16:creationId xmlns:a16="http://schemas.microsoft.com/office/drawing/2014/main" id="{0AD6F715-058A-43F2-A92B-828EE739E019}"/>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180984406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5365D-CD4D-43EA-B00F-F3ECF781C75C}"/>
              </a:ext>
            </a:extLst>
          </p:cNvPr>
          <p:cNvSpPr>
            <a:spLocks noGrp="1"/>
          </p:cNvSpPr>
          <p:nvPr>
            <p:ph type="title"/>
          </p:nvPr>
        </p:nvSpPr>
        <p:spPr>
          <a:xfrm>
            <a:off x="511628" y="158297"/>
            <a:ext cx="10515600" cy="766989"/>
          </a:xfrm>
        </p:spPr>
        <p:txBody>
          <a:bodyPr/>
          <a:lstStyle/>
          <a:p>
            <a:r>
              <a:rPr lang="en-AU" sz="4000" dirty="0">
                <a:solidFill>
                  <a:schemeClr val="accent2">
                    <a:lumMod val="50000"/>
                  </a:schemeClr>
                </a:solidFill>
              </a:rPr>
              <a:t>CSS Gradients</a:t>
            </a:r>
          </a:p>
        </p:txBody>
      </p:sp>
      <p:sp>
        <p:nvSpPr>
          <p:cNvPr id="3" name="Content Placeholder 2">
            <a:extLst>
              <a:ext uri="{FF2B5EF4-FFF2-40B4-BE49-F238E27FC236}">
                <a16:creationId xmlns:a16="http://schemas.microsoft.com/office/drawing/2014/main" id="{2A6F3575-598C-4EAC-A666-23BCCFE252EE}"/>
              </a:ext>
            </a:extLst>
          </p:cNvPr>
          <p:cNvSpPr>
            <a:spLocks noGrp="1"/>
          </p:cNvSpPr>
          <p:nvPr>
            <p:ph idx="1"/>
          </p:nvPr>
        </p:nvSpPr>
        <p:spPr>
          <a:xfrm>
            <a:off x="435428" y="1143521"/>
            <a:ext cx="11593286" cy="4321613"/>
          </a:xfrm>
        </p:spPr>
        <p:txBody>
          <a:bodyPr>
            <a:noAutofit/>
          </a:bodyPr>
          <a:lstStyle/>
          <a:p>
            <a:r>
              <a:rPr lang="en-US" sz="3200" b="0" i="0" dirty="0">
                <a:solidFill>
                  <a:srgbClr val="000000"/>
                </a:solidFill>
                <a:effectLst/>
              </a:rPr>
              <a:t>CSS gradients let you display smooth transitions between two or more specified colors.</a:t>
            </a:r>
          </a:p>
          <a:p>
            <a:r>
              <a:rPr lang="en-US" sz="3200" dirty="0">
                <a:solidFill>
                  <a:srgbClr val="000000"/>
                </a:solidFill>
              </a:rPr>
              <a:t>Syntax</a:t>
            </a:r>
          </a:p>
          <a:p>
            <a:pPr lvl="1"/>
            <a:r>
              <a:rPr lang="en-US" sz="3200" b="0" i="0" dirty="0">
                <a:effectLst/>
              </a:rPr>
              <a:t>background-image: linear-gradient(</a:t>
            </a:r>
            <a:r>
              <a:rPr lang="en-US" sz="3200" b="0" i="1" dirty="0">
                <a:effectLst/>
              </a:rPr>
              <a:t>direction</a:t>
            </a:r>
            <a:r>
              <a:rPr lang="en-US" sz="3200" b="0" i="0" dirty="0">
                <a:effectLst/>
              </a:rPr>
              <a:t>, </a:t>
            </a:r>
            <a:r>
              <a:rPr lang="en-US" sz="3200" b="0" i="1" dirty="0">
                <a:effectLst/>
              </a:rPr>
              <a:t>color-stop1</a:t>
            </a:r>
            <a:r>
              <a:rPr lang="en-US" sz="3200" b="0" i="0" dirty="0">
                <a:effectLst/>
              </a:rPr>
              <a:t>, </a:t>
            </a:r>
            <a:r>
              <a:rPr lang="en-US" sz="3200" b="0" i="1" dirty="0">
                <a:effectLst/>
              </a:rPr>
              <a:t>color-stop2, ...</a:t>
            </a:r>
            <a:r>
              <a:rPr lang="en-US" sz="3200" b="0" i="0" dirty="0">
                <a:effectLst/>
              </a:rPr>
              <a:t>);</a:t>
            </a:r>
          </a:p>
          <a:p>
            <a:pPr lvl="1"/>
            <a:r>
              <a:rPr lang="en-US" sz="3200" dirty="0"/>
              <a:t>Direction </a:t>
            </a:r>
          </a:p>
          <a:p>
            <a:pPr lvl="2"/>
            <a:r>
              <a:rPr lang="en-US" sz="3200" dirty="0"/>
              <a:t>Top to Bottom (this is default)</a:t>
            </a:r>
          </a:p>
          <a:p>
            <a:pPr lvl="2"/>
            <a:r>
              <a:rPr lang="en-AU" sz="3200" dirty="0"/>
              <a:t>Left to Right</a:t>
            </a:r>
          </a:p>
        </p:txBody>
      </p:sp>
      <p:sp>
        <p:nvSpPr>
          <p:cNvPr id="4" name="TextBox 3">
            <a:extLst>
              <a:ext uri="{FF2B5EF4-FFF2-40B4-BE49-F238E27FC236}">
                <a16:creationId xmlns:a16="http://schemas.microsoft.com/office/drawing/2014/main" id="{6D755D56-F095-4073-B4D1-CB701CC6557D}"/>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257629534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B0765-577B-4021-BFA4-B16A149DF641}"/>
              </a:ext>
            </a:extLst>
          </p:cNvPr>
          <p:cNvSpPr>
            <a:spLocks noGrp="1"/>
          </p:cNvSpPr>
          <p:nvPr>
            <p:ph type="title"/>
          </p:nvPr>
        </p:nvSpPr>
        <p:spPr>
          <a:xfrm>
            <a:off x="838200" y="365125"/>
            <a:ext cx="10515600" cy="614589"/>
          </a:xfrm>
        </p:spPr>
        <p:txBody>
          <a:bodyPr>
            <a:normAutofit fontScale="90000"/>
          </a:bodyPr>
          <a:lstStyle/>
          <a:p>
            <a:r>
              <a:rPr lang="en-AU" sz="4400" dirty="0">
                <a:solidFill>
                  <a:schemeClr val="accent2">
                    <a:lumMod val="50000"/>
                  </a:schemeClr>
                </a:solidFill>
              </a:rPr>
              <a:t>CSS Gradients – Example 1</a:t>
            </a:r>
            <a:endParaRPr lang="en-AU" dirty="0"/>
          </a:p>
        </p:txBody>
      </p:sp>
      <p:sp>
        <p:nvSpPr>
          <p:cNvPr id="3" name="Content Placeholder 2">
            <a:extLst>
              <a:ext uri="{FF2B5EF4-FFF2-40B4-BE49-F238E27FC236}">
                <a16:creationId xmlns:a16="http://schemas.microsoft.com/office/drawing/2014/main" id="{EF3B4E00-824D-4838-8C91-7C1BCC255B96}"/>
              </a:ext>
            </a:extLst>
          </p:cNvPr>
          <p:cNvSpPr>
            <a:spLocks noGrp="1"/>
          </p:cNvSpPr>
          <p:nvPr>
            <p:ph idx="1"/>
          </p:nvPr>
        </p:nvSpPr>
        <p:spPr>
          <a:xfrm>
            <a:off x="3537857" y="1128032"/>
            <a:ext cx="4746172" cy="4601935"/>
          </a:xfrm>
        </p:spPr>
        <p:txBody>
          <a:bodyPr>
            <a:noAutofit/>
          </a:bodyPr>
          <a:lstStyle/>
          <a:p>
            <a:pPr marL="0" indent="0">
              <a:buNone/>
            </a:pPr>
            <a:r>
              <a:rPr lang="en-US" sz="1100" dirty="0"/>
              <a:t>&lt;!DOCTYPE html&gt;</a:t>
            </a:r>
          </a:p>
          <a:p>
            <a:pPr marL="0" indent="0">
              <a:buNone/>
            </a:pPr>
            <a:r>
              <a:rPr lang="en-US" sz="1100" dirty="0"/>
              <a:t>&lt;html&gt;</a:t>
            </a:r>
          </a:p>
          <a:p>
            <a:pPr marL="0" indent="0">
              <a:buNone/>
            </a:pPr>
            <a:r>
              <a:rPr lang="en-US" sz="1100" dirty="0"/>
              <a:t>&lt;head&gt;</a:t>
            </a:r>
          </a:p>
          <a:p>
            <a:pPr marL="0" indent="0">
              <a:buNone/>
            </a:pPr>
            <a:r>
              <a:rPr lang="en-US" sz="1100" dirty="0"/>
              <a:t>&lt;style&gt;</a:t>
            </a:r>
          </a:p>
          <a:p>
            <a:pPr marL="0" indent="0">
              <a:buNone/>
            </a:pPr>
            <a:r>
              <a:rPr lang="en-US" sz="1100" dirty="0"/>
              <a:t>#grad1 {</a:t>
            </a:r>
          </a:p>
          <a:p>
            <a:pPr marL="0" indent="0">
              <a:buNone/>
            </a:pPr>
            <a:r>
              <a:rPr lang="en-US" sz="1100" dirty="0"/>
              <a:t>  height: 200px;</a:t>
            </a:r>
          </a:p>
          <a:p>
            <a:pPr marL="0" indent="0">
              <a:buNone/>
            </a:pPr>
            <a:r>
              <a:rPr lang="en-US" sz="1100" dirty="0"/>
              <a:t>  background-image: linear-gradient(to right, red , yellow);</a:t>
            </a:r>
          </a:p>
          <a:p>
            <a:pPr marL="0" indent="0">
              <a:buNone/>
            </a:pPr>
            <a:r>
              <a:rPr lang="en-US" sz="1100" dirty="0"/>
              <a:t>}</a:t>
            </a:r>
          </a:p>
          <a:p>
            <a:pPr marL="0" indent="0">
              <a:buNone/>
            </a:pPr>
            <a:r>
              <a:rPr lang="en-US" sz="1100" dirty="0"/>
              <a:t>&lt;/style&gt;</a:t>
            </a:r>
          </a:p>
          <a:p>
            <a:pPr marL="0" indent="0">
              <a:buNone/>
            </a:pPr>
            <a:r>
              <a:rPr lang="en-US" sz="1100" dirty="0"/>
              <a:t>&lt;/head&gt;</a:t>
            </a:r>
          </a:p>
          <a:p>
            <a:pPr marL="0" indent="0">
              <a:buNone/>
            </a:pPr>
            <a:r>
              <a:rPr lang="en-US" sz="1100" dirty="0"/>
              <a:t>&lt;body&gt;</a:t>
            </a:r>
          </a:p>
          <a:p>
            <a:pPr marL="0" indent="0">
              <a:buNone/>
            </a:pPr>
            <a:r>
              <a:rPr lang="en-US" sz="1100" dirty="0"/>
              <a:t>&lt;h1&gt;Linear Gradient - Left to Right&lt;/h1&gt;</a:t>
            </a:r>
          </a:p>
          <a:p>
            <a:pPr marL="0" indent="0">
              <a:buNone/>
            </a:pPr>
            <a:r>
              <a:rPr lang="en-US" sz="1100" dirty="0"/>
              <a:t>&lt;p&gt;This linear gradient starts red at the left, transitioning to yellow (to the right):&lt;/p&gt;</a:t>
            </a:r>
          </a:p>
          <a:p>
            <a:pPr marL="0" indent="0">
              <a:buNone/>
            </a:pPr>
            <a:r>
              <a:rPr lang="en-US" sz="1100" dirty="0"/>
              <a:t>&lt;div id="grad1"&gt;&lt;/div&gt;</a:t>
            </a:r>
          </a:p>
          <a:p>
            <a:pPr marL="0" indent="0">
              <a:buNone/>
            </a:pPr>
            <a:r>
              <a:rPr lang="en-US" sz="1100" dirty="0"/>
              <a:t>&lt;/body&gt;</a:t>
            </a:r>
          </a:p>
          <a:p>
            <a:pPr marL="0" indent="0">
              <a:buNone/>
            </a:pPr>
            <a:r>
              <a:rPr lang="en-US" sz="1100" dirty="0"/>
              <a:t>&lt;/html&gt;</a:t>
            </a:r>
          </a:p>
          <a:p>
            <a:pPr marL="0" indent="0">
              <a:buNone/>
            </a:pPr>
            <a:endParaRPr lang="en-AU" sz="1100" dirty="0"/>
          </a:p>
        </p:txBody>
      </p:sp>
      <p:sp>
        <p:nvSpPr>
          <p:cNvPr id="4" name="TextBox 3">
            <a:extLst>
              <a:ext uri="{FF2B5EF4-FFF2-40B4-BE49-F238E27FC236}">
                <a16:creationId xmlns:a16="http://schemas.microsoft.com/office/drawing/2014/main" id="{29E1B98C-C30F-4AA5-A3A9-2ED649AB1835}"/>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49942906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B0765-577B-4021-BFA4-B16A149DF641}"/>
              </a:ext>
            </a:extLst>
          </p:cNvPr>
          <p:cNvSpPr>
            <a:spLocks noGrp="1"/>
          </p:cNvSpPr>
          <p:nvPr>
            <p:ph type="title"/>
          </p:nvPr>
        </p:nvSpPr>
        <p:spPr>
          <a:xfrm>
            <a:off x="838200" y="365125"/>
            <a:ext cx="10515600" cy="614589"/>
          </a:xfrm>
        </p:spPr>
        <p:txBody>
          <a:bodyPr>
            <a:normAutofit fontScale="90000"/>
          </a:bodyPr>
          <a:lstStyle/>
          <a:p>
            <a:r>
              <a:rPr lang="en-AU" sz="4400" dirty="0">
                <a:solidFill>
                  <a:schemeClr val="accent2">
                    <a:lumMod val="50000"/>
                  </a:schemeClr>
                </a:solidFill>
              </a:rPr>
              <a:t>CSS Gradients – Example 2</a:t>
            </a:r>
            <a:endParaRPr lang="en-AU" dirty="0"/>
          </a:p>
        </p:txBody>
      </p:sp>
      <p:sp>
        <p:nvSpPr>
          <p:cNvPr id="3" name="Content Placeholder 2">
            <a:extLst>
              <a:ext uri="{FF2B5EF4-FFF2-40B4-BE49-F238E27FC236}">
                <a16:creationId xmlns:a16="http://schemas.microsoft.com/office/drawing/2014/main" id="{EF3B4E00-824D-4838-8C91-7C1BCC255B96}"/>
              </a:ext>
            </a:extLst>
          </p:cNvPr>
          <p:cNvSpPr>
            <a:spLocks noGrp="1"/>
          </p:cNvSpPr>
          <p:nvPr>
            <p:ph idx="1"/>
          </p:nvPr>
        </p:nvSpPr>
        <p:spPr>
          <a:xfrm>
            <a:off x="4288971" y="1128032"/>
            <a:ext cx="4746172" cy="4601935"/>
          </a:xfrm>
        </p:spPr>
        <p:txBody>
          <a:bodyPr>
            <a:noAutofit/>
          </a:bodyPr>
          <a:lstStyle/>
          <a:p>
            <a:pPr marL="0" indent="0">
              <a:buNone/>
            </a:pPr>
            <a:r>
              <a:rPr lang="en-US" sz="1050" dirty="0"/>
              <a:t>&lt;!DOCTYPE html&gt;</a:t>
            </a:r>
          </a:p>
          <a:p>
            <a:pPr marL="0" indent="0">
              <a:buNone/>
            </a:pPr>
            <a:r>
              <a:rPr lang="en-US" sz="1050" dirty="0"/>
              <a:t>&lt;html&gt;</a:t>
            </a:r>
          </a:p>
          <a:p>
            <a:pPr marL="0" indent="0">
              <a:buNone/>
            </a:pPr>
            <a:r>
              <a:rPr lang="en-US" sz="1050" dirty="0"/>
              <a:t>&lt;head&gt;</a:t>
            </a:r>
          </a:p>
          <a:p>
            <a:pPr marL="0" indent="0">
              <a:buNone/>
            </a:pPr>
            <a:r>
              <a:rPr lang="en-US" sz="1050" dirty="0"/>
              <a:t>&lt;style&gt;</a:t>
            </a:r>
          </a:p>
          <a:p>
            <a:pPr marL="0" indent="0">
              <a:buNone/>
            </a:pPr>
            <a:r>
              <a:rPr lang="en-US" sz="1050" dirty="0"/>
              <a:t>#grad1 {</a:t>
            </a:r>
          </a:p>
          <a:p>
            <a:pPr marL="0" indent="0">
              <a:buNone/>
            </a:pPr>
            <a:r>
              <a:rPr lang="en-US" sz="1050" dirty="0"/>
              <a:t>  height: 200px;</a:t>
            </a:r>
          </a:p>
          <a:p>
            <a:pPr marL="0" indent="0">
              <a:buNone/>
            </a:pPr>
            <a:r>
              <a:rPr lang="en-US" sz="1050" dirty="0"/>
              <a:t>  background-image: linear-gradient(to bottom right, red, yellow);</a:t>
            </a:r>
          </a:p>
          <a:p>
            <a:pPr marL="0" indent="0">
              <a:buNone/>
            </a:pPr>
            <a:r>
              <a:rPr lang="en-US" sz="1050" dirty="0"/>
              <a:t>}</a:t>
            </a:r>
          </a:p>
          <a:p>
            <a:pPr marL="0" indent="0">
              <a:buNone/>
            </a:pPr>
            <a:r>
              <a:rPr lang="en-US" sz="1050" dirty="0"/>
              <a:t>&lt;/style&gt;</a:t>
            </a:r>
          </a:p>
          <a:p>
            <a:pPr marL="0" indent="0">
              <a:buNone/>
            </a:pPr>
            <a:r>
              <a:rPr lang="en-US" sz="1050" dirty="0"/>
              <a:t>&lt;/head&gt;</a:t>
            </a:r>
          </a:p>
          <a:p>
            <a:pPr marL="0" indent="0">
              <a:buNone/>
            </a:pPr>
            <a:r>
              <a:rPr lang="en-US" sz="1050" dirty="0"/>
              <a:t>&lt;body&gt;</a:t>
            </a:r>
          </a:p>
          <a:p>
            <a:pPr marL="0" indent="0">
              <a:buNone/>
            </a:pPr>
            <a:r>
              <a:rPr lang="en-US" sz="1050" dirty="0"/>
              <a:t>&lt;h1&gt;Linear Gradient - Diagonal&lt;/h1&gt;</a:t>
            </a:r>
          </a:p>
          <a:p>
            <a:pPr marL="0" indent="0">
              <a:buNone/>
            </a:pPr>
            <a:r>
              <a:rPr lang="en-US" sz="1050" dirty="0"/>
              <a:t>&lt;p&gt;This linear gradient starts red at top left, transitioning to yellow (at bottom right):&lt;/p&gt;</a:t>
            </a:r>
          </a:p>
          <a:p>
            <a:pPr marL="0" indent="0">
              <a:buNone/>
            </a:pPr>
            <a:r>
              <a:rPr lang="en-US" sz="1050" dirty="0"/>
              <a:t>&lt;div id="grad1"&gt;&lt;/div&gt;</a:t>
            </a:r>
          </a:p>
          <a:p>
            <a:pPr marL="0" indent="0">
              <a:buNone/>
            </a:pPr>
            <a:r>
              <a:rPr lang="en-US" sz="1050" dirty="0"/>
              <a:t>&lt;/body&gt;</a:t>
            </a:r>
          </a:p>
          <a:p>
            <a:pPr marL="0" indent="0">
              <a:buNone/>
            </a:pPr>
            <a:r>
              <a:rPr lang="en-US" sz="1050" dirty="0"/>
              <a:t>&lt;/html&gt;</a:t>
            </a:r>
          </a:p>
        </p:txBody>
      </p:sp>
      <p:sp>
        <p:nvSpPr>
          <p:cNvPr id="4" name="TextBox 3">
            <a:extLst>
              <a:ext uri="{FF2B5EF4-FFF2-40B4-BE49-F238E27FC236}">
                <a16:creationId xmlns:a16="http://schemas.microsoft.com/office/drawing/2014/main" id="{607BEBDF-07A3-411A-B555-7DAEA0C84ADF}"/>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120169317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99BD1-9205-45E4-9E77-F4A4D32FBDF5}"/>
              </a:ext>
            </a:extLst>
          </p:cNvPr>
          <p:cNvSpPr>
            <a:spLocks noGrp="1"/>
          </p:cNvSpPr>
          <p:nvPr>
            <p:ph type="title"/>
          </p:nvPr>
        </p:nvSpPr>
        <p:spPr>
          <a:xfrm>
            <a:off x="489857" y="180069"/>
            <a:ext cx="10515600" cy="581931"/>
          </a:xfrm>
        </p:spPr>
        <p:txBody>
          <a:bodyPr>
            <a:normAutofit fontScale="90000"/>
          </a:bodyPr>
          <a:lstStyle/>
          <a:p>
            <a:r>
              <a:rPr lang="en-AU" sz="4400" dirty="0">
                <a:solidFill>
                  <a:schemeClr val="accent2">
                    <a:lumMod val="50000"/>
                  </a:schemeClr>
                </a:solidFill>
              </a:rPr>
              <a:t>CSS Gradients – Example 3</a:t>
            </a:r>
            <a:endParaRPr lang="en-AU" dirty="0"/>
          </a:p>
        </p:txBody>
      </p:sp>
      <p:sp>
        <p:nvSpPr>
          <p:cNvPr id="3" name="Content Placeholder 2">
            <a:extLst>
              <a:ext uri="{FF2B5EF4-FFF2-40B4-BE49-F238E27FC236}">
                <a16:creationId xmlns:a16="http://schemas.microsoft.com/office/drawing/2014/main" id="{1C352BCB-D3F7-4FAB-B8B0-6A20F21D2041}"/>
              </a:ext>
            </a:extLst>
          </p:cNvPr>
          <p:cNvSpPr>
            <a:spLocks noGrp="1"/>
          </p:cNvSpPr>
          <p:nvPr>
            <p:ph idx="1"/>
          </p:nvPr>
        </p:nvSpPr>
        <p:spPr>
          <a:xfrm>
            <a:off x="3156857" y="903513"/>
            <a:ext cx="5878286" cy="4767943"/>
          </a:xfrm>
        </p:spPr>
        <p:txBody>
          <a:bodyPr>
            <a:noAutofit/>
          </a:bodyPr>
          <a:lstStyle/>
          <a:p>
            <a:pPr marL="0" indent="0">
              <a:buNone/>
            </a:pPr>
            <a:r>
              <a:rPr lang="en-AU" sz="1200" dirty="0"/>
              <a:t>&lt;!DOCTYPE html&gt;</a:t>
            </a:r>
          </a:p>
          <a:p>
            <a:pPr marL="0" indent="0">
              <a:buNone/>
            </a:pPr>
            <a:r>
              <a:rPr lang="en-AU" sz="1200" dirty="0"/>
              <a:t>&lt;html&gt;</a:t>
            </a:r>
          </a:p>
          <a:p>
            <a:pPr marL="0" indent="0">
              <a:buNone/>
            </a:pPr>
            <a:r>
              <a:rPr lang="en-AU" sz="1200" dirty="0"/>
              <a:t>&lt;head&gt;</a:t>
            </a:r>
          </a:p>
          <a:p>
            <a:pPr marL="0" indent="0">
              <a:buNone/>
            </a:pPr>
            <a:r>
              <a:rPr lang="en-AU" sz="1200" dirty="0"/>
              <a:t>&lt;style&gt;</a:t>
            </a:r>
          </a:p>
          <a:p>
            <a:pPr marL="0" indent="0">
              <a:buNone/>
            </a:pPr>
            <a:r>
              <a:rPr lang="en-AU" sz="1200" dirty="0"/>
              <a:t>#grad1 {</a:t>
            </a:r>
          </a:p>
          <a:p>
            <a:pPr marL="0" indent="0">
              <a:buNone/>
            </a:pPr>
            <a:r>
              <a:rPr lang="en-AU" sz="1200" dirty="0"/>
              <a:t>  height: 55px;</a:t>
            </a:r>
          </a:p>
          <a:p>
            <a:pPr marL="0" indent="0">
              <a:buNone/>
            </a:pPr>
            <a:r>
              <a:rPr lang="en-AU" sz="1200" dirty="0"/>
              <a:t>  background-image: linear-gradient(to right, red, orange, yellow, green, blue, indigo, violet);</a:t>
            </a:r>
          </a:p>
          <a:p>
            <a:pPr marL="0" indent="0">
              <a:buNone/>
            </a:pPr>
            <a:r>
              <a:rPr lang="en-AU" sz="1200" dirty="0"/>
              <a:t>}&lt;/style&gt;</a:t>
            </a:r>
          </a:p>
          <a:p>
            <a:pPr marL="0" indent="0">
              <a:buNone/>
            </a:pPr>
            <a:r>
              <a:rPr lang="en-AU" sz="1200" dirty="0"/>
              <a:t>&lt;/head&gt;</a:t>
            </a:r>
          </a:p>
          <a:p>
            <a:pPr marL="0" indent="0">
              <a:buNone/>
            </a:pPr>
            <a:r>
              <a:rPr lang="en-AU" sz="1200" dirty="0"/>
              <a:t>&lt;body&gt;</a:t>
            </a:r>
          </a:p>
          <a:p>
            <a:pPr marL="0" indent="0">
              <a:buNone/>
            </a:pPr>
            <a:r>
              <a:rPr lang="en-AU" sz="1200" dirty="0"/>
              <a:t>&lt;div id="grad1" style="text-align:center;margin:auto;color:Grey;font-size:40px;font-weight:bold"&gt;</a:t>
            </a:r>
          </a:p>
          <a:p>
            <a:pPr marL="0" indent="0">
              <a:buNone/>
            </a:pPr>
            <a:r>
              <a:rPr lang="en-AU" sz="1200" dirty="0"/>
              <a:t>Rainbow Background</a:t>
            </a:r>
          </a:p>
          <a:p>
            <a:pPr marL="0" indent="0">
              <a:buNone/>
            </a:pPr>
            <a:r>
              <a:rPr lang="en-AU" sz="1200" dirty="0"/>
              <a:t>&lt;/div&gt;</a:t>
            </a:r>
          </a:p>
          <a:p>
            <a:pPr marL="0" indent="0">
              <a:buNone/>
            </a:pPr>
            <a:r>
              <a:rPr lang="en-AU" sz="1200" dirty="0"/>
              <a:t>&lt;/body&gt;</a:t>
            </a:r>
          </a:p>
          <a:p>
            <a:pPr marL="0" indent="0">
              <a:buNone/>
            </a:pPr>
            <a:r>
              <a:rPr lang="en-AU" sz="1200" dirty="0"/>
              <a:t>&lt;/html&gt;</a:t>
            </a:r>
          </a:p>
          <a:p>
            <a:pPr marL="0" indent="0">
              <a:buNone/>
            </a:pPr>
            <a:endParaRPr lang="en-AU" sz="1200" dirty="0"/>
          </a:p>
        </p:txBody>
      </p:sp>
      <p:sp>
        <p:nvSpPr>
          <p:cNvPr id="4" name="TextBox 3">
            <a:extLst>
              <a:ext uri="{FF2B5EF4-FFF2-40B4-BE49-F238E27FC236}">
                <a16:creationId xmlns:a16="http://schemas.microsoft.com/office/drawing/2014/main" id="{33F6694E-233D-4A6D-8D51-978C78508876}"/>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257212463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15035-200A-4104-B677-04A497CA8EB0}"/>
              </a:ext>
            </a:extLst>
          </p:cNvPr>
          <p:cNvSpPr>
            <a:spLocks noGrp="1"/>
          </p:cNvSpPr>
          <p:nvPr>
            <p:ph type="title"/>
          </p:nvPr>
        </p:nvSpPr>
        <p:spPr>
          <a:xfrm>
            <a:off x="349102" y="141841"/>
            <a:ext cx="10515600" cy="591805"/>
          </a:xfrm>
        </p:spPr>
        <p:txBody>
          <a:bodyPr>
            <a:normAutofit fontScale="90000"/>
          </a:bodyPr>
          <a:lstStyle/>
          <a:p>
            <a:r>
              <a:rPr lang="en-AU" sz="4000" dirty="0">
                <a:solidFill>
                  <a:schemeClr val="accent2">
                    <a:lumMod val="50000"/>
                  </a:schemeClr>
                </a:solidFill>
              </a:rPr>
              <a:t>Website Layout</a:t>
            </a:r>
          </a:p>
        </p:txBody>
      </p:sp>
      <p:sp>
        <p:nvSpPr>
          <p:cNvPr id="3" name="Content Placeholder 2">
            <a:extLst>
              <a:ext uri="{FF2B5EF4-FFF2-40B4-BE49-F238E27FC236}">
                <a16:creationId xmlns:a16="http://schemas.microsoft.com/office/drawing/2014/main" id="{6CE4114B-E335-496E-9B6B-5C49816652DC}"/>
              </a:ext>
            </a:extLst>
          </p:cNvPr>
          <p:cNvSpPr>
            <a:spLocks noGrp="1"/>
          </p:cNvSpPr>
          <p:nvPr>
            <p:ph idx="1"/>
          </p:nvPr>
        </p:nvSpPr>
        <p:spPr>
          <a:xfrm>
            <a:off x="349102" y="882945"/>
            <a:ext cx="10515600" cy="4699147"/>
          </a:xfrm>
        </p:spPr>
        <p:txBody>
          <a:bodyPr/>
          <a:lstStyle/>
          <a:p>
            <a:pPr algn="l"/>
            <a:r>
              <a:rPr lang="en-US" b="0" i="0" dirty="0">
                <a:solidFill>
                  <a:srgbClr val="000000"/>
                </a:solidFill>
                <a:effectLst/>
              </a:rPr>
              <a:t>A website is often divided into headers, menus, content and a footer</a:t>
            </a:r>
          </a:p>
          <a:p>
            <a:pPr algn="l"/>
            <a:endParaRPr lang="en-US" b="0" i="0" dirty="0">
              <a:solidFill>
                <a:srgbClr val="000000"/>
              </a:solidFill>
              <a:effectLst/>
            </a:endParaRPr>
          </a:p>
          <a:p>
            <a:pPr marL="0" indent="0">
              <a:buNone/>
            </a:pPr>
            <a:br>
              <a:rPr lang="en-US" dirty="0"/>
            </a:br>
            <a:endParaRPr lang="en-AU" dirty="0"/>
          </a:p>
        </p:txBody>
      </p:sp>
      <p:pic>
        <p:nvPicPr>
          <p:cNvPr id="5" name="Picture 4">
            <a:extLst>
              <a:ext uri="{FF2B5EF4-FFF2-40B4-BE49-F238E27FC236}">
                <a16:creationId xmlns:a16="http://schemas.microsoft.com/office/drawing/2014/main" id="{FC8CB157-EF06-44AD-BCFA-88D8C17F263F}"/>
              </a:ext>
            </a:extLst>
          </p:cNvPr>
          <p:cNvPicPr>
            <a:picLocks noChangeAspect="1"/>
          </p:cNvPicPr>
          <p:nvPr/>
        </p:nvPicPr>
        <p:blipFill>
          <a:blip r:embed="rId3"/>
          <a:stretch>
            <a:fillRect/>
          </a:stretch>
        </p:blipFill>
        <p:spPr>
          <a:xfrm>
            <a:off x="1440899" y="1619804"/>
            <a:ext cx="8332006" cy="3618392"/>
          </a:xfrm>
          <a:prstGeom prst="rect">
            <a:avLst/>
          </a:prstGeom>
        </p:spPr>
      </p:pic>
      <p:sp>
        <p:nvSpPr>
          <p:cNvPr id="6" name="TextBox 5">
            <a:extLst>
              <a:ext uri="{FF2B5EF4-FFF2-40B4-BE49-F238E27FC236}">
                <a16:creationId xmlns:a16="http://schemas.microsoft.com/office/drawing/2014/main" id="{6847FEAC-9DD0-4675-94DB-9AE176F2870B}"/>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67427126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907EF-2D70-4756-89D4-7F064BA764DF}"/>
              </a:ext>
            </a:extLst>
          </p:cNvPr>
          <p:cNvSpPr>
            <a:spLocks noGrp="1"/>
          </p:cNvSpPr>
          <p:nvPr>
            <p:ph type="title"/>
          </p:nvPr>
        </p:nvSpPr>
        <p:spPr>
          <a:xfrm>
            <a:off x="994143" y="482083"/>
            <a:ext cx="10515600" cy="432317"/>
          </a:xfrm>
        </p:spPr>
        <p:txBody>
          <a:bodyPr>
            <a:normAutofit fontScale="90000"/>
          </a:bodyPr>
          <a:lstStyle/>
          <a:p>
            <a:r>
              <a:rPr lang="en-AU" sz="4400" dirty="0">
                <a:solidFill>
                  <a:schemeClr val="accent2">
                    <a:lumMod val="50000"/>
                  </a:schemeClr>
                </a:solidFill>
              </a:rPr>
              <a:t>Website Layout  - Example  (1 of 2)</a:t>
            </a:r>
            <a:endParaRPr lang="en-AU" dirty="0"/>
          </a:p>
        </p:txBody>
      </p:sp>
      <p:sp>
        <p:nvSpPr>
          <p:cNvPr id="3" name="Content Placeholder 2">
            <a:extLst>
              <a:ext uri="{FF2B5EF4-FFF2-40B4-BE49-F238E27FC236}">
                <a16:creationId xmlns:a16="http://schemas.microsoft.com/office/drawing/2014/main" id="{972FFC4C-26CF-426C-AA62-151CFE6C4949}"/>
              </a:ext>
            </a:extLst>
          </p:cNvPr>
          <p:cNvSpPr>
            <a:spLocks noGrp="1"/>
          </p:cNvSpPr>
          <p:nvPr>
            <p:ph idx="1"/>
          </p:nvPr>
        </p:nvSpPr>
        <p:spPr>
          <a:xfrm>
            <a:off x="349101" y="1357793"/>
            <a:ext cx="4520609" cy="3808956"/>
          </a:xfrm>
        </p:spPr>
        <p:txBody>
          <a:bodyPr>
            <a:noAutofit/>
          </a:bodyPr>
          <a:lstStyle/>
          <a:p>
            <a:pPr marL="0" indent="0">
              <a:buNone/>
            </a:pPr>
            <a:r>
              <a:rPr lang="en-AU" sz="1200" dirty="0"/>
              <a:t>&lt;!DOCTYPE html&gt; </a:t>
            </a:r>
          </a:p>
          <a:p>
            <a:pPr marL="0" indent="0">
              <a:buNone/>
            </a:pPr>
            <a:r>
              <a:rPr lang="en-AU" sz="1200" dirty="0"/>
              <a:t>&lt;html&gt; </a:t>
            </a:r>
          </a:p>
          <a:p>
            <a:pPr marL="0" indent="0">
              <a:buNone/>
            </a:pPr>
            <a:r>
              <a:rPr lang="en-AU" sz="1200" dirty="0"/>
              <a:t>&lt;head&gt; </a:t>
            </a:r>
          </a:p>
          <a:p>
            <a:pPr marL="0" indent="0">
              <a:buNone/>
            </a:pPr>
            <a:r>
              <a:rPr lang="en-AU" sz="1200" dirty="0"/>
              <a:t>&lt;title&gt; </a:t>
            </a:r>
          </a:p>
          <a:p>
            <a:pPr marL="0" indent="0">
              <a:buNone/>
            </a:pPr>
            <a:r>
              <a:rPr lang="en-AU" sz="1200" dirty="0"/>
              <a:t>Website Layout </a:t>
            </a:r>
          </a:p>
          <a:p>
            <a:pPr marL="0" indent="0">
              <a:buNone/>
            </a:pPr>
            <a:r>
              <a:rPr lang="en-AU" sz="1200" dirty="0"/>
              <a:t>&lt;/title&gt; </a:t>
            </a:r>
          </a:p>
          <a:p>
            <a:pPr marL="0" indent="0">
              <a:buNone/>
            </a:pPr>
            <a:r>
              <a:rPr lang="en-AU" sz="1200" dirty="0"/>
              <a:t>&lt;style&gt; </a:t>
            </a:r>
          </a:p>
          <a:p>
            <a:pPr marL="0" indent="0">
              <a:buNone/>
            </a:pPr>
            <a:r>
              <a:rPr lang="en-AU" sz="1200" dirty="0"/>
              <a:t>* { </a:t>
            </a:r>
          </a:p>
          <a:p>
            <a:pPr marL="0" indent="0">
              <a:buNone/>
            </a:pPr>
            <a:r>
              <a:rPr lang="en-AU" sz="1200" dirty="0"/>
              <a:t>box-sizing: border-box; } </a:t>
            </a:r>
          </a:p>
          <a:p>
            <a:pPr marL="0" indent="0">
              <a:buNone/>
            </a:pPr>
            <a:r>
              <a:rPr lang="en-AU" sz="1200" dirty="0"/>
              <a:t>/* CSS property for header section */ </a:t>
            </a:r>
          </a:p>
          <a:p>
            <a:pPr marL="0" indent="0">
              <a:buNone/>
            </a:pPr>
            <a:r>
              <a:rPr lang="en-AU" sz="1200" dirty="0"/>
              <a:t>.header { </a:t>
            </a:r>
          </a:p>
          <a:p>
            <a:pPr marL="0" indent="0">
              <a:buNone/>
            </a:pPr>
            <a:r>
              <a:rPr lang="en-AU" sz="1200" dirty="0"/>
              <a:t>background-</a:t>
            </a:r>
            <a:r>
              <a:rPr lang="en-AU" sz="1200" dirty="0" err="1"/>
              <a:t>color</a:t>
            </a:r>
            <a:r>
              <a:rPr lang="en-AU" sz="1200" dirty="0"/>
              <a:t>: green; padding: 15px; text-align: </a:t>
            </a:r>
            <a:r>
              <a:rPr lang="en-AU" sz="1200" dirty="0" err="1"/>
              <a:t>center</a:t>
            </a:r>
            <a:r>
              <a:rPr lang="en-AU" sz="1200" dirty="0"/>
              <a:t>; } </a:t>
            </a:r>
          </a:p>
          <a:p>
            <a:pPr marL="0" indent="0">
              <a:buNone/>
            </a:pPr>
            <a:r>
              <a:rPr lang="en-AU" sz="1200" dirty="0"/>
              <a:t>			</a:t>
            </a:r>
          </a:p>
          <a:p>
            <a:pPr marL="0" indent="0">
              <a:buNone/>
            </a:pPr>
            <a:r>
              <a:rPr lang="en-AU" sz="1200" dirty="0"/>
              <a:t>			</a:t>
            </a:r>
          </a:p>
        </p:txBody>
      </p:sp>
      <p:sp>
        <p:nvSpPr>
          <p:cNvPr id="5" name="TextBox 4">
            <a:extLst>
              <a:ext uri="{FF2B5EF4-FFF2-40B4-BE49-F238E27FC236}">
                <a16:creationId xmlns:a16="http://schemas.microsoft.com/office/drawing/2014/main" id="{14F4227C-D4BB-4F4E-A521-7D18799B01EE}"/>
              </a:ext>
            </a:extLst>
          </p:cNvPr>
          <p:cNvSpPr txBox="1"/>
          <p:nvPr/>
        </p:nvSpPr>
        <p:spPr>
          <a:xfrm>
            <a:off x="6251943" y="1520785"/>
            <a:ext cx="4699591" cy="3985706"/>
          </a:xfrm>
          <a:prstGeom prst="rect">
            <a:avLst/>
          </a:prstGeom>
          <a:noFill/>
        </p:spPr>
        <p:txBody>
          <a:bodyPr wrap="square">
            <a:spAutoFit/>
          </a:bodyPr>
          <a:lstStyle/>
          <a:p>
            <a:pPr marL="0" indent="0">
              <a:buNone/>
            </a:pPr>
            <a:r>
              <a:rPr lang="en-AU" sz="1100" dirty="0"/>
              <a:t>/* CSS property for </a:t>
            </a:r>
            <a:r>
              <a:rPr lang="en-AU" sz="1100" dirty="0" err="1"/>
              <a:t>nevigation</a:t>
            </a:r>
            <a:r>
              <a:rPr lang="en-AU" sz="1100" dirty="0"/>
              <a:t> menu */ </a:t>
            </a:r>
          </a:p>
          <a:p>
            <a:pPr marL="0" indent="0">
              <a:buNone/>
            </a:pPr>
            <a:r>
              <a:rPr lang="en-AU" sz="1100" dirty="0"/>
              <a:t>.</a:t>
            </a:r>
            <a:r>
              <a:rPr lang="en-AU" sz="1100" dirty="0" err="1"/>
              <a:t>nav_menu</a:t>
            </a:r>
            <a:r>
              <a:rPr lang="en-AU" sz="1100" dirty="0"/>
              <a:t> { </a:t>
            </a:r>
          </a:p>
          <a:p>
            <a:pPr marL="0" indent="0">
              <a:buNone/>
            </a:pPr>
            <a:r>
              <a:rPr lang="en-AU" sz="1100" dirty="0"/>
              <a:t>padding: 30px; background-</a:t>
            </a:r>
            <a:r>
              <a:rPr lang="en-AU" sz="1100" dirty="0" err="1"/>
              <a:t>color</a:t>
            </a:r>
            <a:r>
              <a:rPr lang="en-AU" sz="1100" dirty="0"/>
              <a:t>: black;} </a:t>
            </a:r>
          </a:p>
          <a:p>
            <a:pPr marL="0" indent="0">
              <a:buNone/>
            </a:pPr>
            <a:r>
              <a:rPr lang="en-AU" sz="1100" dirty="0"/>
              <a:t>.</a:t>
            </a:r>
            <a:r>
              <a:rPr lang="en-AU" sz="1100" dirty="0" err="1"/>
              <a:t>nav_menu</a:t>
            </a:r>
            <a:r>
              <a:rPr lang="en-AU" sz="1100" dirty="0"/>
              <a:t> a { display: inline; </a:t>
            </a:r>
            <a:r>
              <a:rPr lang="en-AU" sz="1100" dirty="0" err="1"/>
              <a:t>color</a:t>
            </a:r>
            <a:r>
              <a:rPr lang="en-AU" sz="1100" dirty="0"/>
              <a:t>: white; text-align: </a:t>
            </a:r>
            <a:r>
              <a:rPr lang="en-AU" sz="1100" dirty="0" err="1"/>
              <a:t>center</a:t>
            </a:r>
            <a:r>
              <a:rPr lang="en-AU" sz="1100" dirty="0"/>
              <a:t>; padding: 14px 16px; text-decoration: none; } </a:t>
            </a:r>
          </a:p>
          <a:p>
            <a:pPr marL="0" indent="0">
              <a:buNone/>
            </a:pPr>
            <a:r>
              <a:rPr lang="en-AU" sz="1100" dirty="0"/>
              <a:t>.</a:t>
            </a:r>
            <a:r>
              <a:rPr lang="en-AU" sz="1100" dirty="0" err="1"/>
              <a:t>nav_menu</a:t>
            </a:r>
            <a:r>
              <a:rPr lang="en-AU" sz="1100" dirty="0"/>
              <a:t> a:hover { background-</a:t>
            </a:r>
            <a:r>
              <a:rPr lang="en-AU" sz="1100" dirty="0" err="1"/>
              <a:t>color</a:t>
            </a:r>
            <a:r>
              <a:rPr lang="en-AU" sz="1100" dirty="0"/>
              <a:t>: white; </a:t>
            </a:r>
            <a:r>
              <a:rPr lang="en-AU" sz="1100" dirty="0" err="1"/>
              <a:t>color</a:t>
            </a:r>
            <a:r>
              <a:rPr lang="en-AU" sz="1100" dirty="0"/>
              <a:t>: green; } </a:t>
            </a:r>
          </a:p>
          <a:p>
            <a:pPr marL="0" indent="0">
              <a:buNone/>
            </a:pPr>
            <a:r>
              <a:rPr lang="en-AU" sz="1100" dirty="0"/>
              <a:t>/* CSS property for content section */ </a:t>
            </a:r>
          </a:p>
          <a:p>
            <a:pPr marL="0" indent="0">
              <a:buNone/>
            </a:pPr>
            <a:r>
              <a:rPr lang="en-AU" sz="1100" dirty="0"/>
              <a:t>.</a:t>
            </a:r>
            <a:r>
              <a:rPr lang="en-AU" sz="1100" dirty="0" err="1"/>
              <a:t>columnA</a:t>
            </a:r>
            <a:r>
              <a:rPr lang="en-AU" sz="1100" dirty="0"/>
              <a:t>, .</a:t>
            </a:r>
            <a:r>
              <a:rPr lang="en-AU" sz="1100" dirty="0" err="1"/>
              <a:t>columnB</a:t>
            </a:r>
            <a:r>
              <a:rPr lang="en-AU" sz="1100" dirty="0"/>
              <a:t>, .</a:t>
            </a:r>
            <a:r>
              <a:rPr lang="en-AU" sz="1100" dirty="0" err="1"/>
              <a:t>columnC</a:t>
            </a:r>
            <a:r>
              <a:rPr lang="en-AU" sz="1100" dirty="0"/>
              <a:t> { </a:t>
            </a:r>
          </a:p>
          <a:p>
            <a:pPr marL="0" indent="0">
              <a:buNone/>
            </a:pPr>
            <a:r>
              <a:rPr lang="en-AU" sz="1100" dirty="0"/>
              <a:t>float: left; </a:t>
            </a:r>
          </a:p>
          <a:p>
            <a:pPr marL="0" indent="0">
              <a:buNone/>
            </a:pPr>
            <a:r>
              <a:rPr lang="en-AU" sz="1100" dirty="0"/>
              <a:t>width: 31%; </a:t>
            </a:r>
          </a:p>
          <a:p>
            <a:pPr marL="0" indent="0">
              <a:buNone/>
            </a:pPr>
            <a:r>
              <a:rPr lang="en-AU" sz="1100" dirty="0"/>
              <a:t>padding: 15px; </a:t>
            </a:r>
          </a:p>
          <a:p>
            <a:pPr marL="0" indent="0">
              <a:buNone/>
            </a:pPr>
            <a:r>
              <a:rPr lang="en-AU" sz="1100" dirty="0" err="1"/>
              <a:t>text-align:justify</a:t>
            </a:r>
            <a:r>
              <a:rPr lang="en-AU" sz="1100" dirty="0"/>
              <a:t>; } </a:t>
            </a:r>
          </a:p>
          <a:p>
            <a:pPr marL="0" indent="0">
              <a:buNone/>
            </a:pPr>
            <a:r>
              <a:rPr lang="en-AU" sz="1100" dirty="0"/>
              <a:t>h2 { </a:t>
            </a:r>
            <a:r>
              <a:rPr lang="en-AU" sz="1100" dirty="0" err="1"/>
              <a:t>color:green</a:t>
            </a:r>
            <a:r>
              <a:rPr lang="en-AU" sz="1100" dirty="0"/>
              <a:t>; </a:t>
            </a:r>
          </a:p>
          <a:p>
            <a:pPr marL="0" indent="0">
              <a:buNone/>
            </a:pPr>
            <a:r>
              <a:rPr lang="en-AU" sz="1100" dirty="0" err="1"/>
              <a:t>text-align:center</a:t>
            </a:r>
            <a:r>
              <a:rPr lang="en-AU" sz="1100" dirty="0"/>
              <a:t>; </a:t>
            </a:r>
          </a:p>
          <a:p>
            <a:pPr marL="0" indent="0">
              <a:buNone/>
            </a:pPr>
            <a:r>
              <a:rPr lang="en-AU" sz="1100" dirty="0"/>
              <a:t>} </a:t>
            </a:r>
          </a:p>
          <a:p>
            <a:pPr marL="0" indent="0">
              <a:buNone/>
            </a:pPr>
            <a:r>
              <a:rPr lang="en-AU" sz="1100" dirty="0"/>
              <a:t>.footer {</a:t>
            </a:r>
          </a:p>
          <a:p>
            <a:pPr marL="0" indent="0">
              <a:buNone/>
            </a:pPr>
            <a:r>
              <a:rPr lang="en-AU" sz="1100" dirty="0"/>
              <a:t>   position: fixed; padding: 15px;</a:t>
            </a:r>
          </a:p>
          <a:p>
            <a:pPr marL="0" indent="0">
              <a:buNone/>
            </a:pPr>
            <a:r>
              <a:rPr lang="en-AU" sz="1100" dirty="0"/>
              <a:t>   left: 0;</a:t>
            </a:r>
          </a:p>
          <a:p>
            <a:pPr marL="0" indent="0">
              <a:buNone/>
            </a:pPr>
            <a:r>
              <a:rPr lang="en-AU" sz="1100" dirty="0"/>
              <a:t>   bottom: 0; width: 100%;</a:t>
            </a:r>
          </a:p>
          <a:p>
            <a:pPr marL="0" indent="0">
              <a:buNone/>
            </a:pPr>
            <a:r>
              <a:rPr lang="en-AU" sz="1100" dirty="0"/>
              <a:t>   background-</a:t>
            </a:r>
            <a:r>
              <a:rPr lang="en-AU" sz="1100" dirty="0" err="1"/>
              <a:t>color</a:t>
            </a:r>
            <a:r>
              <a:rPr lang="en-AU" sz="1100" dirty="0"/>
              <a:t>: red;</a:t>
            </a:r>
          </a:p>
          <a:p>
            <a:pPr marL="0" indent="0">
              <a:buNone/>
            </a:pPr>
            <a:r>
              <a:rPr lang="en-AU" sz="1100" dirty="0"/>
              <a:t>   </a:t>
            </a:r>
            <a:r>
              <a:rPr lang="en-AU" sz="1100" dirty="0" err="1"/>
              <a:t>color</a:t>
            </a:r>
            <a:r>
              <a:rPr lang="en-AU" sz="1100" dirty="0"/>
              <a:t>: white;</a:t>
            </a:r>
          </a:p>
          <a:p>
            <a:pPr marL="0" indent="0">
              <a:buNone/>
            </a:pPr>
            <a:r>
              <a:rPr lang="en-AU" sz="1100" dirty="0"/>
              <a:t>   text-align: </a:t>
            </a:r>
            <a:r>
              <a:rPr lang="en-AU" sz="1100" dirty="0" err="1"/>
              <a:t>center</a:t>
            </a:r>
            <a:r>
              <a:rPr lang="en-AU" sz="1100" dirty="0"/>
              <a:t>;} </a:t>
            </a:r>
          </a:p>
          <a:p>
            <a:pPr marL="0" indent="0">
              <a:buNone/>
            </a:pPr>
            <a:r>
              <a:rPr lang="en-AU" sz="1100" dirty="0"/>
              <a:t>&lt;/style&gt; &lt;/head&gt; &lt;body&gt; </a:t>
            </a:r>
          </a:p>
        </p:txBody>
      </p:sp>
      <p:sp>
        <p:nvSpPr>
          <p:cNvPr id="6" name="TextBox 5">
            <a:extLst>
              <a:ext uri="{FF2B5EF4-FFF2-40B4-BE49-F238E27FC236}">
                <a16:creationId xmlns:a16="http://schemas.microsoft.com/office/drawing/2014/main" id="{67AB2A58-953D-4C29-897C-EE1878CFB73D}"/>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18723232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907EF-2D70-4756-89D4-7F064BA764DF}"/>
              </a:ext>
            </a:extLst>
          </p:cNvPr>
          <p:cNvSpPr>
            <a:spLocks noGrp="1"/>
          </p:cNvSpPr>
          <p:nvPr>
            <p:ph type="title"/>
          </p:nvPr>
        </p:nvSpPr>
        <p:spPr>
          <a:xfrm>
            <a:off x="838200" y="365125"/>
            <a:ext cx="10515600" cy="432317"/>
          </a:xfrm>
        </p:spPr>
        <p:txBody>
          <a:bodyPr>
            <a:normAutofit fontScale="90000"/>
          </a:bodyPr>
          <a:lstStyle/>
          <a:p>
            <a:r>
              <a:rPr lang="en-AU" sz="4400" dirty="0">
                <a:solidFill>
                  <a:schemeClr val="accent2">
                    <a:lumMod val="50000"/>
                  </a:schemeClr>
                </a:solidFill>
              </a:rPr>
              <a:t>Website Layout  - Example (2 of 2)</a:t>
            </a:r>
            <a:endParaRPr lang="en-AU" dirty="0"/>
          </a:p>
        </p:txBody>
      </p:sp>
      <p:sp>
        <p:nvSpPr>
          <p:cNvPr id="3" name="Content Placeholder 2">
            <a:extLst>
              <a:ext uri="{FF2B5EF4-FFF2-40B4-BE49-F238E27FC236}">
                <a16:creationId xmlns:a16="http://schemas.microsoft.com/office/drawing/2014/main" id="{972FFC4C-26CF-426C-AA62-151CFE6C4949}"/>
              </a:ext>
            </a:extLst>
          </p:cNvPr>
          <p:cNvSpPr>
            <a:spLocks noGrp="1"/>
          </p:cNvSpPr>
          <p:nvPr>
            <p:ph idx="1"/>
          </p:nvPr>
        </p:nvSpPr>
        <p:spPr>
          <a:xfrm>
            <a:off x="157716" y="1251468"/>
            <a:ext cx="4520609" cy="3808956"/>
          </a:xfrm>
        </p:spPr>
        <p:txBody>
          <a:bodyPr>
            <a:noAutofit/>
          </a:bodyPr>
          <a:lstStyle/>
          <a:p>
            <a:pPr marL="0" indent="0">
              <a:buNone/>
            </a:pPr>
            <a:r>
              <a:rPr lang="en-AU" sz="1200" dirty="0"/>
              <a:t>&lt;!-- header of website layout --&gt;</a:t>
            </a:r>
          </a:p>
          <a:p>
            <a:pPr marL="0" indent="0">
              <a:buNone/>
            </a:pPr>
            <a:r>
              <a:rPr lang="en-AU" sz="1200" dirty="0"/>
              <a:t>&lt;div class = "header"&gt; </a:t>
            </a:r>
          </a:p>
          <a:p>
            <a:pPr marL="0" indent="0">
              <a:buNone/>
            </a:pPr>
            <a:r>
              <a:rPr lang="en-AU" sz="1200" dirty="0"/>
              <a:t>&lt;h2 style = "color:white;font-size:200%"&gt; Website Layout &lt;/h2&gt; </a:t>
            </a:r>
          </a:p>
          <a:p>
            <a:pPr marL="0" indent="0">
              <a:buNone/>
            </a:pPr>
            <a:r>
              <a:rPr lang="en-AU" sz="1200" dirty="0"/>
              <a:t>&lt;/div&gt; </a:t>
            </a:r>
          </a:p>
          <a:p>
            <a:pPr marL="0" indent="0">
              <a:buNone/>
            </a:pPr>
            <a:r>
              <a:rPr lang="en-AU" sz="1200" dirty="0"/>
              <a:t>&lt;!-- </a:t>
            </a:r>
            <a:r>
              <a:rPr lang="en-AU" sz="1200" dirty="0" err="1"/>
              <a:t>nevigation</a:t>
            </a:r>
            <a:r>
              <a:rPr lang="en-AU" sz="1200" dirty="0"/>
              <a:t> menu of website layout --&gt;</a:t>
            </a:r>
          </a:p>
          <a:p>
            <a:pPr marL="0" indent="0">
              <a:buNone/>
            </a:pPr>
            <a:r>
              <a:rPr lang="en-AU" sz="1200" dirty="0"/>
              <a:t>&lt;div class = "</a:t>
            </a:r>
            <a:r>
              <a:rPr lang="en-AU" sz="1200" dirty="0" err="1"/>
              <a:t>nav_menu</a:t>
            </a:r>
            <a:r>
              <a:rPr lang="en-AU" sz="1200" dirty="0"/>
              <a:t>"&gt; </a:t>
            </a:r>
          </a:p>
          <a:p>
            <a:pPr marL="0" indent="0">
              <a:buNone/>
            </a:pPr>
            <a:r>
              <a:rPr lang="en-AU" sz="1200" dirty="0"/>
              <a:t>&lt;a </a:t>
            </a:r>
            <a:r>
              <a:rPr lang="en-AU" sz="1200" dirty="0" err="1"/>
              <a:t>href</a:t>
            </a:r>
            <a:r>
              <a:rPr lang="en-AU" sz="1200" dirty="0"/>
              <a:t> = "#"&gt;Algo&lt;/a&gt; </a:t>
            </a:r>
          </a:p>
          <a:p>
            <a:pPr marL="0" indent="0">
              <a:buNone/>
            </a:pPr>
            <a:r>
              <a:rPr lang="en-AU" sz="1200" dirty="0"/>
              <a:t>&lt;a </a:t>
            </a:r>
            <a:r>
              <a:rPr lang="en-AU" sz="1200" dirty="0" err="1"/>
              <a:t>href</a:t>
            </a:r>
            <a:r>
              <a:rPr lang="en-AU" sz="1200" dirty="0"/>
              <a:t> = "#"&gt;DS&lt;/a&gt; </a:t>
            </a:r>
          </a:p>
          <a:p>
            <a:pPr marL="0" indent="0">
              <a:buNone/>
            </a:pPr>
            <a:r>
              <a:rPr lang="en-AU" sz="1200" dirty="0"/>
              <a:t>&lt;a </a:t>
            </a:r>
            <a:r>
              <a:rPr lang="en-AU" sz="1200" dirty="0" err="1"/>
              <a:t>href</a:t>
            </a:r>
            <a:r>
              <a:rPr lang="en-AU" sz="1200" dirty="0"/>
              <a:t> = "#"&gt;Language&lt;/a&gt; </a:t>
            </a:r>
          </a:p>
          <a:p>
            <a:pPr marL="0" indent="0">
              <a:buNone/>
            </a:pPr>
            <a:r>
              <a:rPr lang="en-AU" sz="1200" dirty="0"/>
              <a:t>&lt;/div&gt; </a:t>
            </a:r>
          </a:p>
          <a:p>
            <a:pPr marL="0" indent="0">
              <a:buNone/>
            </a:pPr>
            <a:r>
              <a:rPr lang="en-AU" sz="1200" dirty="0"/>
              <a:t>&lt;div class = "</a:t>
            </a:r>
            <a:r>
              <a:rPr lang="en-AU" sz="1200" dirty="0" err="1"/>
              <a:t>columnA</a:t>
            </a:r>
            <a:r>
              <a:rPr lang="en-AU" sz="1200" dirty="0"/>
              <a:t>"&gt; </a:t>
            </a:r>
          </a:p>
          <a:p>
            <a:pPr marL="0" indent="0">
              <a:buNone/>
            </a:pPr>
            <a:r>
              <a:rPr lang="en-AU" sz="1200" dirty="0"/>
              <a:t>&lt;h2&gt;Column A&lt;/h2&gt; &lt;p&gt;Some </a:t>
            </a:r>
            <a:r>
              <a:rPr lang="en-AU" sz="1200" dirty="0" err="1"/>
              <a:t>text.Some</a:t>
            </a:r>
            <a:r>
              <a:rPr lang="en-AU" sz="1200" dirty="0"/>
              <a:t> </a:t>
            </a:r>
            <a:r>
              <a:rPr lang="en-AU" sz="1200" dirty="0" err="1"/>
              <a:t>text.Some</a:t>
            </a:r>
            <a:r>
              <a:rPr lang="en-AU" sz="1200" dirty="0"/>
              <a:t> </a:t>
            </a:r>
            <a:r>
              <a:rPr lang="en-AU" sz="1200" dirty="0" err="1"/>
              <a:t>text.Some</a:t>
            </a:r>
            <a:r>
              <a:rPr lang="en-AU" sz="1200" dirty="0"/>
              <a:t> </a:t>
            </a:r>
            <a:r>
              <a:rPr lang="en-AU" sz="1200" dirty="0" err="1"/>
              <a:t>text.Some</a:t>
            </a:r>
            <a:r>
              <a:rPr lang="en-AU" sz="1200" dirty="0"/>
              <a:t> </a:t>
            </a:r>
            <a:r>
              <a:rPr lang="en-AU" sz="1200" dirty="0" err="1"/>
              <a:t>text.Some</a:t>
            </a:r>
            <a:r>
              <a:rPr lang="en-AU" sz="1200" dirty="0"/>
              <a:t> </a:t>
            </a:r>
            <a:r>
              <a:rPr lang="en-AU" sz="1200" dirty="0" err="1"/>
              <a:t>text.Some</a:t>
            </a:r>
            <a:r>
              <a:rPr lang="en-AU" sz="1200" dirty="0"/>
              <a:t> </a:t>
            </a:r>
            <a:r>
              <a:rPr lang="en-AU" sz="1200" dirty="0" err="1"/>
              <a:t>text.Some</a:t>
            </a:r>
            <a:r>
              <a:rPr lang="en-AU" sz="1200" dirty="0"/>
              <a:t> </a:t>
            </a:r>
            <a:r>
              <a:rPr lang="en-AU" sz="1200" dirty="0" err="1"/>
              <a:t>text.Some</a:t>
            </a:r>
            <a:r>
              <a:rPr lang="en-AU" sz="1200" dirty="0"/>
              <a:t> </a:t>
            </a:r>
            <a:r>
              <a:rPr lang="en-AU" sz="1200" dirty="0" err="1"/>
              <a:t>text.Some</a:t>
            </a:r>
            <a:r>
              <a:rPr lang="en-AU" sz="1200" dirty="0"/>
              <a:t> text.&lt;/p&gt; &lt;/div&gt; </a:t>
            </a:r>
          </a:p>
          <a:p>
            <a:pPr marL="0" indent="0">
              <a:buNone/>
            </a:pPr>
            <a:endParaRPr lang="en-AU" sz="1200" dirty="0"/>
          </a:p>
        </p:txBody>
      </p:sp>
      <p:sp>
        <p:nvSpPr>
          <p:cNvPr id="5" name="TextBox 4">
            <a:extLst>
              <a:ext uri="{FF2B5EF4-FFF2-40B4-BE49-F238E27FC236}">
                <a16:creationId xmlns:a16="http://schemas.microsoft.com/office/drawing/2014/main" id="{14F4227C-D4BB-4F4E-A521-7D18799B01EE}"/>
              </a:ext>
            </a:extLst>
          </p:cNvPr>
          <p:cNvSpPr txBox="1"/>
          <p:nvPr/>
        </p:nvSpPr>
        <p:spPr>
          <a:xfrm>
            <a:off x="6251943" y="1520785"/>
            <a:ext cx="4699591" cy="2970044"/>
          </a:xfrm>
          <a:prstGeom prst="rect">
            <a:avLst/>
          </a:prstGeom>
          <a:noFill/>
        </p:spPr>
        <p:txBody>
          <a:bodyPr wrap="square">
            <a:spAutoFit/>
          </a:bodyPr>
          <a:lstStyle/>
          <a:p>
            <a:pPr marL="0" indent="0">
              <a:buNone/>
            </a:pPr>
            <a:r>
              <a:rPr lang="en-AU" sz="1100" dirty="0"/>
              <a:t>&lt;div class = "</a:t>
            </a:r>
            <a:r>
              <a:rPr lang="en-AU" sz="1100" dirty="0" err="1"/>
              <a:t>columnB</a:t>
            </a:r>
            <a:r>
              <a:rPr lang="en-AU" sz="1100" dirty="0"/>
              <a:t>"&gt; </a:t>
            </a:r>
          </a:p>
          <a:p>
            <a:pPr marL="0" indent="0">
              <a:buNone/>
            </a:pPr>
            <a:r>
              <a:rPr lang="en-AU" sz="1100" dirty="0"/>
              <a:t>&lt;h2&gt;Column B&lt;/h2&gt; </a:t>
            </a:r>
          </a:p>
          <a:p>
            <a:pPr marL="0" indent="0">
              <a:buNone/>
            </a:pPr>
            <a:r>
              <a:rPr lang="en-AU" sz="1100" dirty="0"/>
              <a:t>&lt;p&gt;Some </a:t>
            </a:r>
            <a:r>
              <a:rPr lang="en-AU" sz="1100" dirty="0" err="1"/>
              <a:t>text.Some</a:t>
            </a:r>
            <a:r>
              <a:rPr lang="en-AU" sz="1100" dirty="0"/>
              <a:t> </a:t>
            </a:r>
            <a:r>
              <a:rPr lang="en-AU" sz="1100" dirty="0" err="1"/>
              <a:t>text.Some</a:t>
            </a:r>
            <a:r>
              <a:rPr lang="en-AU" sz="1100" dirty="0"/>
              <a:t> </a:t>
            </a:r>
            <a:r>
              <a:rPr lang="en-AU" sz="1100" dirty="0" err="1"/>
              <a:t>text.Some</a:t>
            </a:r>
            <a:r>
              <a:rPr lang="en-AU" sz="1100" dirty="0"/>
              <a:t> </a:t>
            </a:r>
            <a:r>
              <a:rPr lang="en-AU" sz="1100" dirty="0" err="1"/>
              <a:t>text.Some</a:t>
            </a:r>
            <a:r>
              <a:rPr lang="en-AU" sz="1100" dirty="0"/>
              <a:t> </a:t>
            </a:r>
            <a:r>
              <a:rPr lang="en-AU" sz="1100" dirty="0" err="1"/>
              <a:t>text.Some</a:t>
            </a:r>
            <a:r>
              <a:rPr lang="en-AU" sz="1100" dirty="0"/>
              <a:t> </a:t>
            </a:r>
            <a:r>
              <a:rPr lang="en-AU" sz="1100" dirty="0" err="1"/>
              <a:t>text.Some</a:t>
            </a:r>
            <a:r>
              <a:rPr lang="en-AU" sz="1100" dirty="0"/>
              <a:t> </a:t>
            </a:r>
            <a:r>
              <a:rPr lang="en-AU" sz="1100" dirty="0" err="1"/>
              <a:t>text.Some</a:t>
            </a:r>
            <a:r>
              <a:rPr lang="en-AU" sz="1100" dirty="0"/>
              <a:t> </a:t>
            </a:r>
            <a:r>
              <a:rPr lang="en-AU" sz="1100" dirty="0" err="1"/>
              <a:t>text.Some</a:t>
            </a:r>
            <a:r>
              <a:rPr lang="en-AU" sz="1100" dirty="0"/>
              <a:t> </a:t>
            </a:r>
            <a:r>
              <a:rPr lang="en-AU" sz="1100" dirty="0" err="1"/>
              <a:t>text.Some</a:t>
            </a:r>
            <a:r>
              <a:rPr lang="en-AU" sz="1100" dirty="0"/>
              <a:t> text.&lt;/p&gt; &lt;/div&gt;</a:t>
            </a:r>
          </a:p>
          <a:p>
            <a:pPr marL="0" indent="0">
              <a:buNone/>
            </a:pPr>
            <a:r>
              <a:rPr lang="en-AU" sz="1100" dirty="0"/>
              <a:t>&lt;div class = "</a:t>
            </a:r>
            <a:r>
              <a:rPr lang="en-AU" sz="1100" dirty="0" err="1"/>
              <a:t>columnC</a:t>
            </a:r>
            <a:r>
              <a:rPr lang="en-AU" sz="1100" dirty="0"/>
              <a:t>"&gt; </a:t>
            </a:r>
          </a:p>
          <a:p>
            <a:pPr marL="0" indent="0">
              <a:buNone/>
            </a:pPr>
            <a:r>
              <a:rPr lang="en-AU" sz="1100" dirty="0"/>
              <a:t>&lt;h2&gt;Column C&lt;/h2&gt; </a:t>
            </a:r>
          </a:p>
          <a:p>
            <a:pPr marL="0" indent="0">
              <a:buNone/>
            </a:pPr>
            <a:r>
              <a:rPr lang="en-AU" sz="1100" dirty="0"/>
              <a:t>&lt;p&gt;Some </a:t>
            </a:r>
            <a:r>
              <a:rPr lang="en-AU" sz="1100" dirty="0" err="1"/>
              <a:t>text.Some</a:t>
            </a:r>
            <a:r>
              <a:rPr lang="en-AU" sz="1100" dirty="0"/>
              <a:t> </a:t>
            </a:r>
            <a:r>
              <a:rPr lang="en-AU" sz="1100" dirty="0" err="1"/>
              <a:t>text.Some</a:t>
            </a:r>
            <a:r>
              <a:rPr lang="en-AU" sz="1100" dirty="0"/>
              <a:t> </a:t>
            </a:r>
            <a:r>
              <a:rPr lang="en-AU" sz="1100" dirty="0" err="1"/>
              <a:t>text.Some</a:t>
            </a:r>
            <a:r>
              <a:rPr lang="en-AU" sz="1100" dirty="0"/>
              <a:t> </a:t>
            </a:r>
            <a:r>
              <a:rPr lang="en-AU" sz="1100" dirty="0" err="1"/>
              <a:t>text.Some</a:t>
            </a:r>
            <a:r>
              <a:rPr lang="en-AU" sz="1100" dirty="0"/>
              <a:t> </a:t>
            </a:r>
            <a:r>
              <a:rPr lang="en-AU" sz="1100" dirty="0" err="1"/>
              <a:t>text.Some</a:t>
            </a:r>
            <a:r>
              <a:rPr lang="en-AU" sz="1100" dirty="0"/>
              <a:t> </a:t>
            </a:r>
            <a:r>
              <a:rPr lang="en-AU" sz="1100" dirty="0" err="1"/>
              <a:t>text.Some</a:t>
            </a:r>
            <a:r>
              <a:rPr lang="en-AU" sz="1100" dirty="0"/>
              <a:t> </a:t>
            </a:r>
            <a:r>
              <a:rPr lang="en-AU" sz="1100" dirty="0" err="1"/>
              <a:t>text.Some</a:t>
            </a:r>
            <a:r>
              <a:rPr lang="en-AU" sz="1100" dirty="0"/>
              <a:t> </a:t>
            </a:r>
            <a:r>
              <a:rPr lang="en-AU" sz="1100" dirty="0" err="1"/>
              <a:t>text.Some</a:t>
            </a:r>
            <a:r>
              <a:rPr lang="en-AU" sz="1100" dirty="0"/>
              <a:t> </a:t>
            </a:r>
            <a:r>
              <a:rPr lang="en-AU" sz="1100" dirty="0" err="1"/>
              <a:t>text.Some</a:t>
            </a:r>
            <a:r>
              <a:rPr lang="en-AU" sz="1100" dirty="0"/>
              <a:t> text.&lt;/p&gt; &lt;/div&gt; </a:t>
            </a:r>
          </a:p>
          <a:p>
            <a:pPr marL="0" indent="0">
              <a:buNone/>
            </a:pPr>
            <a:r>
              <a:rPr lang="en-AU" sz="1100" dirty="0"/>
              <a:t> &lt;!-- footer Section --&gt;</a:t>
            </a:r>
          </a:p>
          <a:p>
            <a:pPr marL="0" indent="0">
              <a:buNone/>
            </a:pPr>
            <a:r>
              <a:rPr lang="en-AU" sz="1100" dirty="0"/>
              <a:t>        &lt;div class = "footer"&gt; </a:t>
            </a:r>
          </a:p>
          <a:p>
            <a:pPr marL="0" indent="0">
              <a:buNone/>
            </a:pPr>
            <a:r>
              <a:rPr lang="en-AU" sz="1100" dirty="0"/>
              <a:t>            &lt;a </a:t>
            </a:r>
            <a:r>
              <a:rPr lang="en-AU" sz="1100" dirty="0" err="1"/>
              <a:t>href</a:t>
            </a:r>
            <a:r>
              <a:rPr lang="en-AU" sz="1100" dirty="0"/>
              <a:t> = "#"&gt;About&lt;/a&gt;</a:t>
            </a:r>
          </a:p>
          <a:p>
            <a:pPr marL="0" indent="0">
              <a:buNone/>
            </a:pPr>
            <a:r>
              <a:rPr lang="en-AU" sz="1100" dirty="0"/>
              <a:t>            &lt;a </a:t>
            </a:r>
            <a:r>
              <a:rPr lang="en-AU" sz="1100" dirty="0" err="1"/>
              <a:t>href</a:t>
            </a:r>
            <a:r>
              <a:rPr lang="en-AU" sz="1100" dirty="0"/>
              <a:t> = "#"&gt;Career&lt;/a&gt;</a:t>
            </a:r>
          </a:p>
          <a:p>
            <a:pPr marL="0" indent="0">
              <a:buNone/>
            </a:pPr>
            <a:r>
              <a:rPr lang="en-AU" sz="1100" dirty="0"/>
              <a:t>            &lt;a </a:t>
            </a:r>
            <a:r>
              <a:rPr lang="en-AU" sz="1100" dirty="0" err="1"/>
              <a:t>href</a:t>
            </a:r>
            <a:r>
              <a:rPr lang="en-AU" sz="1100" dirty="0"/>
              <a:t> = "#"&gt;Contact Us&lt;/a&gt;</a:t>
            </a:r>
          </a:p>
          <a:p>
            <a:pPr marL="0" indent="0">
              <a:buNone/>
            </a:pPr>
            <a:r>
              <a:rPr lang="en-AU" sz="1100" dirty="0"/>
              <a:t>        &lt;/div&gt; </a:t>
            </a:r>
          </a:p>
          <a:p>
            <a:pPr marL="0" indent="0">
              <a:buNone/>
            </a:pPr>
            <a:r>
              <a:rPr lang="en-AU" sz="1100" dirty="0"/>
              <a:t>&lt;/body&gt; </a:t>
            </a:r>
          </a:p>
          <a:p>
            <a:pPr marL="0" indent="0">
              <a:buNone/>
            </a:pPr>
            <a:r>
              <a:rPr lang="en-AU" sz="1100" dirty="0"/>
              <a:t>&lt;/html&gt;					</a:t>
            </a:r>
          </a:p>
        </p:txBody>
      </p:sp>
      <p:sp>
        <p:nvSpPr>
          <p:cNvPr id="6" name="TextBox 5">
            <a:extLst>
              <a:ext uri="{FF2B5EF4-FFF2-40B4-BE49-F238E27FC236}">
                <a16:creationId xmlns:a16="http://schemas.microsoft.com/office/drawing/2014/main" id="{DD104DA1-E4A3-4FD5-B802-758FB1459736}"/>
              </a:ext>
            </a:extLst>
          </p:cNvPr>
          <p:cNvSpPr txBox="1"/>
          <p:nvPr/>
        </p:nvSpPr>
        <p:spPr>
          <a:xfrm>
            <a:off x="6563360" y="5466036"/>
            <a:ext cx="3402148" cy="215444"/>
          </a:xfrm>
          <a:prstGeom prst="rect">
            <a:avLst/>
          </a:prstGeom>
          <a:noFill/>
        </p:spPr>
        <p:txBody>
          <a:bodyPr wrap="square">
            <a:spAutoFit/>
          </a:bodyPr>
          <a:lstStyle/>
          <a:p>
            <a:r>
              <a:rPr lang="en-AU" sz="800" dirty="0"/>
              <a:t>https://www.w3schools.com</a:t>
            </a:r>
          </a:p>
        </p:txBody>
      </p:sp>
    </p:spTree>
    <p:extLst>
      <p:ext uri="{BB962C8B-B14F-4D97-AF65-F5344CB8AC3E}">
        <p14:creationId xmlns:p14="http://schemas.microsoft.com/office/powerpoint/2010/main" val="312561595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9FE679-E3E5-4B9C-BB55-8D8171DD848C}"/>
              </a:ext>
            </a:extLst>
          </p:cNvPr>
          <p:cNvSpPr>
            <a:spLocks noGrp="1"/>
          </p:cNvSpPr>
          <p:nvPr>
            <p:ph idx="1"/>
          </p:nvPr>
        </p:nvSpPr>
        <p:spPr>
          <a:xfrm>
            <a:off x="838200" y="2020860"/>
            <a:ext cx="10515600" cy="2005396"/>
          </a:xfrm>
        </p:spPr>
        <p:txBody>
          <a:bodyPr/>
          <a:lstStyle/>
          <a:p>
            <a:pPr marL="0" indent="0" algn="ctr">
              <a:buNone/>
            </a:pPr>
            <a:r>
              <a:rPr lang="en-AU" sz="6000" b="1" dirty="0">
                <a:solidFill>
                  <a:schemeClr val="accent1"/>
                </a:solidFill>
              </a:rPr>
              <a:t>Any Questions?</a:t>
            </a:r>
          </a:p>
          <a:p>
            <a:endParaRPr lang="en-AU" dirty="0"/>
          </a:p>
        </p:txBody>
      </p:sp>
    </p:spTree>
    <p:extLst>
      <p:ext uri="{BB962C8B-B14F-4D97-AF65-F5344CB8AC3E}">
        <p14:creationId xmlns:p14="http://schemas.microsoft.com/office/powerpoint/2010/main" val="24032210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ustom Design">
  <a:themeElements>
    <a:clrScheme name="SGSTC">
      <a:dk1>
        <a:sysClr val="windowText" lastClr="000000"/>
      </a:dk1>
      <a:lt1>
        <a:sysClr val="window" lastClr="FFFFFF"/>
      </a:lt1>
      <a:dk2>
        <a:srgbClr val="44546A"/>
      </a:dk2>
      <a:lt2>
        <a:srgbClr val="E7E6E6"/>
      </a:lt2>
      <a:accent1>
        <a:srgbClr val="46A06F"/>
      </a:accent1>
      <a:accent2>
        <a:srgbClr val="8ECEAB"/>
      </a:accent2>
      <a:accent3>
        <a:srgbClr val="B1DCC5"/>
      </a:accent3>
      <a:accent4>
        <a:srgbClr val="E7F4ED"/>
      </a:accent4>
      <a:accent5>
        <a:srgbClr val="347853"/>
      </a:accent5>
      <a:accent6>
        <a:srgbClr val="225037"/>
      </a:accent6>
      <a:hlink>
        <a:srgbClr val="0070C0"/>
      </a:hlink>
      <a:folHlink>
        <a:srgbClr val="AA024A"/>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 template-sistc" id="{A2464949-3B5F-47DC-983C-24F2EE1CDF86}" vid="{0B5B1221-0942-4A33-8E98-D77F9FFFECB4}"/>
    </a:ext>
  </a:extLst>
</a:theme>
</file>

<file path=ppt/theme/theme3.xml><?xml version="1.0" encoding="utf-8"?>
<a:theme xmlns:a="http://schemas.openxmlformats.org/drawingml/2006/main" name="Custom Design">
  <a:themeElements>
    <a:clrScheme name="SGSTC">
      <a:dk1>
        <a:sysClr val="windowText" lastClr="000000"/>
      </a:dk1>
      <a:lt1>
        <a:sysClr val="window" lastClr="FFFFFF"/>
      </a:lt1>
      <a:dk2>
        <a:srgbClr val="44546A"/>
      </a:dk2>
      <a:lt2>
        <a:srgbClr val="E7E6E6"/>
      </a:lt2>
      <a:accent1>
        <a:srgbClr val="46A06F"/>
      </a:accent1>
      <a:accent2>
        <a:srgbClr val="8ECEAB"/>
      </a:accent2>
      <a:accent3>
        <a:srgbClr val="B1DCC5"/>
      </a:accent3>
      <a:accent4>
        <a:srgbClr val="E7F4ED"/>
      </a:accent4>
      <a:accent5>
        <a:srgbClr val="347853"/>
      </a:accent5>
      <a:accent6>
        <a:srgbClr val="225037"/>
      </a:accent6>
      <a:hlink>
        <a:srgbClr val="0070C0"/>
      </a:hlink>
      <a:folHlink>
        <a:srgbClr val="AA024A"/>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AEG slide template master" id="{93971F77-F94F-4E5E-9417-CFBF9680F824}" vid="{83BD2626-2D74-4B93-9100-7AEAA01DAF0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10626</TotalTime>
  <Words>12188</Words>
  <Application>Microsoft Office PowerPoint</Application>
  <PresentationFormat>Widescreen</PresentationFormat>
  <Paragraphs>2070</Paragraphs>
  <Slides>92</Slides>
  <Notes>26</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92</vt:i4>
      </vt:variant>
    </vt:vector>
  </HeadingPairs>
  <TitlesOfParts>
    <vt:vector size="102" baseType="lpstr">
      <vt:lpstr>Arial</vt:lpstr>
      <vt:lpstr>Calibri</vt:lpstr>
      <vt:lpstr>Calibri Light</vt:lpstr>
      <vt:lpstr>Consolas</vt:lpstr>
      <vt:lpstr>Segoe UI</vt:lpstr>
      <vt:lpstr>Söhne</vt:lpstr>
      <vt:lpstr>Verdana</vt:lpstr>
      <vt:lpstr>Office Theme</vt:lpstr>
      <vt:lpstr>2_Custom Design</vt:lpstr>
      <vt:lpstr>Custom Design</vt:lpstr>
      <vt:lpstr>ICT 101 Introduction to the Internet and Web Development</vt:lpstr>
      <vt:lpstr>Weekly Learning Goals</vt:lpstr>
      <vt:lpstr>Week 6 Learning Outcomes</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Week 6 Lab Practice</vt:lpstr>
      <vt:lpstr>Today’s Webinar</vt:lpstr>
      <vt:lpstr>CSS Pseudo-classes</vt:lpstr>
      <vt:lpstr> Anchor Pseudo-classes </vt:lpstr>
      <vt:lpstr> Hover on &lt;div&gt; </vt:lpstr>
      <vt:lpstr>Hover on &lt;P&gt;</vt:lpstr>
      <vt:lpstr>:focus Pseudo-Class</vt:lpstr>
      <vt:lpstr> Combining CSS Classes and Pseudo-classes </vt:lpstr>
      <vt:lpstr>CSS Pseudo-elements</vt:lpstr>
      <vt:lpstr>::First-line Pseudo-element</vt:lpstr>
      <vt:lpstr>::First-letter Pseudo-element</vt:lpstr>
      <vt:lpstr>:: Selection Pseudo-element</vt:lpstr>
      <vt:lpstr> Pseudo-elements and CSS Classes </vt:lpstr>
      <vt:lpstr>CSS Navigation Bar</vt:lpstr>
      <vt:lpstr>Vertical Navigation Bar</vt:lpstr>
      <vt:lpstr>Vertical Navigation Bar Examples</vt:lpstr>
      <vt:lpstr>Horizontal Navigation Bar</vt:lpstr>
      <vt:lpstr>Horizontal Navigation Bar Example</vt:lpstr>
      <vt:lpstr>Fixed Horizontal Navigation Bar Example</vt:lpstr>
      <vt:lpstr>Image Gallery in CSS </vt:lpstr>
      <vt:lpstr>   CSS Attribute Selectors   </vt:lpstr>
      <vt:lpstr>   CSS Attribute Selectors   </vt:lpstr>
      <vt:lpstr>Other CSS Attribute Selectors</vt:lpstr>
      <vt:lpstr>   [attribute="value"] Selector    </vt:lpstr>
      <vt:lpstr>   [attribute*="value"] Selector    </vt:lpstr>
      <vt:lpstr>    [attribute$="value"]Selector    </vt:lpstr>
      <vt:lpstr>    [attribute^="value"] Selector    </vt:lpstr>
      <vt:lpstr>Forms in CSS</vt:lpstr>
      <vt:lpstr>Form input with icon/image</vt:lpstr>
      <vt:lpstr> Button Sizes</vt:lpstr>
      <vt:lpstr>Rounded Buttons</vt:lpstr>
      <vt:lpstr>CSS Opacity/Transparency</vt:lpstr>
      <vt:lpstr>CSS Opacity/Transparency</vt:lpstr>
      <vt:lpstr>CSS Gradients</vt:lpstr>
      <vt:lpstr>CSS Gradients – Example 1</vt:lpstr>
      <vt:lpstr>CSS Gradients – Example 2</vt:lpstr>
      <vt:lpstr>CSS Gradients – Example 3</vt:lpstr>
      <vt:lpstr>Website Layout</vt:lpstr>
      <vt:lpstr>Website Layout  - Example  (1 of 2)</vt:lpstr>
      <vt:lpstr>Website Layout  - Example (2 of 2)</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ICT 101 Introduction to the Internet and Web Development</dc:title>
  <dc:creator>zawar hussain Shah</dc:creator>
  <cp:lastModifiedBy>Farshid Keivanian</cp:lastModifiedBy>
  <cp:revision>240</cp:revision>
  <dcterms:created xsi:type="dcterms:W3CDTF">2020-12-05T01:25:12Z</dcterms:created>
  <dcterms:modified xsi:type="dcterms:W3CDTF">2026-04-19T09:23:14Z</dcterms:modified>
</cp:coreProperties>
</file>